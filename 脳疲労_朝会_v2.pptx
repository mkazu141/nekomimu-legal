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導入：この動画を見て仕事の疲れ方の見方が変わったので共有したい、という切り出し。20分想定。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まず自分の趣味（仕事に役立つYouTubeを見る）から入り、昨年いちばん良かった動画として紹介する。そのうえで自分たちの働き方（連続する会議）に引きつけると、他人事にならない。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全体像を先に見せておくと迷子にならない。3枚目の「気づき方」は補足で、時間がなければ飛ばす。STEP3がメインだと予告しておく。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順：①休めば回復する生理的疲労と、休んでも戻らない慢性疲労がある。②生理的疲労は症状で肉体／精神に分かれる。③さらに原因で分けると、肉体疲労にも“脳が原因”のものがある（中枢性疲労）。この右下3つ＝脳疲労。デスクワークで効いてくるのは認知疲労。最後にポイント2を強調しておくと、次ページの逆転現象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伝えるのは3つだけ：(1)糖を使うと乳酸が増える (2)乳酸が増えると神経にブレーキがかかる＝守るための仕組み (3)頭脳労働でも同じかはまだ仮説。豆知識：乳酸は1922年のノーベル生理学・医学賞（A.V.ヒル／O.マイヤーホフ）以来ずっと「疲労物質」とされてきたが、2000年代以降はむしろ重要なエネルギー源だと分かってきた。運動を続けられるのも乳酸のおかげ。質問が出たらこの話をすると盛り上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いちばんの山場。左は数値が低いほど判断が良い。1時間では脳が活性化して逆に良くなるが、2時間で開始前より悪化。一方、疲労感は3時間まで上がらない。『グラフだと1時間でも上がって見えますが？』と聞かれたら右下の統計の話を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気合や責任感の問題ではなく、身体の設計の問題だという整理。最後の一文で次ページ（気づき方・補足）につなぐ。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『疲労感は判断力とまったく相関しない』が刺さるポイント。鼻が冷たいと気づいた時点で、もうかなり来ている。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ここで前半終了。4要素をさっと紹介して、炭酸水にフォーカスすると宣言する。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エナジードリンクは共感を得やすい導入。三大成分に分解して炭酸だけを残す、という流れで次の実験結果につなぐ。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わさび＝冷たいセンサー、唐辛子＝熱いセンサー。この例えで一気に伝わる。TRPチャネルという名前と2021年のノーベル賞は、最後に「ちなみに」で添える程度でOK。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難しい部分。『のど → 脳幹 → 前頭前野』の3ステップだけ覚えてもらえれば十分。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結論から。炭酸水を飲むだけ？と驚いてもらうところ。次のスライドで仕組みを説明する。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ここで実際に炭酸水を開けて配ると盛り上がる。『朝会そのものが対策になっている』という着地。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時間が余ったとき、あるいは質問が出たときに開く補足。無理に触れなくてよい。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始業前や、判断が鈍ったと感じたときに1分だけ入れる、という使い方。朝会の最後に全員でやってみるのも手。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プロテインは『筋肉は3ヶ月、脳はその日から』が刺さるポイント。カフェイン・砂糖の話は本編の炭酸水パートと重なるので、聞かれたときだけ触れればよい。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1A4C"/>
        </a:solidFill>
      </p:bgPr>
    </p:bg>
    <p:spTree>
      <p:nvGrpSpPr>
        <p:cNvPr id="1" name=""/>
        <p:cNvGrpSpPr/>
        <p:nvPr/>
      </p:nvGrpSpPr>
      <p:grpSpPr>
        <a:xfrm>
          <a:off x="0" y="0"/>
          <a:ext cx="0" cy="0"/>
          <a:chOff x="0" y="0"/>
          <a:chExt cx="0" cy="0"/>
        </a:xfrm>
      </p:grpSpPr>
      <p:sp>
        <p:nvSpPr>
          <p:cNvPr id="2" name="Shape 0"/>
          <p:cNvSpPr/>
          <p:nvPr/>
        </p:nvSpPr>
        <p:spPr>
          <a:xfrm>
            <a:off x="7680960" y="1645920"/>
            <a:ext cx="3566160" cy="3566160"/>
          </a:xfrm>
          <a:prstGeom prst="ellipse">
            <a:avLst/>
          </a:prstGeom>
          <a:solidFill>
            <a:srgbClr val="201A4C"/>
          </a:solidFill>
          <a:ln w="25400">
            <a:solidFill>
              <a:srgbClr val="3A3080"/>
            </a:solidFill>
            <a:prstDash val="solid"/>
          </a:ln>
        </p:spPr>
      </p:sp>
      <p:sp>
        <p:nvSpPr>
          <p:cNvPr id="3" name="Shape 1"/>
          <p:cNvSpPr/>
          <p:nvPr/>
        </p:nvSpPr>
        <p:spPr>
          <a:xfrm>
            <a:off x="8092440" y="2057400"/>
            <a:ext cx="2743200" cy="2743200"/>
          </a:xfrm>
          <a:prstGeom prst="ellipse">
            <a:avLst/>
          </a:prstGeom>
          <a:solidFill>
            <a:srgbClr val="201A4C"/>
          </a:solidFill>
          <a:ln w="25400">
            <a:solidFill>
              <a:srgbClr val="45399A"/>
            </a:solidFill>
            <a:prstDash val="solid"/>
          </a:ln>
        </p:spPr>
      </p:sp>
      <p:sp>
        <p:nvSpPr>
          <p:cNvPr id="4" name="Shape 2"/>
          <p:cNvSpPr/>
          <p:nvPr/>
        </p:nvSpPr>
        <p:spPr>
          <a:xfrm>
            <a:off x="8503920" y="2468880"/>
            <a:ext cx="1920240" cy="1920240"/>
          </a:xfrm>
          <a:prstGeom prst="ellipse">
            <a:avLst/>
          </a:prstGeom>
          <a:solidFill>
            <a:srgbClr val="201A4C"/>
          </a:solidFill>
          <a:ln w="25400">
            <a:solidFill>
              <a:srgbClr val="5346B8"/>
            </a:solidFill>
            <a:prstDash val="solid"/>
          </a:ln>
        </p:spPr>
      </p:sp>
      <p:sp>
        <p:nvSpPr>
          <p:cNvPr id="5" name="Shape 3"/>
          <p:cNvSpPr/>
          <p:nvPr/>
        </p:nvSpPr>
        <p:spPr>
          <a:xfrm>
            <a:off x="8897112" y="2862072"/>
            <a:ext cx="1133856" cy="1133856"/>
          </a:xfrm>
          <a:prstGeom prst="ellipse">
            <a:avLst/>
          </a:prstGeom>
          <a:solidFill>
            <a:srgbClr val="FF6B5B"/>
          </a:solidFill>
          <a:ln w="12700">
            <a:solidFill>
              <a:srgbClr val="FF6B5B"/>
            </a:solidFill>
            <a:prstDash val="solid"/>
          </a:ln>
        </p:spPr>
      </p:sp>
      <p:sp>
        <p:nvSpPr>
          <p:cNvPr id="6" name="Text 4"/>
          <p:cNvSpPr/>
          <p:nvPr/>
        </p:nvSpPr>
        <p:spPr>
          <a:xfrm>
            <a:off x="8897112" y="2862072"/>
            <a:ext cx="1133856" cy="1133856"/>
          </a:xfrm>
          <a:prstGeom prst="rect">
            <a:avLst/>
          </a:prstGeom>
          <a:noFill/>
          <a:ln/>
        </p:spPr>
        <p:txBody>
          <a:bodyPr wrap="square" lIns="0" tIns="0" rIns="0" bIns="0" rtlCol="0" anchor="ctr"/>
          <a:lstStyle/>
          <a:p>
            <a:pPr algn="ctr" indent="0" marL="0">
              <a:buNone/>
            </a:pPr>
            <a:r>
              <a:rPr lang="en-US" sz="2600" b="1" dirty="0">
                <a:solidFill>
                  <a:srgbClr val="FFFFFF"/>
                </a:solidFill>
                <a:latin typeface="Meiryo" pitchFamily="34" charset="0"/>
                <a:ea typeface="Meiryo" pitchFamily="34" charset="-122"/>
                <a:cs typeface="Meiryo" pitchFamily="34" charset="-120"/>
              </a:rPr>
              <a:t>脳</a:t>
            </a:r>
            <a:endParaRPr lang="en-US" sz="2600" dirty="0"/>
          </a:p>
        </p:txBody>
      </p:sp>
      <p:sp>
        <p:nvSpPr>
          <p:cNvPr id="7" name="Text 5"/>
          <p:cNvSpPr/>
          <p:nvPr/>
        </p:nvSpPr>
        <p:spPr>
          <a:xfrm>
            <a:off x="777240" y="1600200"/>
            <a:ext cx="6858000" cy="320040"/>
          </a:xfrm>
          <a:prstGeom prst="rect">
            <a:avLst/>
          </a:prstGeom>
          <a:noFill/>
          <a:ln/>
        </p:spPr>
        <p:txBody>
          <a:bodyPr wrap="square" lIns="0" tIns="0" rIns="0" bIns="0" rtlCol="0" anchor="t"/>
          <a:lstStyle/>
          <a:p>
            <a:pPr indent="0" marL="0">
              <a:buNone/>
            </a:pPr>
            <a:r>
              <a:rPr lang="en-US" sz="1300" spc="100" kern="0" dirty="0">
                <a:solidFill>
                  <a:srgbClr val="9A8FF2"/>
                </a:solidFill>
                <a:latin typeface="Meiryo" pitchFamily="34" charset="0"/>
                <a:ea typeface="Meiryo" pitchFamily="34" charset="-122"/>
                <a:cs typeface="Meiryo" pitchFamily="34" charset="-120"/>
              </a:rPr>
              <a:t>朝会シェア</a:t>
            </a:r>
            <a:endParaRPr lang="en-US" sz="1300" dirty="0"/>
          </a:p>
        </p:txBody>
      </p:sp>
      <p:sp>
        <p:nvSpPr>
          <p:cNvPr id="8" name="Text 6"/>
          <p:cNvSpPr/>
          <p:nvPr/>
        </p:nvSpPr>
        <p:spPr>
          <a:xfrm>
            <a:off x="777240" y="2011680"/>
            <a:ext cx="7680960" cy="1828800"/>
          </a:xfrm>
          <a:prstGeom prst="rect">
            <a:avLst/>
          </a:prstGeom>
          <a:noFill/>
          <a:ln/>
        </p:spPr>
        <p:txBody>
          <a:bodyPr wrap="square" lIns="0" tIns="0" rIns="0" bIns="0" rtlCol="0" anchor="t"/>
          <a:lstStyle/>
          <a:p>
            <a:pPr indent="0" marL="0">
              <a:lnSpc>
                <a:spcPts val="4600"/>
              </a:lnSpc>
              <a:buNone/>
            </a:pPr>
            <a:r>
              <a:rPr lang="en-US" sz="3400" b="1" dirty="0">
                <a:solidFill>
                  <a:srgbClr val="FFFFFF"/>
                </a:solidFill>
                <a:latin typeface="Meiryo" pitchFamily="34" charset="0"/>
                <a:ea typeface="Meiryo" pitchFamily="34" charset="-122"/>
                <a:cs typeface="Meiryo" pitchFamily="34" charset="-120"/>
              </a:rPr>
              <a:t>脳疲労について理解して</a:t>
            </a:r>
            <a:endParaRPr lang="en-US" sz="3400" dirty="0"/>
          </a:p>
          <a:p>
            <a:pPr indent="0" marL="0">
              <a:lnSpc>
                <a:spcPts val="4600"/>
              </a:lnSpc>
              <a:buNone/>
            </a:pPr>
            <a:r>
              <a:rPr lang="en-US" sz="3400" b="1" dirty="0">
                <a:solidFill>
                  <a:srgbClr val="FFFFFF"/>
                </a:solidFill>
                <a:latin typeface="Meiryo" pitchFamily="34" charset="0"/>
                <a:ea typeface="Meiryo" pitchFamily="34" charset="-122"/>
                <a:cs typeface="Meiryo" pitchFamily="34" charset="-120"/>
              </a:rPr>
              <a:t>仕事のパフォーマンスを高める</a:t>
            </a:r>
            <a:endParaRPr lang="en-US" sz="3400" dirty="0"/>
          </a:p>
        </p:txBody>
      </p:sp>
      <p:sp>
        <p:nvSpPr>
          <p:cNvPr id="9" name="Text 7"/>
          <p:cNvSpPr/>
          <p:nvPr/>
        </p:nvSpPr>
        <p:spPr>
          <a:xfrm>
            <a:off x="804672" y="3977640"/>
            <a:ext cx="7680960" cy="411480"/>
          </a:xfrm>
          <a:prstGeom prst="rect">
            <a:avLst/>
          </a:prstGeom>
          <a:noFill/>
          <a:ln/>
        </p:spPr>
        <p:txBody>
          <a:bodyPr wrap="square" lIns="0" tIns="0" rIns="0" bIns="0" rtlCol="0" anchor="t"/>
          <a:lstStyle/>
          <a:p>
            <a:pPr indent="0" marL="0">
              <a:buNone/>
            </a:pPr>
            <a:r>
              <a:rPr lang="en-US" sz="1800" dirty="0">
                <a:solidFill>
                  <a:srgbClr val="CFC9F5"/>
                </a:solidFill>
                <a:latin typeface="Meiryo" pitchFamily="34" charset="0"/>
                <a:ea typeface="Meiryo" pitchFamily="34" charset="-122"/>
                <a:cs typeface="Meiryo" pitchFamily="34" charset="-120"/>
              </a:rPr>
              <a:t>「疲れたと感じたとき、脳はもう手遅れ」</a:t>
            </a:r>
            <a:endParaRPr lang="en-US" sz="1800" dirty="0"/>
          </a:p>
        </p:txBody>
      </p:sp>
      <p:sp>
        <p:nvSpPr>
          <p:cNvPr id="10" name="Text 8"/>
          <p:cNvSpPr/>
          <p:nvPr/>
        </p:nvSpPr>
        <p:spPr>
          <a:xfrm>
            <a:off x="777240" y="5623560"/>
            <a:ext cx="7772400" cy="548640"/>
          </a:xfrm>
          <a:prstGeom prst="rect">
            <a:avLst/>
          </a:prstGeom>
          <a:noFill/>
          <a:ln/>
        </p:spPr>
        <p:txBody>
          <a:bodyPr wrap="square" lIns="0" tIns="0" rIns="0" bIns="0" rtlCol="0" anchor="t"/>
          <a:lstStyle/>
          <a:p>
            <a:pPr indent="0" marL="0">
              <a:lnSpc>
                <a:spcPts val="1700"/>
              </a:lnSpc>
              <a:buNone/>
            </a:pPr>
            <a:r>
              <a:rPr lang="en-US" sz="1100" dirty="0">
                <a:solidFill>
                  <a:srgbClr val="8078C4"/>
                </a:solidFill>
                <a:latin typeface="Meiryo" pitchFamily="34" charset="0"/>
                <a:ea typeface="Meiryo" pitchFamily="34" charset="-122"/>
                <a:cs typeface="Meiryo" pitchFamily="34" charset="-120"/>
              </a:rPr>
              <a:t>出典：YouTube「Human Insight」　解説：筑波大学 体育系　松井 崇 准教授</a:t>
            </a:r>
            <a:endParaRPr lang="en-US" sz="1100" dirty="0"/>
          </a:p>
          <a:p>
            <a:pPr indent="0" marL="0">
              <a:lnSpc>
                <a:spcPts val="1700"/>
              </a:lnSpc>
              <a:buNone/>
            </a:pPr>
            <a:r>
              <a:rPr lang="en-US" sz="1100" dirty="0">
                <a:solidFill>
                  <a:srgbClr val="8078C4"/>
                </a:solidFill>
                <a:latin typeface="Meiryo" pitchFamily="34" charset="0"/>
                <a:ea typeface="Meiryo" pitchFamily="34" charset="-122"/>
                <a:cs typeface="Meiryo" pitchFamily="34" charset="-120"/>
              </a:rPr>
              <a:t>youtube.com/watch?v=5Twy3KNMsjk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今日話すこと</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テーマは「脳疲労」。会議が何時間も続く私たちにこそ、効く話です</a:t>
            </a:r>
            <a:endParaRPr lang="en-US" sz="1400" dirty="0"/>
          </a:p>
        </p:txBody>
      </p:sp>
      <p:sp>
        <p:nvSpPr>
          <p:cNvPr id="4" name="Shape 2"/>
          <p:cNvSpPr/>
          <p:nvPr/>
        </p:nvSpPr>
        <p:spPr>
          <a:xfrm>
            <a:off x="548640" y="1828800"/>
            <a:ext cx="5394960" cy="4114800"/>
          </a:xfrm>
          <a:prstGeom prst="roundRect">
            <a:avLst>
              <a:gd name="adj" fmla="val 2667"/>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960120" y="2194560"/>
            <a:ext cx="731520" cy="731520"/>
          </a:xfrm>
          <a:prstGeom prst="ellipse">
            <a:avLst/>
          </a:prstGeom>
          <a:solidFill>
            <a:srgbClr val="5B4BD6"/>
          </a:solidFill>
          <a:ln w="12700">
            <a:solidFill>
              <a:srgbClr val="5B4BD6"/>
            </a:solidFill>
            <a:prstDash val="solid"/>
          </a:ln>
        </p:spPr>
      </p:sp>
      <p:sp>
        <p:nvSpPr>
          <p:cNvPr id="6" name="Text 4"/>
          <p:cNvSpPr/>
          <p:nvPr/>
        </p:nvSpPr>
        <p:spPr>
          <a:xfrm>
            <a:off x="960120" y="219456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脳</a:t>
            </a:r>
            <a:endParaRPr lang="en-US" sz="2000" dirty="0"/>
          </a:p>
        </p:txBody>
      </p:sp>
      <p:sp>
        <p:nvSpPr>
          <p:cNvPr id="7" name="Text 5"/>
          <p:cNvSpPr/>
          <p:nvPr/>
        </p:nvSpPr>
        <p:spPr>
          <a:xfrm>
            <a:off x="960120" y="3154680"/>
            <a:ext cx="4572000" cy="457200"/>
          </a:xfrm>
          <a:prstGeom prst="rect">
            <a:avLst/>
          </a:prstGeom>
          <a:noFill/>
          <a:ln/>
        </p:spPr>
        <p:txBody>
          <a:bodyPr wrap="square" lIns="0" tIns="0" rIns="0" bIns="0" rtlCol="0" anchor="t"/>
          <a:lstStyle/>
          <a:p>
            <a:pPr indent="0" marL="0">
              <a:buNone/>
            </a:pPr>
            <a:r>
              <a:rPr lang="en-US" sz="2300" b="1" dirty="0">
                <a:solidFill>
                  <a:srgbClr val="1A1636"/>
                </a:solidFill>
                <a:latin typeface="Meiryo" pitchFamily="34" charset="0"/>
                <a:ea typeface="Meiryo" pitchFamily="34" charset="-122"/>
                <a:cs typeface="Meiryo" pitchFamily="34" charset="-120"/>
              </a:rPr>
              <a:t>テーマ：脳疲労</a:t>
            </a:r>
            <a:endParaRPr lang="en-US" sz="2300" dirty="0"/>
          </a:p>
        </p:txBody>
      </p:sp>
      <p:sp>
        <p:nvSpPr>
          <p:cNvPr id="8" name="Text 6"/>
          <p:cNvSpPr/>
          <p:nvPr/>
        </p:nvSpPr>
        <p:spPr>
          <a:xfrm>
            <a:off x="960120" y="3794760"/>
            <a:ext cx="4526280" cy="777240"/>
          </a:xfrm>
          <a:prstGeom prst="rect">
            <a:avLst/>
          </a:prstGeom>
          <a:noFill/>
          <a:ln/>
        </p:spPr>
        <p:txBody>
          <a:bodyPr wrap="square" lIns="0" tIns="0" rIns="0" bIns="0" rtlCol="0" anchor="t"/>
          <a:lstStyle/>
          <a:p>
            <a:pPr indent="0" marL="0">
              <a:lnSpc>
                <a:spcPts val="2200"/>
              </a:lnSpc>
              <a:buNone/>
            </a:pPr>
            <a:r>
              <a:rPr lang="en-US" sz="1350" dirty="0">
                <a:solidFill>
                  <a:srgbClr val="6E6A85"/>
                </a:solidFill>
                <a:latin typeface="Meiryo" pitchFamily="34" charset="0"/>
                <a:ea typeface="Meiryo" pitchFamily="34" charset="-122"/>
                <a:cs typeface="Meiryo" pitchFamily="34" charset="-120"/>
              </a:rPr>
              <a:t>体はまったく動かしていないのに、脳だけが疲れていく疲労のこと。デスクワークと会議で起きる。</a:t>
            </a:r>
            <a:endParaRPr lang="en-US" sz="1350" dirty="0"/>
          </a:p>
        </p:txBody>
      </p:sp>
      <p:sp>
        <p:nvSpPr>
          <p:cNvPr id="9" name="Text 7"/>
          <p:cNvSpPr/>
          <p:nvPr/>
        </p:nvSpPr>
        <p:spPr>
          <a:xfrm>
            <a:off x="960120" y="4663440"/>
            <a:ext cx="4526280" cy="914400"/>
          </a:xfrm>
          <a:prstGeom prst="rect">
            <a:avLst/>
          </a:prstGeom>
          <a:noFill/>
          <a:ln/>
        </p:spPr>
        <p:txBody>
          <a:bodyPr wrap="square" lIns="0" tIns="0" rIns="0" bIns="0" rtlCol="0" anchor="t"/>
          <a:lstStyle/>
          <a:p>
            <a:pPr indent="0" marL="0">
              <a:lnSpc>
                <a:spcPts val="2100"/>
              </a:lnSpc>
              <a:buNone/>
            </a:pPr>
            <a:r>
              <a:rPr lang="en-US" sz="1250" dirty="0">
                <a:solidFill>
                  <a:srgbClr val="6E6A85"/>
                </a:solidFill>
                <a:latin typeface="Meiryo" pitchFamily="34" charset="0"/>
                <a:ea typeface="Meiryo" pitchFamily="34" charset="-122"/>
                <a:cs typeface="Meiryo" pitchFamily="34" charset="-120"/>
              </a:rPr>
              <a:t>今日は「それは何か」「なぜ厄介なのか」「どう回復するか」を順に見ていきます。</a:t>
            </a:r>
            <a:endParaRPr lang="en-US" sz="1250" dirty="0"/>
          </a:p>
        </p:txBody>
      </p:sp>
      <p:sp>
        <p:nvSpPr>
          <p:cNvPr id="10" name="Shape 8"/>
          <p:cNvSpPr/>
          <p:nvPr/>
        </p:nvSpPr>
        <p:spPr>
          <a:xfrm>
            <a:off x="6263640" y="1828800"/>
            <a:ext cx="5349240" cy="4114800"/>
          </a:xfrm>
          <a:prstGeom prst="roundRect">
            <a:avLst>
              <a:gd name="adj" fmla="val 2667"/>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11" name="Shape 9"/>
          <p:cNvSpPr/>
          <p:nvPr/>
        </p:nvSpPr>
        <p:spPr>
          <a:xfrm>
            <a:off x="6675120" y="2194560"/>
            <a:ext cx="731520" cy="731520"/>
          </a:xfrm>
          <a:prstGeom prst="ellipse">
            <a:avLst/>
          </a:prstGeom>
          <a:solidFill>
            <a:srgbClr val="FF6B5B"/>
          </a:solidFill>
          <a:ln w="12700">
            <a:solidFill>
              <a:srgbClr val="FF6B5B"/>
            </a:solidFill>
            <a:prstDash val="solid"/>
          </a:ln>
        </p:spPr>
      </p:sp>
      <p:sp>
        <p:nvSpPr>
          <p:cNvPr id="12" name="Text 10"/>
          <p:cNvSpPr/>
          <p:nvPr/>
        </p:nvSpPr>
        <p:spPr>
          <a:xfrm>
            <a:off x="6675120" y="21945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a:t>
            </a:r>
            <a:endParaRPr lang="en-US" sz="2200" dirty="0"/>
          </a:p>
        </p:txBody>
      </p:sp>
      <p:sp>
        <p:nvSpPr>
          <p:cNvPr id="13" name="Text 11"/>
          <p:cNvSpPr/>
          <p:nvPr/>
        </p:nvSpPr>
        <p:spPr>
          <a:xfrm>
            <a:off x="6675120" y="3154680"/>
            <a:ext cx="4572000" cy="457200"/>
          </a:xfrm>
          <a:prstGeom prst="rect">
            <a:avLst/>
          </a:prstGeom>
          <a:noFill/>
          <a:ln/>
        </p:spPr>
        <p:txBody>
          <a:bodyPr wrap="square" lIns="0" tIns="0" rIns="0" bIns="0" rtlCol="0" anchor="t"/>
          <a:lstStyle/>
          <a:p>
            <a:pPr indent="0" marL="0">
              <a:buNone/>
            </a:pPr>
            <a:r>
              <a:rPr lang="en-US" sz="2300" b="1" dirty="0">
                <a:solidFill>
                  <a:srgbClr val="FFFFFF"/>
                </a:solidFill>
                <a:latin typeface="Meiryo" pitchFamily="34" charset="0"/>
                <a:ea typeface="Meiryo" pitchFamily="34" charset="-122"/>
                <a:cs typeface="Meiryo" pitchFamily="34" charset="-120"/>
              </a:rPr>
              <a:t>なぜ、この話をするか</a:t>
            </a:r>
            <a:endParaRPr lang="en-US" sz="2300" dirty="0"/>
          </a:p>
        </p:txBody>
      </p:sp>
      <p:sp>
        <p:nvSpPr>
          <p:cNvPr id="14" name="Text 12"/>
          <p:cNvSpPr/>
          <p:nvPr/>
        </p:nvSpPr>
        <p:spPr>
          <a:xfrm>
            <a:off x="6675120" y="3749040"/>
            <a:ext cx="4526280" cy="731520"/>
          </a:xfrm>
          <a:prstGeom prst="rect">
            <a:avLst/>
          </a:prstGeom>
          <a:noFill/>
          <a:ln/>
        </p:spPr>
        <p:txBody>
          <a:bodyPr wrap="square" lIns="0" tIns="0" rIns="0" bIns="0" rtlCol="0" anchor="t"/>
          <a:lstStyle/>
          <a:p>
            <a:pPr indent="0" marL="0">
              <a:lnSpc>
                <a:spcPts val="2000"/>
              </a:lnSpc>
              <a:buNone/>
            </a:pPr>
            <a:r>
              <a:rPr lang="en-US" sz="1250" b="1" dirty="0">
                <a:solidFill>
                  <a:srgbClr val="F5A524"/>
                </a:solidFill>
                <a:latin typeface="Meiryo" pitchFamily="34" charset="0"/>
                <a:ea typeface="Meiryo" pitchFamily="34" charset="-122"/>
                <a:cs typeface="Meiryo" pitchFamily="34" charset="-120"/>
              </a:rPr>
              <a:t>YouTubeで、仕事に役立つ知識や考え方の動画を見るのが好きです。昨年見た中でいちばん面白くて、いちばん有用だったのがこの動画でした。</a:t>
            </a:r>
            <a:endParaRPr lang="en-US" sz="1250" dirty="0"/>
          </a:p>
        </p:txBody>
      </p:sp>
      <p:sp>
        <p:nvSpPr>
          <p:cNvPr id="15" name="Text 13"/>
          <p:cNvSpPr/>
          <p:nvPr/>
        </p:nvSpPr>
        <p:spPr>
          <a:xfrm>
            <a:off x="6675120" y="4553712"/>
            <a:ext cx="4526280" cy="777240"/>
          </a:xfrm>
          <a:prstGeom prst="rect">
            <a:avLst/>
          </a:prstGeom>
          <a:noFill/>
          <a:ln/>
        </p:spPr>
        <p:txBody>
          <a:bodyPr wrap="square" lIns="0" tIns="0" rIns="0" bIns="0" rtlCol="0" anchor="t"/>
          <a:lstStyle/>
          <a:p>
            <a:pPr indent="0" marL="0">
              <a:lnSpc>
                <a:spcPts val="1900"/>
              </a:lnSpc>
              <a:buNone/>
            </a:pPr>
            <a:r>
              <a:rPr lang="en-US" sz="1200" dirty="0">
                <a:solidFill>
                  <a:srgbClr val="C9C2F2"/>
                </a:solidFill>
                <a:latin typeface="Meiryo" pitchFamily="34" charset="0"/>
                <a:ea typeface="Meiryo" pitchFamily="34" charset="-122"/>
                <a:cs typeface="Meiryo" pitchFamily="34" charset="-120"/>
              </a:rPr>
              <a:t>しかも、この研究は eスポーツを使って行われています。過去の朝会でも話したとおり、これまでゲームイベントを開いてきた自分には、そこがとても興味深いところでした。</a:t>
            </a:r>
            <a:endParaRPr lang="en-US" sz="1200" dirty="0"/>
          </a:p>
        </p:txBody>
      </p:sp>
      <p:sp>
        <p:nvSpPr>
          <p:cNvPr id="16" name="Text 14"/>
          <p:cNvSpPr/>
          <p:nvPr/>
        </p:nvSpPr>
        <p:spPr>
          <a:xfrm>
            <a:off x="6675120" y="5413248"/>
            <a:ext cx="4526280" cy="457200"/>
          </a:xfrm>
          <a:prstGeom prst="rect">
            <a:avLst/>
          </a:prstGeom>
          <a:noFill/>
          <a:ln/>
        </p:spPr>
        <p:txBody>
          <a:bodyPr wrap="square" lIns="0" tIns="0" rIns="0" bIns="0" rtlCol="0" anchor="t"/>
          <a:lstStyle/>
          <a:p>
            <a:pPr indent="0" marL="0">
              <a:lnSpc>
                <a:spcPts val="1900"/>
              </a:lnSpc>
              <a:buNone/>
            </a:pPr>
            <a:r>
              <a:rPr lang="en-US" sz="1200" dirty="0">
                <a:solidFill>
                  <a:srgbClr val="C9C2F2"/>
                </a:solidFill>
                <a:latin typeface="Meiryo" pitchFamily="34" charset="0"/>
                <a:ea typeface="Meiryo" pitchFamily="34" charset="-122"/>
                <a:cs typeface="Meiryo" pitchFamily="34" charset="-120"/>
              </a:rPr>
              <a:t>そして私たちは、何時間も連続で会議が続く日が多いチームです。</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今日の流れ</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前半で「脳疲労とは何か」、後半で「いちばん手軽な対策」を見ていきます</a:t>
            </a:r>
            <a:endParaRPr lang="en-US" sz="1400" dirty="0"/>
          </a:p>
        </p:txBody>
      </p:sp>
      <p:sp>
        <p:nvSpPr>
          <p:cNvPr id="4" name="Shape 2"/>
          <p:cNvSpPr/>
          <p:nvPr/>
        </p:nvSpPr>
        <p:spPr>
          <a:xfrm>
            <a:off x="548640" y="1965960"/>
            <a:ext cx="2468880" cy="3200400"/>
          </a:xfrm>
          <a:prstGeom prst="roundRect">
            <a:avLst>
              <a:gd name="adj" fmla="val 4444"/>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822960" y="2286000"/>
            <a:ext cx="1234440" cy="365760"/>
          </a:xfrm>
          <a:prstGeom prst="roundRect">
            <a:avLst>
              <a:gd name="adj" fmla="val 50000"/>
            </a:avLst>
          </a:prstGeom>
          <a:solidFill>
            <a:srgbClr val="5B4BD6"/>
          </a:solidFill>
          <a:ln w="12700">
            <a:solidFill>
              <a:srgbClr val="5B4BD6"/>
            </a:solidFill>
            <a:prstDash val="solid"/>
          </a:ln>
        </p:spPr>
      </p:sp>
      <p:sp>
        <p:nvSpPr>
          <p:cNvPr id="6" name="Text 4"/>
          <p:cNvSpPr/>
          <p:nvPr/>
        </p:nvSpPr>
        <p:spPr>
          <a:xfrm>
            <a:off x="822960" y="228600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STEP 1</a:t>
            </a:r>
            <a:endParaRPr lang="en-US" sz="1100" dirty="0"/>
          </a:p>
        </p:txBody>
      </p:sp>
      <p:sp>
        <p:nvSpPr>
          <p:cNvPr id="7" name="Text 5"/>
          <p:cNvSpPr/>
          <p:nvPr/>
        </p:nvSpPr>
        <p:spPr>
          <a:xfrm>
            <a:off x="822960" y="2834640"/>
            <a:ext cx="1965960" cy="731520"/>
          </a:xfrm>
          <a:prstGeom prst="rect">
            <a:avLst/>
          </a:prstGeom>
          <a:noFill/>
          <a:ln/>
        </p:spPr>
        <p:txBody>
          <a:bodyPr wrap="square" lIns="0" tIns="0" rIns="0" bIns="0" rtlCol="0" anchor="t"/>
          <a:lstStyle/>
          <a:p>
            <a:pPr indent="0" marL="0">
              <a:lnSpc>
                <a:spcPts val="2300"/>
              </a:lnSpc>
              <a:buNone/>
            </a:pPr>
            <a:r>
              <a:rPr lang="en-US" sz="1650" b="1" dirty="0">
                <a:solidFill>
                  <a:srgbClr val="1A1636"/>
                </a:solidFill>
                <a:latin typeface="Meiryo" pitchFamily="34" charset="0"/>
                <a:ea typeface="Meiryo" pitchFamily="34" charset="-122"/>
                <a:cs typeface="Meiryo" pitchFamily="34" charset="-120"/>
              </a:rPr>
              <a:t>脳疲労とは何か</a:t>
            </a:r>
            <a:endParaRPr lang="en-US" sz="1650" dirty="0"/>
          </a:p>
        </p:txBody>
      </p:sp>
      <p:sp>
        <p:nvSpPr>
          <p:cNvPr id="8" name="Text 6"/>
          <p:cNvSpPr/>
          <p:nvPr/>
        </p:nvSpPr>
        <p:spPr>
          <a:xfrm>
            <a:off x="822960" y="3657600"/>
            <a:ext cx="1965960" cy="1280160"/>
          </a:xfrm>
          <a:prstGeom prst="rect">
            <a:avLst/>
          </a:prstGeom>
          <a:noFill/>
          <a:ln/>
        </p:spPr>
        <p:txBody>
          <a:bodyPr wrap="square" lIns="0" tIns="0" rIns="0" bIns="0" rtlCol="0" anchor="t"/>
          <a:lstStyle/>
          <a:p>
            <a:pPr indent="0" marL="0">
              <a:lnSpc>
                <a:spcPts val="1800"/>
              </a:lnSpc>
              <a:buNone/>
            </a:pPr>
            <a:r>
              <a:rPr lang="en-US" sz="1150" dirty="0">
                <a:solidFill>
                  <a:srgbClr val="6E6A85"/>
                </a:solidFill>
                <a:latin typeface="Meiryo" pitchFamily="34" charset="0"/>
                <a:ea typeface="Meiryo" pitchFamily="34" charset="-122"/>
                <a:cs typeface="Meiryo" pitchFamily="34" charset="-120"/>
              </a:rPr>
              <a:t>疲労にはいくつも種類がある。そのうち“脳が原因”のものが脳疲労。脳の中で何が起きているのか。</a:t>
            </a:r>
            <a:endParaRPr lang="en-US" sz="1150" dirty="0"/>
          </a:p>
        </p:txBody>
      </p:sp>
      <p:sp>
        <p:nvSpPr>
          <p:cNvPr id="9" name="Shape 7"/>
          <p:cNvSpPr/>
          <p:nvPr/>
        </p:nvSpPr>
        <p:spPr>
          <a:xfrm>
            <a:off x="3127248" y="3383280"/>
            <a:ext cx="310896" cy="256032"/>
          </a:xfrm>
          <a:prstGeom prst="rightArrow">
            <a:avLst/>
          </a:prstGeom>
          <a:solidFill>
            <a:srgbClr val="D9D7E6"/>
          </a:solidFill>
          <a:ln w="12700">
            <a:solidFill>
              <a:srgbClr val="D9D7E6"/>
            </a:solidFill>
            <a:prstDash val="solid"/>
          </a:ln>
        </p:spPr>
      </p:sp>
      <p:sp>
        <p:nvSpPr>
          <p:cNvPr id="10" name="Shape 8"/>
          <p:cNvSpPr/>
          <p:nvPr/>
        </p:nvSpPr>
        <p:spPr>
          <a:xfrm>
            <a:off x="3419856" y="1965960"/>
            <a:ext cx="2468880" cy="3200400"/>
          </a:xfrm>
          <a:prstGeom prst="roundRect">
            <a:avLst>
              <a:gd name="adj" fmla="val 4444"/>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11" name="Shape 9"/>
          <p:cNvSpPr/>
          <p:nvPr/>
        </p:nvSpPr>
        <p:spPr>
          <a:xfrm>
            <a:off x="3694176" y="2286000"/>
            <a:ext cx="1234440" cy="365760"/>
          </a:xfrm>
          <a:prstGeom prst="roundRect">
            <a:avLst>
              <a:gd name="adj" fmla="val 50000"/>
            </a:avLst>
          </a:prstGeom>
          <a:solidFill>
            <a:srgbClr val="5B4BD6"/>
          </a:solidFill>
          <a:ln w="12700">
            <a:solidFill>
              <a:srgbClr val="5B4BD6"/>
            </a:solidFill>
            <a:prstDash val="solid"/>
          </a:ln>
        </p:spPr>
      </p:sp>
      <p:sp>
        <p:nvSpPr>
          <p:cNvPr id="12" name="Text 10"/>
          <p:cNvSpPr/>
          <p:nvPr/>
        </p:nvSpPr>
        <p:spPr>
          <a:xfrm>
            <a:off x="3694176" y="228600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STEP 2</a:t>
            </a:r>
            <a:endParaRPr lang="en-US" sz="1100" dirty="0"/>
          </a:p>
        </p:txBody>
      </p:sp>
      <p:sp>
        <p:nvSpPr>
          <p:cNvPr id="13" name="Text 11"/>
          <p:cNvSpPr/>
          <p:nvPr/>
        </p:nvSpPr>
        <p:spPr>
          <a:xfrm>
            <a:off x="3694176" y="2834640"/>
            <a:ext cx="1965960" cy="731520"/>
          </a:xfrm>
          <a:prstGeom prst="rect">
            <a:avLst/>
          </a:prstGeom>
          <a:noFill/>
          <a:ln/>
        </p:spPr>
        <p:txBody>
          <a:bodyPr wrap="square" lIns="0" tIns="0" rIns="0" bIns="0" rtlCol="0" anchor="t"/>
          <a:lstStyle/>
          <a:p>
            <a:pPr indent="0" marL="0">
              <a:lnSpc>
                <a:spcPts val="2300"/>
              </a:lnSpc>
              <a:buNone/>
            </a:pPr>
            <a:r>
              <a:rPr lang="en-US" sz="1650" b="1" dirty="0">
                <a:solidFill>
                  <a:srgbClr val="1A1636"/>
                </a:solidFill>
                <a:latin typeface="Meiryo" pitchFamily="34" charset="0"/>
                <a:ea typeface="Meiryo" pitchFamily="34" charset="-122"/>
                <a:cs typeface="Meiryo" pitchFamily="34" charset="-120"/>
              </a:rPr>
              <a:t>いちばん厄介な点</a:t>
            </a:r>
            <a:endParaRPr lang="en-US" sz="1650" dirty="0"/>
          </a:p>
        </p:txBody>
      </p:sp>
      <p:sp>
        <p:nvSpPr>
          <p:cNvPr id="14" name="Text 12"/>
          <p:cNvSpPr/>
          <p:nvPr/>
        </p:nvSpPr>
        <p:spPr>
          <a:xfrm>
            <a:off x="3694176" y="3657600"/>
            <a:ext cx="1965960" cy="1280160"/>
          </a:xfrm>
          <a:prstGeom prst="rect">
            <a:avLst/>
          </a:prstGeom>
          <a:noFill/>
          <a:ln/>
        </p:spPr>
        <p:txBody>
          <a:bodyPr wrap="square" lIns="0" tIns="0" rIns="0" bIns="0" rtlCol="0" anchor="t"/>
          <a:lstStyle/>
          <a:p>
            <a:pPr indent="0" marL="0">
              <a:lnSpc>
                <a:spcPts val="1800"/>
              </a:lnSpc>
              <a:buNone/>
            </a:pPr>
            <a:r>
              <a:rPr lang="en-US" sz="1150" dirty="0">
                <a:solidFill>
                  <a:srgbClr val="6E6A85"/>
                </a:solidFill>
                <a:latin typeface="Meiryo" pitchFamily="34" charset="0"/>
                <a:ea typeface="Meiryo" pitchFamily="34" charset="-122"/>
                <a:cs typeface="Meiryo" pitchFamily="34" charset="-120"/>
              </a:rPr>
              <a:t>判断力の低下が、疲労感より先に来てしまう。だから自分では気づけない。</a:t>
            </a:r>
            <a:endParaRPr lang="en-US" sz="1150" dirty="0"/>
          </a:p>
        </p:txBody>
      </p:sp>
      <p:sp>
        <p:nvSpPr>
          <p:cNvPr id="15" name="Shape 13"/>
          <p:cNvSpPr/>
          <p:nvPr/>
        </p:nvSpPr>
        <p:spPr>
          <a:xfrm>
            <a:off x="5998464" y="3383280"/>
            <a:ext cx="310896" cy="256032"/>
          </a:xfrm>
          <a:prstGeom prst="rightArrow">
            <a:avLst/>
          </a:prstGeom>
          <a:solidFill>
            <a:srgbClr val="D9D7E6"/>
          </a:solidFill>
          <a:ln w="12700">
            <a:solidFill>
              <a:srgbClr val="D9D7E6"/>
            </a:solidFill>
            <a:prstDash val="solid"/>
          </a:ln>
        </p:spPr>
      </p:sp>
      <p:sp>
        <p:nvSpPr>
          <p:cNvPr id="16" name="Shape 14"/>
          <p:cNvSpPr/>
          <p:nvPr/>
        </p:nvSpPr>
        <p:spPr>
          <a:xfrm>
            <a:off x="6291072" y="1965960"/>
            <a:ext cx="2468880" cy="3200400"/>
          </a:xfrm>
          <a:prstGeom prst="roundRect">
            <a:avLst>
              <a:gd name="adj" fmla="val 4444"/>
            </a:avLst>
          </a:prstGeom>
          <a:solidFill>
            <a:srgbClr val="FFFFFF"/>
          </a:solidFill>
          <a:ln w="12700">
            <a:solidFill>
              <a:srgbClr val="D9D7E6"/>
            </a:solidFill>
            <a:prstDash val="solid"/>
          </a:ln>
        </p:spPr>
      </p:sp>
      <p:sp>
        <p:nvSpPr>
          <p:cNvPr id="17" name="Shape 15"/>
          <p:cNvSpPr/>
          <p:nvPr/>
        </p:nvSpPr>
        <p:spPr>
          <a:xfrm>
            <a:off x="6565392" y="2286000"/>
            <a:ext cx="1234440" cy="365760"/>
          </a:xfrm>
          <a:prstGeom prst="roundRect">
            <a:avLst>
              <a:gd name="adj" fmla="val 50000"/>
            </a:avLst>
          </a:prstGeom>
          <a:solidFill>
            <a:srgbClr val="B9B4CE"/>
          </a:solidFill>
          <a:ln w="12700">
            <a:solidFill>
              <a:srgbClr val="B9B4CE"/>
            </a:solidFill>
            <a:prstDash val="solid"/>
          </a:ln>
        </p:spPr>
      </p:sp>
      <p:sp>
        <p:nvSpPr>
          <p:cNvPr id="18" name="Text 16"/>
          <p:cNvSpPr/>
          <p:nvPr/>
        </p:nvSpPr>
        <p:spPr>
          <a:xfrm>
            <a:off x="6565392" y="228600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補　足</a:t>
            </a:r>
            <a:endParaRPr lang="en-US" sz="1100" dirty="0"/>
          </a:p>
        </p:txBody>
      </p:sp>
      <p:sp>
        <p:nvSpPr>
          <p:cNvPr id="19" name="Text 17"/>
          <p:cNvSpPr/>
          <p:nvPr/>
        </p:nvSpPr>
        <p:spPr>
          <a:xfrm>
            <a:off x="6565392" y="2834640"/>
            <a:ext cx="1965960" cy="731520"/>
          </a:xfrm>
          <a:prstGeom prst="rect">
            <a:avLst/>
          </a:prstGeom>
          <a:noFill/>
          <a:ln/>
        </p:spPr>
        <p:txBody>
          <a:bodyPr wrap="square" lIns="0" tIns="0" rIns="0" bIns="0" rtlCol="0" anchor="t"/>
          <a:lstStyle/>
          <a:p>
            <a:pPr indent="0" marL="0">
              <a:lnSpc>
                <a:spcPts val="2300"/>
              </a:lnSpc>
              <a:buNone/>
            </a:pPr>
            <a:r>
              <a:rPr lang="en-US" sz="1650" b="1" dirty="0">
                <a:solidFill>
                  <a:srgbClr val="6E6A85"/>
                </a:solidFill>
                <a:latin typeface="Meiryo" pitchFamily="34" charset="0"/>
                <a:ea typeface="Meiryo" pitchFamily="34" charset="-122"/>
                <a:cs typeface="Meiryo" pitchFamily="34" charset="-120"/>
              </a:rPr>
              <a:t>どうやって気づくか</a:t>
            </a:r>
            <a:endParaRPr lang="en-US" sz="1650" dirty="0"/>
          </a:p>
        </p:txBody>
      </p:sp>
      <p:sp>
        <p:nvSpPr>
          <p:cNvPr id="20" name="Text 18"/>
          <p:cNvSpPr/>
          <p:nvPr/>
        </p:nvSpPr>
        <p:spPr>
          <a:xfrm>
            <a:off x="6565392" y="3657600"/>
            <a:ext cx="1965960" cy="1280160"/>
          </a:xfrm>
          <a:prstGeom prst="rect">
            <a:avLst/>
          </a:prstGeom>
          <a:noFill/>
          <a:ln/>
        </p:spPr>
        <p:txBody>
          <a:bodyPr wrap="square" lIns="0" tIns="0" rIns="0" bIns="0" rtlCol="0" anchor="t"/>
          <a:lstStyle/>
          <a:p>
            <a:pPr indent="0" marL="0">
              <a:lnSpc>
                <a:spcPts val="1800"/>
              </a:lnSpc>
              <a:buNone/>
            </a:pPr>
            <a:r>
              <a:rPr lang="en-US" sz="1150" dirty="0">
                <a:solidFill>
                  <a:srgbClr val="9B97AE"/>
                </a:solidFill>
                <a:latin typeface="Meiryo" pitchFamily="34" charset="0"/>
                <a:ea typeface="Meiryo" pitchFamily="34" charset="-122"/>
                <a:cs typeface="Meiryo" pitchFamily="34" charset="-120"/>
              </a:rPr>
              <a:t>サインは瞳孔の縮みと、指先・鼻の冷え。時間があれば触れます。</a:t>
            </a:r>
            <a:endParaRPr lang="en-US" sz="1150" dirty="0"/>
          </a:p>
        </p:txBody>
      </p:sp>
      <p:sp>
        <p:nvSpPr>
          <p:cNvPr id="21" name="Shape 19"/>
          <p:cNvSpPr/>
          <p:nvPr/>
        </p:nvSpPr>
        <p:spPr>
          <a:xfrm>
            <a:off x="8869680" y="3383280"/>
            <a:ext cx="310896" cy="256032"/>
          </a:xfrm>
          <a:prstGeom prst="rightArrow">
            <a:avLst/>
          </a:prstGeom>
          <a:solidFill>
            <a:srgbClr val="D9D7E6"/>
          </a:solidFill>
          <a:ln w="12700">
            <a:solidFill>
              <a:srgbClr val="D9D7E6"/>
            </a:solidFill>
            <a:prstDash val="solid"/>
          </a:ln>
        </p:spPr>
      </p:sp>
      <p:sp>
        <p:nvSpPr>
          <p:cNvPr id="22" name="Shape 20"/>
          <p:cNvSpPr/>
          <p:nvPr/>
        </p:nvSpPr>
        <p:spPr>
          <a:xfrm>
            <a:off x="9162288" y="1965960"/>
            <a:ext cx="2468880" cy="3200400"/>
          </a:xfrm>
          <a:prstGeom prst="roundRect">
            <a:avLst>
              <a:gd name="adj" fmla="val 4444"/>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23" name="Shape 21"/>
          <p:cNvSpPr/>
          <p:nvPr/>
        </p:nvSpPr>
        <p:spPr>
          <a:xfrm>
            <a:off x="9436608" y="2286000"/>
            <a:ext cx="1234440" cy="365760"/>
          </a:xfrm>
          <a:prstGeom prst="roundRect">
            <a:avLst>
              <a:gd name="adj" fmla="val 50000"/>
            </a:avLst>
          </a:prstGeom>
          <a:solidFill>
            <a:srgbClr val="FF6B5B"/>
          </a:solidFill>
          <a:ln w="12700">
            <a:solidFill>
              <a:srgbClr val="FF6B5B"/>
            </a:solidFill>
            <a:prstDash val="solid"/>
          </a:ln>
        </p:spPr>
      </p:sp>
      <p:sp>
        <p:nvSpPr>
          <p:cNvPr id="24" name="Text 22"/>
          <p:cNvSpPr/>
          <p:nvPr/>
        </p:nvSpPr>
        <p:spPr>
          <a:xfrm>
            <a:off x="9436608" y="228600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STEP 3</a:t>
            </a:r>
            <a:endParaRPr lang="en-US" sz="1100" dirty="0"/>
          </a:p>
        </p:txBody>
      </p:sp>
      <p:sp>
        <p:nvSpPr>
          <p:cNvPr id="25" name="Text 23"/>
          <p:cNvSpPr/>
          <p:nvPr/>
        </p:nvSpPr>
        <p:spPr>
          <a:xfrm>
            <a:off x="9436608" y="2834640"/>
            <a:ext cx="1965960" cy="731520"/>
          </a:xfrm>
          <a:prstGeom prst="rect">
            <a:avLst/>
          </a:prstGeom>
          <a:noFill/>
          <a:ln/>
        </p:spPr>
        <p:txBody>
          <a:bodyPr wrap="square" lIns="0" tIns="0" rIns="0" bIns="0" rtlCol="0" anchor="t"/>
          <a:lstStyle/>
          <a:p>
            <a:pPr indent="0" marL="0">
              <a:lnSpc>
                <a:spcPts val="2300"/>
              </a:lnSpc>
              <a:buNone/>
            </a:pPr>
            <a:r>
              <a:rPr lang="en-US" sz="1650" b="1" dirty="0">
                <a:solidFill>
                  <a:srgbClr val="FFFFFF"/>
                </a:solidFill>
                <a:latin typeface="Meiryo" pitchFamily="34" charset="0"/>
                <a:ea typeface="Meiryo" pitchFamily="34" charset="-122"/>
                <a:cs typeface="Meiryo" pitchFamily="34" charset="-120"/>
              </a:rPr>
              <a:t>どう回復するか</a:t>
            </a:r>
            <a:endParaRPr lang="en-US" sz="1650" dirty="0"/>
          </a:p>
        </p:txBody>
      </p:sp>
      <p:sp>
        <p:nvSpPr>
          <p:cNvPr id="26" name="Text 24"/>
          <p:cNvSpPr/>
          <p:nvPr/>
        </p:nvSpPr>
        <p:spPr>
          <a:xfrm>
            <a:off x="9436608" y="3657600"/>
            <a:ext cx="1965960" cy="1280160"/>
          </a:xfrm>
          <a:prstGeom prst="rect">
            <a:avLst/>
          </a:prstGeom>
          <a:noFill/>
          <a:ln/>
        </p:spPr>
        <p:txBody>
          <a:bodyPr wrap="square" lIns="0" tIns="0" rIns="0" bIns="0" rtlCol="0" anchor="t"/>
          <a:lstStyle/>
          <a:p>
            <a:pPr indent="0" marL="0">
              <a:lnSpc>
                <a:spcPts val="1800"/>
              </a:lnSpc>
              <a:buNone/>
            </a:pPr>
            <a:r>
              <a:rPr lang="en-US" sz="1150" dirty="0">
                <a:solidFill>
                  <a:srgbClr val="C9C2F2"/>
                </a:solidFill>
                <a:latin typeface="Meiryo" pitchFamily="34" charset="0"/>
                <a:ea typeface="Meiryo" pitchFamily="34" charset="-122"/>
                <a:cs typeface="Meiryo" pitchFamily="34" charset="-120"/>
              </a:rPr>
              <a:t>運動・栄養・休養・絆の4要素。今日はいちばん手軽な「無糖の炭酸水」を深掘り。</a:t>
            </a:r>
            <a:endParaRPr lang="en-US" sz="1150" dirty="0"/>
          </a:p>
        </p:txBody>
      </p:sp>
      <p:sp>
        <p:nvSpPr>
          <p:cNvPr id="27" name="Shape 25"/>
          <p:cNvSpPr/>
          <p:nvPr/>
        </p:nvSpPr>
        <p:spPr>
          <a:xfrm>
            <a:off x="548640" y="5440680"/>
            <a:ext cx="11064240" cy="914400"/>
          </a:xfrm>
          <a:prstGeom prst="roundRect">
            <a:avLst>
              <a:gd name="adj" fmla="val 12000"/>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28" name="Text 26"/>
          <p:cNvSpPr/>
          <p:nvPr/>
        </p:nvSpPr>
        <p:spPr>
          <a:xfrm>
            <a:off x="914400" y="5440680"/>
            <a:ext cx="10332720" cy="914400"/>
          </a:xfrm>
          <a:prstGeom prst="rect">
            <a:avLst/>
          </a:prstGeom>
          <a:noFill/>
          <a:ln/>
        </p:spPr>
        <p:txBody>
          <a:bodyPr wrap="square" lIns="0" tIns="0" rIns="0" bIns="0" rtlCol="0" anchor="ctr"/>
          <a:lstStyle/>
          <a:p>
            <a:pPr indent="0" marL="0">
              <a:buNone/>
            </a:pPr>
            <a:r>
              <a:rPr lang="en-US" sz="1400" b="1" dirty="0">
                <a:solidFill>
                  <a:srgbClr val="1A1636"/>
                </a:solidFill>
                <a:latin typeface="Meiryo" pitchFamily="34" charset="0"/>
                <a:ea typeface="Meiryo" pitchFamily="34" charset="-122"/>
                <a:cs typeface="Meiryo" pitchFamily="34" charset="-120"/>
              </a:rPr>
              <a:t>STEP 1・2 が「脳疲労とは何か」、STEP 3 が「どうするか」。今日いちばん持ち帰ってほしいのは、STEP 3 の炭酸水の話です。</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そもそも「疲労」にはいくつも種類がある</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日本疲労学会の定義がベース。3つの軸（病的かどうか／症状／原因）で分けていくと、脳疲労の位置が見えてくる</a:t>
            </a:r>
            <a:endParaRPr lang="en-US" sz="1400" dirty="0"/>
          </a:p>
        </p:txBody>
      </p:sp>
      <p:sp>
        <p:nvSpPr>
          <p:cNvPr id="4" name="Text 2"/>
          <p:cNvSpPr/>
          <p:nvPr/>
        </p:nvSpPr>
        <p:spPr>
          <a:xfrm>
            <a:off x="2148840" y="1463040"/>
            <a:ext cx="2148840" cy="256032"/>
          </a:xfrm>
          <a:prstGeom prst="rect">
            <a:avLst/>
          </a:prstGeom>
          <a:noFill/>
          <a:ln/>
        </p:spPr>
        <p:txBody>
          <a:bodyPr wrap="square" lIns="0" tIns="0" rIns="0" bIns="0" rtlCol="0" anchor="t"/>
          <a:lstStyle/>
          <a:p>
            <a:pPr algn="ctr" indent="0" marL="0">
              <a:buNone/>
            </a:pPr>
            <a:r>
              <a:rPr lang="en-US" sz="1100" b="1" dirty="0">
                <a:solidFill>
                  <a:srgbClr val="FF6B5B"/>
                </a:solidFill>
                <a:latin typeface="Meiryo" pitchFamily="34" charset="0"/>
                <a:ea typeface="Meiryo" pitchFamily="34" charset="-122"/>
                <a:cs typeface="Meiryo" pitchFamily="34" charset="-120"/>
              </a:rPr>
              <a:t>① 病的かどうか</a:t>
            </a:r>
            <a:endParaRPr lang="en-US" sz="1100" dirty="0"/>
          </a:p>
        </p:txBody>
      </p:sp>
      <p:sp>
        <p:nvSpPr>
          <p:cNvPr id="5" name="Text 3"/>
          <p:cNvSpPr/>
          <p:nvPr/>
        </p:nvSpPr>
        <p:spPr>
          <a:xfrm>
            <a:off x="4663440" y="1463040"/>
            <a:ext cx="2148840" cy="256032"/>
          </a:xfrm>
          <a:prstGeom prst="rect">
            <a:avLst/>
          </a:prstGeom>
          <a:noFill/>
          <a:ln/>
        </p:spPr>
        <p:txBody>
          <a:bodyPr wrap="square" lIns="0" tIns="0" rIns="0" bIns="0" rtlCol="0" anchor="t"/>
          <a:lstStyle/>
          <a:p>
            <a:pPr algn="ctr" indent="0" marL="0">
              <a:buNone/>
            </a:pPr>
            <a:r>
              <a:rPr lang="en-US" sz="1100" b="1" dirty="0">
                <a:solidFill>
                  <a:srgbClr val="FF6B5B"/>
                </a:solidFill>
                <a:latin typeface="Meiryo" pitchFamily="34" charset="0"/>
                <a:ea typeface="Meiryo" pitchFamily="34" charset="-122"/>
                <a:cs typeface="Meiryo" pitchFamily="34" charset="-120"/>
              </a:rPr>
              <a:t>② 症状</a:t>
            </a:r>
            <a:endParaRPr lang="en-US" sz="1100" dirty="0"/>
          </a:p>
        </p:txBody>
      </p:sp>
      <p:sp>
        <p:nvSpPr>
          <p:cNvPr id="6" name="Text 4"/>
          <p:cNvSpPr/>
          <p:nvPr/>
        </p:nvSpPr>
        <p:spPr>
          <a:xfrm>
            <a:off x="7178040" y="1463040"/>
            <a:ext cx="2834640" cy="256032"/>
          </a:xfrm>
          <a:prstGeom prst="rect">
            <a:avLst/>
          </a:prstGeom>
          <a:noFill/>
          <a:ln/>
        </p:spPr>
        <p:txBody>
          <a:bodyPr wrap="square" lIns="0" tIns="0" rIns="0" bIns="0" rtlCol="0" anchor="t"/>
          <a:lstStyle/>
          <a:p>
            <a:pPr algn="ctr" indent="0" marL="0">
              <a:buNone/>
            </a:pPr>
            <a:r>
              <a:rPr lang="en-US" sz="1100" b="1" dirty="0">
                <a:solidFill>
                  <a:srgbClr val="FF6B5B"/>
                </a:solidFill>
                <a:latin typeface="Meiryo" pitchFamily="34" charset="0"/>
                <a:ea typeface="Meiryo" pitchFamily="34" charset="-122"/>
                <a:cs typeface="Meiryo" pitchFamily="34" charset="-120"/>
              </a:rPr>
              <a:t>③ 原因</a:t>
            </a:r>
            <a:endParaRPr lang="en-US" sz="1100" dirty="0"/>
          </a:p>
        </p:txBody>
      </p:sp>
      <p:sp>
        <p:nvSpPr>
          <p:cNvPr id="7" name="Shape 5"/>
          <p:cNvSpPr/>
          <p:nvPr/>
        </p:nvSpPr>
        <p:spPr>
          <a:xfrm>
            <a:off x="1783080" y="4137660"/>
            <a:ext cx="182880" cy="0"/>
          </a:xfrm>
          <a:prstGeom prst="line">
            <a:avLst/>
          </a:prstGeom>
          <a:noFill/>
          <a:ln w="19050">
            <a:solidFill>
              <a:srgbClr val="D9D7E6"/>
            </a:solidFill>
            <a:prstDash val="solid"/>
          </a:ln>
        </p:spPr>
      </p:sp>
      <p:sp>
        <p:nvSpPr>
          <p:cNvPr id="8" name="Shape 6"/>
          <p:cNvSpPr/>
          <p:nvPr/>
        </p:nvSpPr>
        <p:spPr>
          <a:xfrm>
            <a:off x="1965960" y="3246120"/>
            <a:ext cx="0" cy="891540"/>
          </a:xfrm>
          <a:prstGeom prst="line">
            <a:avLst/>
          </a:prstGeom>
          <a:noFill/>
          <a:ln w="19050">
            <a:solidFill>
              <a:srgbClr val="D9D7E6"/>
            </a:solidFill>
            <a:prstDash val="solid"/>
          </a:ln>
        </p:spPr>
      </p:sp>
      <p:sp>
        <p:nvSpPr>
          <p:cNvPr id="9" name="Shape 7"/>
          <p:cNvSpPr/>
          <p:nvPr/>
        </p:nvSpPr>
        <p:spPr>
          <a:xfrm>
            <a:off x="1965960" y="3246120"/>
            <a:ext cx="182880" cy="0"/>
          </a:xfrm>
          <a:prstGeom prst="line">
            <a:avLst/>
          </a:prstGeom>
          <a:noFill/>
          <a:ln w="19050">
            <a:solidFill>
              <a:srgbClr val="D9D7E6"/>
            </a:solidFill>
            <a:prstDash val="solid"/>
          </a:ln>
        </p:spPr>
      </p:sp>
      <p:sp>
        <p:nvSpPr>
          <p:cNvPr id="10" name="Shape 8"/>
          <p:cNvSpPr/>
          <p:nvPr/>
        </p:nvSpPr>
        <p:spPr>
          <a:xfrm>
            <a:off x="1783080" y="4137660"/>
            <a:ext cx="182880" cy="0"/>
          </a:xfrm>
          <a:prstGeom prst="line">
            <a:avLst/>
          </a:prstGeom>
          <a:noFill/>
          <a:ln w="19050">
            <a:solidFill>
              <a:srgbClr val="D9D7E6"/>
            </a:solidFill>
            <a:prstDash val="solid"/>
          </a:ln>
        </p:spPr>
      </p:sp>
      <p:sp>
        <p:nvSpPr>
          <p:cNvPr id="11" name="Shape 9"/>
          <p:cNvSpPr/>
          <p:nvPr/>
        </p:nvSpPr>
        <p:spPr>
          <a:xfrm>
            <a:off x="1965960" y="4137660"/>
            <a:ext cx="0" cy="891540"/>
          </a:xfrm>
          <a:prstGeom prst="line">
            <a:avLst/>
          </a:prstGeom>
          <a:noFill/>
          <a:ln w="19050">
            <a:solidFill>
              <a:srgbClr val="D9D7E6"/>
            </a:solidFill>
            <a:prstDash val="solid"/>
          </a:ln>
        </p:spPr>
      </p:sp>
      <p:sp>
        <p:nvSpPr>
          <p:cNvPr id="12" name="Shape 10"/>
          <p:cNvSpPr/>
          <p:nvPr/>
        </p:nvSpPr>
        <p:spPr>
          <a:xfrm>
            <a:off x="1965960" y="5029200"/>
            <a:ext cx="182880" cy="0"/>
          </a:xfrm>
          <a:prstGeom prst="line">
            <a:avLst/>
          </a:prstGeom>
          <a:noFill/>
          <a:ln w="19050">
            <a:solidFill>
              <a:srgbClr val="D9D7E6"/>
            </a:solidFill>
            <a:prstDash val="solid"/>
          </a:ln>
        </p:spPr>
      </p:sp>
      <p:sp>
        <p:nvSpPr>
          <p:cNvPr id="13" name="Shape 11"/>
          <p:cNvSpPr/>
          <p:nvPr/>
        </p:nvSpPr>
        <p:spPr>
          <a:xfrm>
            <a:off x="4297680" y="3246120"/>
            <a:ext cx="182880" cy="0"/>
          </a:xfrm>
          <a:prstGeom prst="line">
            <a:avLst/>
          </a:prstGeom>
          <a:noFill/>
          <a:ln w="19050">
            <a:solidFill>
              <a:srgbClr val="D9D7E6"/>
            </a:solidFill>
            <a:prstDash val="solid"/>
          </a:ln>
        </p:spPr>
      </p:sp>
      <p:sp>
        <p:nvSpPr>
          <p:cNvPr id="14" name="Shape 12"/>
          <p:cNvSpPr/>
          <p:nvPr/>
        </p:nvSpPr>
        <p:spPr>
          <a:xfrm>
            <a:off x="4480560" y="2468880"/>
            <a:ext cx="0" cy="777240"/>
          </a:xfrm>
          <a:prstGeom prst="line">
            <a:avLst/>
          </a:prstGeom>
          <a:noFill/>
          <a:ln w="19050">
            <a:solidFill>
              <a:srgbClr val="D9D7E6"/>
            </a:solidFill>
            <a:prstDash val="solid"/>
          </a:ln>
        </p:spPr>
      </p:sp>
      <p:sp>
        <p:nvSpPr>
          <p:cNvPr id="15" name="Shape 13"/>
          <p:cNvSpPr/>
          <p:nvPr/>
        </p:nvSpPr>
        <p:spPr>
          <a:xfrm>
            <a:off x="4480560" y="2468880"/>
            <a:ext cx="182880" cy="0"/>
          </a:xfrm>
          <a:prstGeom prst="line">
            <a:avLst/>
          </a:prstGeom>
          <a:noFill/>
          <a:ln w="19050">
            <a:solidFill>
              <a:srgbClr val="D9D7E6"/>
            </a:solidFill>
            <a:prstDash val="solid"/>
          </a:ln>
        </p:spPr>
      </p:sp>
      <p:sp>
        <p:nvSpPr>
          <p:cNvPr id="16" name="Shape 14"/>
          <p:cNvSpPr/>
          <p:nvPr/>
        </p:nvSpPr>
        <p:spPr>
          <a:xfrm>
            <a:off x="4297680" y="3246120"/>
            <a:ext cx="182880" cy="0"/>
          </a:xfrm>
          <a:prstGeom prst="line">
            <a:avLst/>
          </a:prstGeom>
          <a:noFill/>
          <a:ln w="19050">
            <a:solidFill>
              <a:srgbClr val="D9D7E6"/>
            </a:solidFill>
            <a:prstDash val="solid"/>
          </a:ln>
        </p:spPr>
      </p:sp>
      <p:sp>
        <p:nvSpPr>
          <p:cNvPr id="17" name="Shape 15"/>
          <p:cNvSpPr/>
          <p:nvPr/>
        </p:nvSpPr>
        <p:spPr>
          <a:xfrm>
            <a:off x="4480560" y="3246120"/>
            <a:ext cx="0" cy="777240"/>
          </a:xfrm>
          <a:prstGeom prst="line">
            <a:avLst/>
          </a:prstGeom>
          <a:noFill/>
          <a:ln w="19050">
            <a:solidFill>
              <a:srgbClr val="D9D7E6"/>
            </a:solidFill>
            <a:prstDash val="solid"/>
          </a:ln>
        </p:spPr>
      </p:sp>
      <p:sp>
        <p:nvSpPr>
          <p:cNvPr id="18" name="Shape 16"/>
          <p:cNvSpPr/>
          <p:nvPr/>
        </p:nvSpPr>
        <p:spPr>
          <a:xfrm>
            <a:off x="4480560" y="4023360"/>
            <a:ext cx="182880" cy="0"/>
          </a:xfrm>
          <a:prstGeom prst="line">
            <a:avLst/>
          </a:prstGeom>
          <a:noFill/>
          <a:ln w="19050">
            <a:solidFill>
              <a:srgbClr val="D9D7E6"/>
            </a:solidFill>
            <a:prstDash val="solid"/>
          </a:ln>
        </p:spPr>
      </p:sp>
      <p:sp>
        <p:nvSpPr>
          <p:cNvPr id="19" name="Shape 17"/>
          <p:cNvSpPr/>
          <p:nvPr/>
        </p:nvSpPr>
        <p:spPr>
          <a:xfrm>
            <a:off x="6812280" y="2468880"/>
            <a:ext cx="182880" cy="0"/>
          </a:xfrm>
          <a:prstGeom prst="line">
            <a:avLst/>
          </a:prstGeom>
          <a:noFill/>
          <a:ln w="19050">
            <a:solidFill>
              <a:srgbClr val="D9D7E6"/>
            </a:solidFill>
            <a:prstDash val="solid"/>
          </a:ln>
        </p:spPr>
      </p:sp>
      <p:sp>
        <p:nvSpPr>
          <p:cNvPr id="20" name="Shape 18"/>
          <p:cNvSpPr/>
          <p:nvPr/>
        </p:nvSpPr>
        <p:spPr>
          <a:xfrm>
            <a:off x="6995160" y="2103120"/>
            <a:ext cx="0" cy="365760"/>
          </a:xfrm>
          <a:prstGeom prst="line">
            <a:avLst/>
          </a:prstGeom>
          <a:noFill/>
          <a:ln w="19050">
            <a:solidFill>
              <a:srgbClr val="D9D7E6"/>
            </a:solidFill>
            <a:prstDash val="solid"/>
          </a:ln>
        </p:spPr>
      </p:sp>
      <p:sp>
        <p:nvSpPr>
          <p:cNvPr id="21" name="Shape 19"/>
          <p:cNvSpPr/>
          <p:nvPr/>
        </p:nvSpPr>
        <p:spPr>
          <a:xfrm>
            <a:off x="6995160" y="2103120"/>
            <a:ext cx="182880" cy="0"/>
          </a:xfrm>
          <a:prstGeom prst="line">
            <a:avLst/>
          </a:prstGeom>
          <a:noFill/>
          <a:ln w="19050">
            <a:solidFill>
              <a:srgbClr val="D9D7E6"/>
            </a:solidFill>
            <a:prstDash val="solid"/>
          </a:ln>
        </p:spPr>
      </p:sp>
      <p:sp>
        <p:nvSpPr>
          <p:cNvPr id="22" name="Shape 20"/>
          <p:cNvSpPr/>
          <p:nvPr/>
        </p:nvSpPr>
        <p:spPr>
          <a:xfrm>
            <a:off x="6812280" y="2468880"/>
            <a:ext cx="182880" cy="0"/>
          </a:xfrm>
          <a:prstGeom prst="line">
            <a:avLst/>
          </a:prstGeom>
          <a:noFill/>
          <a:ln w="19050">
            <a:solidFill>
              <a:srgbClr val="9A8FF2"/>
            </a:solidFill>
            <a:prstDash val="solid"/>
          </a:ln>
        </p:spPr>
      </p:sp>
      <p:sp>
        <p:nvSpPr>
          <p:cNvPr id="23" name="Shape 21"/>
          <p:cNvSpPr/>
          <p:nvPr/>
        </p:nvSpPr>
        <p:spPr>
          <a:xfrm>
            <a:off x="6995160" y="2468880"/>
            <a:ext cx="0" cy="365760"/>
          </a:xfrm>
          <a:prstGeom prst="line">
            <a:avLst/>
          </a:prstGeom>
          <a:noFill/>
          <a:ln w="19050">
            <a:solidFill>
              <a:srgbClr val="9A8FF2"/>
            </a:solidFill>
            <a:prstDash val="solid"/>
          </a:ln>
        </p:spPr>
      </p:sp>
      <p:sp>
        <p:nvSpPr>
          <p:cNvPr id="24" name="Shape 22"/>
          <p:cNvSpPr/>
          <p:nvPr/>
        </p:nvSpPr>
        <p:spPr>
          <a:xfrm>
            <a:off x="6995160" y="2834640"/>
            <a:ext cx="182880" cy="0"/>
          </a:xfrm>
          <a:prstGeom prst="line">
            <a:avLst/>
          </a:prstGeom>
          <a:noFill/>
          <a:ln w="19050">
            <a:solidFill>
              <a:srgbClr val="9A8FF2"/>
            </a:solidFill>
            <a:prstDash val="solid"/>
          </a:ln>
        </p:spPr>
      </p:sp>
      <p:sp>
        <p:nvSpPr>
          <p:cNvPr id="25" name="Shape 23"/>
          <p:cNvSpPr/>
          <p:nvPr/>
        </p:nvSpPr>
        <p:spPr>
          <a:xfrm>
            <a:off x="6812280" y="4023360"/>
            <a:ext cx="182880" cy="0"/>
          </a:xfrm>
          <a:prstGeom prst="line">
            <a:avLst/>
          </a:prstGeom>
          <a:noFill/>
          <a:ln w="19050">
            <a:solidFill>
              <a:srgbClr val="9A8FF2"/>
            </a:solidFill>
            <a:prstDash val="solid"/>
          </a:ln>
        </p:spPr>
      </p:sp>
      <p:sp>
        <p:nvSpPr>
          <p:cNvPr id="26" name="Shape 24"/>
          <p:cNvSpPr/>
          <p:nvPr/>
        </p:nvSpPr>
        <p:spPr>
          <a:xfrm>
            <a:off x="6995160" y="3657600"/>
            <a:ext cx="0" cy="365760"/>
          </a:xfrm>
          <a:prstGeom prst="line">
            <a:avLst/>
          </a:prstGeom>
          <a:noFill/>
          <a:ln w="19050">
            <a:solidFill>
              <a:srgbClr val="9A8FF2"/>
            </a:solidFill>
            <a:prstDash val="solid"/>
          </a:ln>
        </p:spPr>
      </p:sp>
      <p:sp>
        <p:nvSpPr>
          <p:cNvPr id="27" name="Shape 25"/>
          <p:cNvSpPr/>
          <p:nvPr/>
        </p:nvSpPr>
        <p:spPr>
          <a:xfrm>
            <a:off x="6995160" y="3657600"/>
            <a:ext cx="182880" cy="0"/>
          </a:xfrm>
          <a:prstGeom prst="line">
            <a:avLst/>
          </a:prstGeom>
          <a:noFill/>
          <a:ln w="19050">
            <a:solidFill>
              <a:srgbClr val="9A8FF2"/>
            </a:solidFill>
            <a:prstDash val="solid"/>
          </a:ln>
        </p:spPr>
      </p:sp>
      <p:sp>
        <p:nvSpPr>
          <p:cNvPr id="28" name="Shape 26"/>
          <p:cNvSpPr/>
          <p:nvPr/>
        </p:nvSpPr>
        <p:spPr>
          <a:xfrm>
            <a:off x="6812280" y="4023360"/>
            <a:ext cx="182880" cy="0"/>
          </a:xfrm>
          <a:prstGeom prst="line">
            <a:avLst/>
          </a:prstGeom>
          <a:noFill/>
          <a:ln w="19050">
            <a:solidFill>
              <a:srgbClr val="9A8FF2"/>
            </a:solidFill>
            <a:prstDash val="solid"/>
          </a:ln>
        </p:spPr>
      </p:sp>
      <p:sp>
        <p:nvSpPr>
          <p:cNvPr id="29" name="Shape 27"/>
          <p:cNvSpPr/>
          <p:nvPr/>
        </p:nvSpPr>
        <p:spPr>
          <a:xfrm>
            <a:off x="6995160" y="4023360"/>
            <a:ext cx="0" cy="365760"/>
          </a:xfrm>
          <a:prstGeom prst="line">
            <a:avLst/>
          </a:prstGeom>
          <a:noFill/>
          <a:ln w="19050">
            <a:solidFill>
              <a:srgbClr val="9A8FF2"/>
            </a:solidFill>
            <a:prstDash val="solid"/>
          </a:ln>
        </p:spPr>
      </p:sp>
      <p:sp>
        <p:nvSpPr>
          <p:cNvPr id="30" name="Shape 28"/>
          <p:cNvSpPr/>
          <p:nvPr/>
        </p:nvSpPr>
        <p:spPr>
          <a:xfrm>
            <a:off x="6995160" y="4389120"/>
            <a:ext cx="182880" cy="0"/>
          </a:xfrm>
          <a:prstGeom prst="line">
            <a:avLst/>
          </a:prstGeom>
          <a:noFill/>
          <a:ln w="19050">
            <a:solidFill>
              <a:srgbClr val="9A8FF2"/>
            </a:solidFill>
            <a:prstDash val="solid"/>
          </a:ln>
        </p:spPr>
      </p:sp>
      <p:sp>
        <p:nvSpPr>
          <p:cNvPr id="31" name="Shape 29"/>
          <p:cNvSpPr/>
          <p:nvPr/>
        </p:nvSpPr>
        <p:spPr>
          <a:xfrm>
            <a:off x="548640" y="3817620"/>
            <a:ext cx="1234440" cy="640080"/>
          </a:xfrm>
          <a:prstGeom prst="roundRect">
            <a:avLst>
              <a:gd name="adj" fmla="val 14286"/>
            </a:avLst>
          </a:prstGeom>
          <a:solidFill>
            <a:srgbClr val="F3F2FC"/>
          </a:solidFill>
          <a:ln w="12700">
            <a:solidFill>
              <a:srgbClr val="D9D7E6"/>
            </a:solidFill>
            <a:prstDash val="solid"/>
          </a:ln>
        </p:spPr>
      </p:sp>
      <p:sp>
        <p:nvSpPr>
          <p:cNvPr id="32" name="Text 30"/>
          <p:cNvSpPr/>
          <p:nvPr/>
        </p:nvSpPr>
        <p:spPr>
          <a:xfrm>
            <a:off x="658368" y="3872484"/>
            <a:ext cx="1014984" cy="274320"/>
          </a:xfrm>
          <a:prstGeom prst="rect">
            <a:avLst/>
          </a:prstGeom>
          <a:noFill/>
          <a:ln/>
        </p:spPr>
        <p:txBody>
          <a:bodyPr wrap="square" lIns="0" tIns="0" rIns="0" bIns="0" rtlCol="0" anchor="ctr"/>
          <a:lstStyle/>
          <a:p>
            <a:pPr indent="0" marL="0">
              <a:buNone/>
            </a:pPr>
            <a:r>
              <a:rPr lang="en-US" sz="1250" b="1" dirty="0">
                <a:solidFill>
                  <a:srgbClr val="1A1636"/>
                </a:solidFill>
                <a:latin typeface="Meiryo" pitchFamily="34" charset="0"/>
                <a:ea typeface="Meiryo" pitchFamily="34" charset="-122"/>
                <a:cs typeface="Meiryo" pitchFamily="34" charset="-120"/>
              </a:rPr>
              <a:t>疲労</a:t>
            </a:r>
            <a:endParaRPr lang="en-US" sz="1250" dirty="0"/>
          </a:p>
        </p:txBody>
      </p:sp>
      <p:sp>
        <p:nvSpPr>
          <p:cNvPr id="33" name="Text 31"/>
          <p:cNvSpPr/>
          <p:nvPr/>
        </p:nvSpPr>
        <p:spPr>
          <a:xfrm>
            <a:off x="658368" y="4146804"/>
            <a:ext cx="1014984" cy="256032"/>
          </a:xfrm>
          <a:prstGeom prst="rect">
            <a:avLst/>
          </a:prstGeom>
          <a:noFill/>
          <a:ln/>
        </p:spPr>
        <p:txBody>
          <a:bodyPr wrap="square" lIns="0" tIns="0" rIns="0" bIns="0" rtlCol="0" anchor="ctr"/>
          <a:lstStyle/>
          <a:p>
            <a:pPr indent="0" marL="0">
              <a:buNone/>
            </a:pPr>
            <a:r>
              <a:rPr lang="en-US" sz="950" dirty="0">
                <a:solidFill>
                  <a:srgbClr val="6E6A85"/>
                </a:solidFill>
                <a:latin typeface="Meiryo" pitchFamily="34" charset="0"/>
                <a:ea typeface="Meiryo" pitchFamily="34" charset="-122"/>
                <a:cs typeface="Meiryo" pitchFamily="34" charset="-120"/>
              </a:rPr>
              <a:t>機能の低下</a:t>
            </a:r>
            <a:endParaRPr lang="en-US" sz="950" dirty="0"/>
          </a:p>
        </p:txBody>
      </p:sp>
      <p:sp>
        <p:nvSpPr>
          <p:cNvPr id="34" name="Shape 32"/>
          <p:cNvSpPr/>
          <p:nvPr/>
        </p:nvSpPr>
        <p:spPr>
          <a:xfrm>
            <a:off x="2148840" y="2926080"/>
            <a:ext cx="2148840" cy="640080"/>
          </a:xfrm>
          <a:prstGeom prst="roundRect">
            <a:avLst>
              <a:gd name="adj" fmla="val 14286"/>
            </a:avLst>
          </a:prstGeom>
          <a:solidFill>
            <a:srgbClr val="F3F2FC"/>
          </a:solidFill>
          <a:ln w="12700">
            <a:solidFill>
              <a:srgbClr val="D9D7E6"/>
            </a:solidFill>
            <a:prstDash val="solid"/>
          </a:ln>
        </p:spPr>
      </p:sp>
      <p:sp>
        <p:nvSpPr>
          <p:cNvPr id="35" name="Text 33"/>
          <p:cNvSpPr/>
          <p:nvPr/>
        </p:nvSpPr>
        <p:spPr>
          <a:xfrm>
            <a:off x="2258568" y="2980944"/>
            <a:ext cx="1929384" cy="274320"/>
          </a:xfrm>
          <a:prstGeom prst="rect">
            <a:avLst/>
          </a:prstGeom>
          <a:noFill/>
          <a:ln/>
        </p:spPr>
        <p:txBody>
          <a:bodyPr wrap="square" lIns="0" tIns="0" rIns="0" bIns="0" rtlCol="0" anchor="ctr"/>
          <a:lstStyle/>
          <a:p>
            <a:pPr indent="0" marL="0">
              <a:buNone/>
            </a:pPr>
            <a:r>
              <a:rPr lang="en-US" sz="1250" b="1" dirty="0">
                <a:solidFill>
                  <a:srgbClr val="1A1636"/>
                </a:solidFill>
                <a:latin typeface="Meiryo" pitchFamily="34" charset="0"/>
                <a:ea typeface="Meiryo" pitchFamily="34" charset="-122"/>
                <a:cs typeface="Meiryo" pitchFamily="34" charset="-120"/>
              </a:rPr>
              <a:t>生理的疲労</a:t>
            </a:r>
            <a:endParaRPr lang="en-US" sz="1250" dirty="0"/>
          </a:p>
        </p:txBody>
      </p:sp>
      <p:sp>
        <p:nvSpPr>
          <p:cNvPr id="36" name="Text 34"/>
          <p:cNvSpPr/>
          <p:nvPr/>
        </p:nvSpPr>
        <p:spPr>
          <a:xfrm>
            <a:off x="2258568" y="3255264"/>
            <a:ext cx="1929384" cy="256032"/>
          </a:xfrm>
          <a:prstGeom prst="rect">
            <a:avLst/>
          </a:prstGeom>
          <a:noFill/>
          <a:ln/>
        </p:spPr>
        <p:txBody>
          <a:bodyPr wrap="square" lIns="0" tIns="0" rIns="0" bIns="0" rtlCol="0" anchor="ctr"/>
          <a:lstStyle/>
          <a:p>
            <a:pPr indent="0" marL="0">
              <a:buNone/>
            </a:pPr>
            <a:r>
              <a:rPr lang="en-US" sz="950" dirty="0">
                <a:solidFill>
                  <a:srgbClr val="6E6A85"/>
                </a:solidFill>
                <a:latin typeface="Meiryo" pitchFamily="34" charset="0"/>
                <a:ea typeface="Meiryo" pitchFamily="34" charset="-122"/>
                <a:cs typeface="Meiryo" pitchFamily="34" charset="-120"/>
              </a:rPr>
              <a:t>休めば、翌日までに回復する</a:t>
            </a:r>
            <a:endParaRPr lang="en-US" sz="950" dirty="0"/>
          </a:p>
        </p:txBody>
      </p:sp>
      <p:sp>
        <p:nvSpPr>
          <p:cNvPr id="37" name="Shape 35"/>
          <p:cNvSpPr/>
          <p:nvPr/>
        </p:nvSpPr>
        <p:spPr>
          <a:xfrm>
            <a:off x="2148840" y="4709160"/>
            <a:ext cx="2148840" cy="640080"/>
          </a:xfrm>
          <a:prstGeom prst="roundRect">
            <a:avLst>
              <a:gd name="adj" fmla="val 14286"/>
            </a:avLst>
          </a:prstGeom>
          <a:solidFill>
            <a:srgbClr val="F3F2FC"/>
          </a:solidFill>
          <a:ln w="12700">
            <a:solidFill>
              <a:srgbClr val="D9D7E6"/>
            </a:solidFill>
            <a:prstDash val="solid"/>
          </a:ln>
        </p:spPr>
      </p:sp>
      <p:sp>
        <p:nvSpPr>
          <p:cNvPr id="38" name="Text 36"/>
          <p:cNvSpPr/>
          <p:nvPr/>
        </p:nvSpPr>
        <p:spPr>
          <a:xfrm>
            <a:off x="2258568" y="4764024"/>
            <a:ext cx="1929384" cy="274320"/>
          </a:xfrm>
          <a:prstGeom prst="rect">
            <a:avLst/>
          </a:prstGeom>
          <a:noFill/>
          <a:ln/>
        </p:spPr>
        <p:txBody>
          <a:bodyPr wrap="square" lIns="0" tIns="0" rIns="0" bIns="0" rtlCol="0" anchor="ctr"/>
          <a:lstStyle/>
          <a:p>
            <a:pPr indent="0" marL="0">
              <a:buNone/>
            </a:pPr>
            <a:r>
              <a:rPr lang="en-US" sz="1250" b="1" dirty="0">
                <a:solidFill>
                  <a:srgbClr val="1A1636"/>
                </a:solidFill>
                <a:latin typeface="Meiryo" pitchFamily="34" charset="0"/>
                <a:ea typeface="Meiryo" pitchFamily="34" charset="-122"/>
                <a:cs typeface="Meiryo" pitchFamily="34" charset="-120"/>
              </a:rPr>
              <a:t>慢性疲労（病的）</a:t>
            </a:r>
            <a:endParaRPr lang="en-US" sz="1250" dirty="0"/>
          </a:p>
        </p:txBody>
      </p:sp>
      <p:sp>
        <p:nvSpPr>
          <p:cNvPr id="39" name="Text 37"/>
          <p:cNvSpPr/>
          <p:nvPr/>
        </p:nvSpPr>
        <p:spPr>
          <a:xfrm>
            <a:off x="2258568" y="5038344"/>
            <a:ext cx="1929384" cy="256032"/>
          </a:xfrm>
          <a:prstGeom prst="rect">
            <a:avLst/>
          </a:prstGeom>
          <a:noFill/>
          <a:ln/>
        </p:spPr>
        <p:txBody>
          <a:bodyPr wrap="square" lIns="0" tIns="0" rIns="0" bIns="0" rtlCol="0" anchor="ctr"/>
          <a:lstStyle/>
          <a:p>
            <a:pPr indent="0" marL="0">
              <a:buNone/>
            </a:pPr>
            <a:r>
              <a:rPr lang="en-US" sz="950" dirty="0">
                <a:solidFill>
                  <a:srgbClr val="6E6A85"/>
                </a:solidFill>
                <a:latin typeface="Meiryo" pitchFamily="34" charset="0"/>
                <a:ea typeface="Meiryo" pitchFamily="34" charset="-122"/>
                <a:cs typeface="Meiryo" pitchFamily="34" charset="-120"/>
              </a:rPr>
              <a:t>休んでも回復しない</a:t>
            </a:r>
            <a:endParaRPr lang="en-US" sz="950" dirty="0"/>
          </a:p>
        </p:txBody>
      </p:sp>
      <p:sp>
        <p:nvSpPr>
          <p:cNvPr id="40" name="Shape 38"/>
          <p:cNvSpPr/>
          <p:nvPr/>
        </p:nvSpPr>
        <p:spPr>
          <a:xfrm>
            <a:off x="4663440" y="2148840"/>
            <a:ext cx="2148840" cy="640080"/>
          </a:xfrm>
          <a:prstGeom prst="roundRect">
            <a:avLst>
              <a:gd name="adj" fmla="val 14286"/>
            </a:avLst>
          </a:prstGeom>
          <a:solidFill>
            <a:srgbClr val="F3F2FC"/>
          </a:solidFill>
          <a:ln w="12700">
            <a:solidFill>
              <a:srgbClr val="D9D7E6"/>
            </a:solidFill>
            <a:prstDash val="solid"/>
          </a:ln>
        </p:spPr>
      </p:sp>
      <p:sp>
        <p:nvSpPr>
          <p:cNvPr id="41" name="Text 39"/>
          <p:cNvSpPr/>
          <p:nvPr/>
        </p:nvSpPr>
        <p:spPr>
          <a:xfrm>
            <a:off x="4773168" y="2203704"/>
            <a:ext cx="1929384" cy="274320"/>
          </a:xfrm>
          <a:prstGeom prst="rect">
            <a:avLst/>
          </a:prstGeom>
          <a:noFill/>
          <a:ln/>
        </p:spPr>
        <p:txBody>
          <a:bodyPr wrap="square" lIns="0" tIns="0" rIns="0" bIns="0" rtlCol="0" anchor="ctr"/>
          <a:lstStyle/>
          <a:p>
            <a:pPr indent="0" marL="0">
              <a:buNone/>
            </a:pPr>
            <a:r>
              <a:rPr lang="en-US" sz="1250" b="1" dirty="0">
                <a:solidFill>
                  <a:srgbClr val="1A1636"/>
                </a:solidFill>
                <a:latin typeface="Meiryo" pitchFamily="34" charset="0"/>
                <a:ea typeface="Meiryo" pitchFamily="34" charset="-122"/>
                <a:cs typeface="Meiryo" pitchFamily="34" charset="-120"/>
              </a:rPr>
              <a:t>肉体疲労</a:t>
            </a:r>
            <a:endParaRPr lang="en-US" sz="1250" dirty="0"/>
          </a:p>
        </p:txBody>
      </p:sp>
      <p:sp>
        <p:nvSpPr>
          <p:cNvPr id="42" name="Text 40"/>
          <p:cNvSpPr/>
          <p:nvPr/>
        </p:nvSpPr>
        <p:spPr>
          <a:xfrm>
            <a:off x="4773168" y="2478024"/>
            <a:ext cx="1929384" cy="256032"/>
          </a:xfrm>
          <a:prstGeom prst="rect">
            <a:avLst/>
          </a:prstGeom>
          <a:noFill/>
          <a:ln/>
        </p:spPr>
        <p:txBody>
          <a:bodyPr wrap="square" lIns="0" tIns="0" rIns="0" bIns="0" rtlCol="0" anchor="ctr"/>
          <a:lstStyle/>
          <a:p>
            <a:pPr indent="0" marL="0">
              <a:buNone/>
            </a:pPr>
            <a:r>
              <a:rPr lang="en-US" sz="950" dirty="0">
                <a:solidFill>
                  <a:srgbClr val="6E6A85"/>
                </a:solidFill>
                <a:latin typeface="Meiryo" pitchFamily="34" charset="0"/>
                <a:ea typeface="Meiryo" pitchFamily="34" charset="-122"/>
                <a:cs typeface="Meiryo" pitchFamily="34" charset="-120"/>
              </a:rPr>
              <a:t>体が動かなくなる</a:t>
            </a:r>
            <a:endParaRPr lang="en-US" sz="950" dirty="0"/>
          </a:p>
        </p:txBody>
      </p:sp>
      <p:sp>
        <p:nvSpPr>
          <p:cNvPr id="43" name="Shape 41"/>
          <p:cNvSpPr/>
          <p:nvPr/>
        </p:nvSpPr>
        <p:spPr>
          <a:xfrm>
            <a:off x="4663440" y="3703320"/>
            <a:ext cx="2148840" cy="640080"/>
          </a:xfrm>
          <a:prstGeom prst="roundRect">
            <a:avLst>
              <a:gd name="adj" fmla="val 14286"/>
            </a:avLst>
          </a:prstGeom>
          <a:solidFill>
            <a:srgbClr val="F3F2FC"/>
          </a:solidFill>
          <a:ln w="12700">
            <a:solidFill>
              <a:srgbClr val="D9D7E6"/>
            </a:solidFill>
            <a:prstDash val="solid"/>
          </a:ln>
        </p:spPr>
      </p:sp>
      <p:sp>
        <p:nvSpPr>
          <p:cNvPr id="44" name="Text 42"/>
          <p:cNvSpPr/>
          <p:nvPr/>
        </p:nvSpPr>
        <p:spPr>
          <a:xfrm>
            <a:off x="4773168" y="3758184"/>
            <a:ext cx="1929384" cy="274320"/>
          </a:xfrm>
          <a:prstGeom prst="rect">
            <a:avLst/>
          </a:prstGeom>
          <a:noFill/>
          <a:ln/>
        </p:spPr>
        <p:txBody>
          <a:bodyPr wrap="square" lIns="0" tIns="0" rIns="0" bIns="0" rtlCol="0" anchor="ctr"/>
          <a:lstStyle/>
          <a:p>
            <a:pPr indent="0" marL="0">
              <a:buNone/>
            </a:pPr>
            <a:r>
              <a:rPr lang="en-US" sz="1250" b="1" dirty="0">
                <a:solidFill>
                  <a:srgbClr val="1A1636"/>
                </a:solidFill>
                <a:latin typeface="Meiryo" pitchFamily="34" charset="0"/>
                <a:ea typeface="Meiryo" pitchFamily="34" charset="-122"/>
                <a:cs typeface="Meiryo" pitchFamily="34" charset="-120"/>
              </a:rPr>
              <a:t>精神疲労</a:t>
            </a:r>
            <a:endParaRPr lang="en-US" sz="1250" dirty="0"/>
          </a:p>
        </p:txBody>
      </p:sp>
      <p:sp>
        <p:nvSpPr>
          <p:cNvPr id="45" name="Text 43"/>
          <p:cNvSpPr/>
          <p:nvPr/>
        </p:nvSpPr>
        <p:spPr>
          <a:xfrm>
            <a:off x="4773168" y="4032504"/>
            <a:ext cx="1929384" cy="256032"/>
          </a:xfrm>
          <a:prstGeom prst="rect">
            <a:avLst/>
          </a:prstGeom>
          <a:noFill/>
          <a:ln/>
        </p:spPr>
        <p:txBody>
          <a:bodyPr wrap="square" lIns="0" tIns="0" rIns="0" bIns="0" rtlCol="0" anchor="ctr"/>
          <a:lstStyle/>
          <a:p>
            <a:pPr indent="0" marL="0">
              <a:buNone/>
            </a:pPr>
            <a:r>
              <a:rPr lang="en-US" sz="950" dirty="0">
                <a:solidFill>
                  <a:srgbClr val="6E6A85"/>
                </a:solidFill>
                <a:latin typeface="Meiryo" pitchFamily="34" charset="0"/>
                <a:ea typeface="Meiryo" pitchFamily="34" charset="-122"/>
                <a:cs typeface="Meiryo" pitchFamily="34" charset="-120"/>
              </a:rPr>
              <a:t>心の機能が低下する</a:t>
            </a:r>
            <a:endParaRPr lang="en-US" sz="950" dirty="0"/>
          </a:p>
        </p:txBody>
      </p:sp>
      <p:sp>
        <p:nvSpPr>
          <p:cNvPr id="46" name="Shape 44"/>
          <p:cNvSpPr/>
          <p:nvPr/>
        </p:nvSpPr>
        <p:spPr>
          <a:xfrm>
            <a:off x="7178040" y="1783080"/>
            <a:ext cx="2834640" cy="640080"/>
          </a:xfrm>
          <a:prstGeom prst="roundRect">
            <a:avLst>
              <a:gd name="adj" fmla="val 14286"/>
            </a:avLst>
          </a:prstGeom>
          <a:solidFill>
            <a:srgbClr val="F3F2FC"/>
          </a:solidFill>
          <a:ln w="12700">
            <a:solidFill>
              <a:srgbClr val="D9D7E6"/>
            </a:solidFill>
            <a:prstDash val="solid"/>
          </a:ln>
        </p:spPr>
      </p:sp>
      <p:sp>
        <p:nvSpPr>
          <p:cNvPr id="47" name="Text 45"/>
          <p:cNvSpPr/>
          <p:nvPr/>
        </p:nvSpPr>
        <p:spPr>
          <a:xfrm>
            <a:off x="7287768" y="1837944"/>
            <a:ext cx="2615184" cy="274320"/>
          </a:xfrm>
          <a:prstGeom prst="rect">
            <a:avLst/>
          </a:prstGeom>
          <a:noFill/>
          <a:ln/>
        </p:spPr>
        <p:txBody>
          <a:bodyPr wrap="square" lIns="0" tIns="0" rIns="0" bIns="0" rtlCol="0" anchor="ctr"/>
          <a:lstStyle/>
          <a:p>
            <a:pPr indent="0" marL="0">
              <a:buNone/>
            </a:pPr>
            <a:r>
              <a:rPr lang="en-US" sz="1250" b="1" dirty="0">
                <a:solidFill>
                  <a:srgbClr val="1A1636"/>
                </a:solidFill>
                <a:latin typeface="Meiryo" pitchFamily="34" charset="0"/>
                <a:ea typeface="Meiryo" pitchFamily="34" charset="-122"/>
                <a:cs typeface="Meiryo" pitchFamily="34" charset="-120"/>
              </a:rPr>
              <a:t>末梢性疲労</a:t>
            </a:r>
            <a:endParaRPr lang="en-US" sz="1250" dirty="0"/>
          </a:p>
        </p:txBody>
      </p:sp>
      <p:sp>
        <p:nvSpPr>
          <p:cNvPr id="48" name="Text 46"/>
          <p:cNvSpPr/>
          <p:nvPr/>
        </p:nvSpPr>
        <p:spPr>
          <a:xfrm>
            <a:off x="7287768" y="2112264"/>
            <a:ext cx="2615184" cy="256032"/>
          </a:xfrm>
          <a:prstGeom prst="rect">
            <a:avLst/>
          </a:prstGeom>
          <a:noFill/>
          <a:ln/>
        </p:spPr>
        <p:txBody>
          <a:bodyPr wrap="square" lIns="0" tIns="0" rIns="0" bIns="0" rtlCol="0" anchor="ctr"/>
          <a:lstStyle/>
          <a:p>
            <a:pPr indent="0" marL="0">
              <a:buNone/>
            </a:pPr>
            <a:r>
              <a:rPr lang="en-US" sz="950" dirty="0">
                <a:solidFill>
                  <a:srgbClr val="6E6A85"/>
                </a:solidFill>
                <a:latin typeface="Meiryo" pitchFamily="34" charset="0"/>
                <a:ea typeface="Meiryo" pitchFamily="34" charset="-122"/>
                <a:cs typeface="Meiryo" pitchFamily="34" charset="-120"/>
              </a:rPr>
              <a:t>原因＝筋肉。グリコーゲン（糖の貯蔵）切れ</a:t>
            </a:r>
            <a:endParaRPr lang="en-US" sz="950" dirty="0"/>
          </a:p>
        </p:txBody>
      </p:sp>
      <p:sp>
        <p:nvSpPr>
          <p:cNvPr id="49" name="Shape 47"/>
          <p:cNvSpPr/>
          <p:nvPr/>
        </p:nvSpPr>
        <p:spPr>
          <a:xfrm>
            <a:off x="7178040" y="2514600"/>
            <a:ext cx="2834640" cy="640080"/>
          </a:xfrm>
          <a:prstGeom prst="roundRect">
            <a:avLst>
              <a:gd name="adj" fmla="val 14286"/>
            </a:avLst>
          </a:prstGeom>
          <a:solidFill>
            <a:srgbClr val="5B4BD6"/>
          </a:solidFill>
          <a:ln w="12700">
            <a:solidFill>
              <a:srgbClr val="5B4BD6"/>
            </a:solidFill>
            <a:prstDash val="solid"/>
          </a:ln>
          <a:effectLst>
            <a:outerShdw sx="100000" sy="100000" kx="0" ky="0" algn="bl" rotWithShape="0" blurRad="152400" dist="25400" dir="5400000">
              <a:srgbClr val="1A1636">
                <a:alpha val="12000"/>
              </a:srgbClr>
            </a:outerShdw>
          </a:effectLst>
        </p:spPr>
      </p:sp>
      <p:sp>
        <p:nvSpPr>
          <p:cNvPr id="50" name="Text 48"/>
          <p:cNvSpPr/>
          <p:nvPr/>
        </p:nvSpPr>
        <p:spPr>
          <a:xfrm>
            <a:off x="7287768" y="2569464"/>
            <a:ext cx="2615184" cy="274320"/>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中枢性疲労</a:t>
            </a:r>
            <a:endParaRPr lang="en-US" sz="1250" dirty="0"/>
          </a:p>
        </p:txBody>
      </p:sp>
      <p:sp>
        <p:nvSpPr>
          <p:cNvPr id="51" name="Text 49"/>
          <p:cNvSpPr/>
          <p:nvPr/>
        </p:nvSpPr>
        <p:spPr>
          <a:xfrm>
            <a:off x="7287768" y="2843784"/>
            <a:ext cx="2615184" cy="256032"/>
          </a:xfrm>
          <a:prstGeom prst="rect">
            <a:avLst/>
          </a:prstGeom>
          <a:noFill/>
          <a:ln/>
        </p:spPr>
        <p:txBody>
          <a:bodyPr wrap="square" lIns="0" tIns="0" rIns="0" bIns="0" rtlCol="0" anchor="ctr"/>
          <a:lstStyle/>
          <a:p>
            <a:pPr indent="0" marL="0">
              <a:buNone/>
            </a:pPr>
            <a:r>
              <a:rPr lang="en-US" sz="950" dirty="0">
                <a:solidFill>
                  <a:srgbClr val="D8D2FF"/>
                </a:solidFill>
                <a:latin typeface="Meiryo" pitchFamily="34" charset="0"/>
                <a:ea typeface="Meiryo" pitchFamily="34" charset="-122"/>
                <a:cs typeface="Meiryo" pitchFamily="34" charset="-120"/>
              </a:rPr>
              <a:t>原因＝脳。筋肉を動かす司令が続かない</a:t>
            </a:r>
            <a:endParaRPr lang="en-US" sz="950" dirty="0"/>
          </a:p>
        </p:txBody>
      </p:sp>
      <p:sp>
        <p:nvSpPr>
          <p:cNvPr id="52" name="Shape 50"/>
          <p:cNvSpPr/>
          <p:nvPr/>
        </p:nvSpPr>
        <p:spPr>
          <a:xfrm>
            <a:off x="7178040" y="3337560"/>
            <a:ext cx="2834640" cy="640080"/>
          </a:xfrm>
          <a:prstGeom prst="roundRect">
            <a:avLst>
              <a:gd name="adj" fmla="val 14286"/>
            </a:avLst>
          </a:prstGeom>
          <a:solidFill>
            <a:srgbClr val="5B4BD6"/>
          </a:solidFill>
          <a:ln w="12700">
            <a:solidFill>
              <a:srgbClr val="5B4BD6"/>
            </a:solidFill>
            <a:prstDash val="solid"/>
          </a:ln>
          <a:effectLst>
            <a:outerShdw sx="100000" sy="100000" kx="0" ky="0" algn="bl" rotWithShape="0" blurRad="152400" dist="25400" dir="5400000">
              <a:srgbClr val="1A1636">
                <a:alpha val="12000"/>
              </a:srgbClr>
            </a:outerShdw>
          </a:effectLst>
        </p:spPr>
      </p:sp>
      <p:sp>
        <p:nvSpPr>
          <p:cNvPr id="53" name="Text 51"/>
          <p:cNvSpPr/>
          <p:nvPr/>
        </p:nvSpPr>
        <p:spPr>
          <a:xfrm>
            <a:off x="7287768" y="3392424"/>
            <a:ext cx="2615184" cy="274320"/>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疲労感</a:t>
            </a:r>
            <a:endParaRPr lang="en-US" sz="1250" dirty="0"/>
          </a:p>
        </p:txBody>
      </p:sp>
      <p:sp>
        <p:nvSpPr>
          <p:cNvPr id="54" name="Text 52"/>
          <p:cNvSpPr/>
          <p:nvPr/>
        </p:nvSpPr>
        <p:spPr>
          <a:xfrm>
            <a:off x="7287768" y="3666744"/>
            <a:ext cx="2615184" cy="256032"/>
          </a:xfrm>
          <a:prstGeom prst="rect">
            <a:avLst/>
          </a:prstGeom>
          <a:noFill/>
          <a:ln/>
        </p:spPr>
        <p:txBody>
          <a:bodyPr wrap="square" lIns="0" tIns="0" rIns="0" bIns="0" rtlCol="0" anchor="ctr"/>
          <a:lstStyle/>
          <a:p>
            <a:pPr indent="0" marL="0">
              <a:buNone/>
            </a:pPr>
            <a:r>
              <a:rPr lang="en-US" sz="950" dirty="0">
                <a:solidFill>
                  <a:srgbClr val="D8D2FF"/>
                </a:solidFill>
                <a:latin typeface="Meiryo" pitchFamily="34" charset="0"/>
                <a:ea typeface="Meiryo" pitchFamily="34" charset="-122"/>
                <a:cs typeface="Meiryo" pitchFamily="34" charset="-120"/>
              </a:rPr>
              <a:t>「疲れた」という感覚</a:t>
            </a:r>
            <a:endParaRPr lang="en-US" sz="950" dirty="0"/>
          </a:p>
        </p:txBody>
      </p:sp>
      <p:sp>
        <p:nvSpPr>
          <p:cNvPr id="55" name="Shape 53"/>
          <p:cNvSpPr/>
          <p:nvPr/>
        </p:nvSpPr>
        <p:spPr>
          <a:xfrm>
            <a:off x="7178040" y="4069080"/>
            <a:ext cx="2834640" cy="640080"/>
          </a:xfrm>
          <a:prstGeom prst="roundRect">
            <a:avLst>
              <a:gd name="adj" fmla="val 14286"/>
            </a:avLst>
          </a:prstGeom>
          <a:solidFill>
            <a:srgbClr val="5B4BD6"/>
          </a:solidFill>
          <a:ln w="12700">
            <a:solidFill>
              <a:srgbClr val="5B4BD6"/>
            </a:solidFill>
            <a:prstDash val="solid"/>
          </a:ln>
          <a:effectLst>
            <a:outerShdw sx="100000" sy="100000" kx="0" ky="0" algn="bl" rotWithShape="0" blurRad="152400" dist="25400" dir="5400000">
              <a:srgbClr val="1A1636">
                <a:alpha val="12000"/>
              </a:srgbClr>
            </a:outerShdw>
          </a:effectLst>
        </p:spPr>
      </p:sp>
      <p:sp>
        <p:nvSpPr>
          <p:cNvPr id="56" name="Text 54"/>
          <p:cNvSpPr/>
          <p:nvPr/>
        </p:nvSpPr>
        <p:spPr>
          <a:xfrm>
            <a:off x="7287768" y="4123944"/>
            <a:ext cx="2615184" cy="274320"/>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認知疲労</a:t>
            </a:r>
            <a:endParaRPr lang="en-US" sz="1250" dirty="0"/>
          </a:p>
        </p:txBody>
      </p:sp>
      <p:sp>
        <p:nvSpPr>
          <p:cNvPr id="57" name="Text 55"/>
          <p:cNvSpPr/>
          <p:nvPr/>
        </p:nvSpPr>
        <p:spPr>
          <a:xfrm>
            <a:off x="7287768" y="4398264"/>
            <a:ext cx="2615184" cy="256032"/>
          </a:xfrm>
          <a:prstGeom prst="rect">
            <a:avLst/>
          </a:prstGeom>
          <a:noFill/>
          <a:ln/>
        </p:spPr>
        <p:txBody>
          <a:bodyPr wrap="square" lIns="0" tIns="0" rIns="0" bIns="0" rtlCol="0" anchor="ctr"/>
          <a:lstStyle/>
          <a:p>
            <a:pPr indent="0" marL="0">
              <a:buNone/>
            </a:pPr>
            <a:r>
              <a:rPr lang="en-US" sz="950" dirty="0">
                <a:solidFill>
                  <a:srgbClr val="D8D2FF"/>
                </a:solidFill>
                <a:latin typeface="Meiryo" pitchFamily="34" charset="0"/>
                <a:ea typeface="Meiryo" pitchFamily="34" charset="-122"/>
                <a:cs typeface="Meiryo" pitchFamily="34" charset="-120"/>
              </a:rPr>
              <a:t>判断力・決断力が落ちる</a:t>
            </a:r>
            <a:endParaRPr lang="en-US" sz="950" dirty="0"/>
          </a:p>
        </p:txBody>
      </p:sp>
      <p:sp>
        <p:nvSpPr>
          <p:cNvPr id="58" name="Shape 56"/>
          <p:cNvSpPr/>
          <p:nvPr/>
        </p:nvSpPr>
        <p:spPr>
          <a:xfrm>
            <a:off x="10149840" y="2514600"/>
            <a:ext cx="292608" cy="2194560"/>
          </a:xfrm>
          <a:prstGeom prst="rightBrace">
            <a:avLst/>
          </a:prstGeom>
          <a:solidFill>
            <a:srgbClr val="FFFFFF"/>
          </a:solidFill>
          <a:ln w="25400">
            <a:solidFill>
              <a:srgbClr val="5B4BD6"/>
            </a:solidFill>
            <a:prstDash val="solid"/>
          </a:ln>
        </p:spPr>
      </p:sp>
      <p:sp>
        <p:nvSpPr>
          <p:cNvPr id="59" name="Shape 57"/>
          <p:cNvSpPr/>
          <p:nvPr/>
        </p:nvSpPr>
        <p:spPr>
          <a:xfrm>
            <a:off x="10561320" y="3017520"/>
            <a:ext cx="1097280" cy="868680"/>
          </a:xfrm>
          <a:prstGeom prst="roundRect">
            <a:avLst>
              <a:gd name="adj" fmla="val 12632"/>
            </a:avLst>
          </a:prstGeom>
          <a:solidFill>
            <a:srgbClr val="5B4BD6"/>
          </a:solidFill>
          <a:ln w="12700">
            <a:solidFill>
              <a:srgbClr val="5B4BD6"/>
            </a:solidFill>
            <a:prstDash val="solid"/>
          </a:ln>
          <a:effectLst>
            <a:outerShdw sx="100000" sy="100000" kx="0" ky="0" algn="bl" rotWithShape="0" blurRad="152400" dist="25400" dir="5400000">
              <a:srgbClr val="1A1636">
                <a:alpha val="12000"/>
              </a:srgbClr>
            </a:outerShdw>
          </a:effectLst>
        </p:spPr>
      </p:sp>
      <p:sp>
        <p:nvSpPr>
          <p:cNvPr id="60" name="Text 58"/>
          <p:cNvSpPr/>
          <p:nvPr/>
        </p:nvSpPr>
        <p:spPr>
          <a:xfrm>
            <a:off x="10561320" y="3017520"/>
            <a:ext cx="109728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脳疲労</a:t>
            </a:r>
            <a:endParaRPr lang="en-US" sz="1500" dirty="0"/>
          </a:p>
        </p:txBody>
      </p:sp>
      <p:sp>
        <p:nvSpPr>
          <p:cNvPr id="61" name="Shape 59"/>
          <p:cNvSpPr/>
          <p:nvPr/>
        </p:nvSpPr>
        <p:spPr>
          <a:xfrm>
            <a:off x="548640" y="5486400"/>
            <a:ext cx="6720840" cy="914400"/>
          </a:xfrm>
          <a:prstGeom prst="roundRect">
            <a:avLst>
              <a:gd name="adj" fmla="val 12000"/>
            </a:avLst>
          </a:prstGeom>
          <a:solidFill>
            <a:srgbClr val="FFF1EF"/>
          </a:solidFill>
          <a:ln w="12700">
            <a:solidFill>
              <a:srgbClr val="FFD9D3"/>
            </a:solidFill>
            <a:prstDash val="solid"/>
          </a:ln>
          <a:effectLst>
            <a:outerShdw sx="100000" sy="100000" kx="0" ky="0" algn="bl" rotWithShape="0" blurRad="152400" dist="25400" dir="5400000">
              <a:srgbClr val="1A1636">
                <a:alpha val="12000"/>
              </a:srgbClr>
            </a:outerShdw>
          </a:effectLst>
        </p:spPr>
      </p:sp>
      <p:sp>
        <p:nvSpPr>
          <p:cNvPr id="62" name="Text 60"/>
          <p:cNvSpPr/>
          <p:nvPr/>
        </p:nvSpPr>
        <p:spPr>
          <a:xfrm>
            <a:off x="868680" y="5614416"/>
            <a:ext cx="6126480" cy="256032"/>
          </a:xfrm>
          <a:prstGeom prst="rect">
            <a:avLst/>
          </a:prstGeom>
          <a:noFill/>
          <a:ln/>
        </p:spPr>
        <p:txBody>
          <a:bodyPr wrap="square" lIns="0" tIns="0" rIns="0" bIns="0" rtlCol="0" anchor="t"/>
          <a:lstStyle/>
          <a:p>
            <a:pPr indent="0" marL="0">
              <a:buNone/>
            </a:pPr>
            <a:r>
              <a:rPr lang="en-US" sz="1250" b="1" dirty="0">
                <a:solidFill>
                  <a:srgbClr val="B33A2C"/>
                </a:solidFill>
                <a:latin typeface="Meiryo" pitchFamily="34" charset="0"/>
                <a:ea typeface="Meiryo" pitchFamily="34" charset="-122"/>
                <a:cs typeface="Meiryo" pitchFamily="34" charset="-120"/>
              </a:rPr>
              <a:t>ポイント：「疲労感」は疲労そのものではない</a:t>
            </a:r>
            <a:endParaRPr lang="en-US" sz="1250" dirty="0"/>
          </a:p>
        </p:txBody>
      </p:sp>
      <p:sp>
        <p:nvSpPr>
          <p:cNvPr id="63" name="Text 61"/>
          <p:cNvSpPr/>
          <p:nvPr/>
        </p:nvSpPr>
        <p:spPr>
          <a:xfrm>
            <a:off x="868680" y="5897880"/>
            <a:ext cx="6126480" cy="411480"/>
          </a:xfrm>
          <a:prstGeom prst="rect">
            <a:avLst/>
          </a:prstGeom>
          <a:noFill/>
          <a:ln/>
        </p:spPr>
        <p:txBody>
          <a:bodyPr wrap="square" lIns="0" tIns="0" rIns="0" bIns="0" rtlCol="0" anchor="t"/>
          <a:lstStyle/>
          <a:p>
            <a:pPr indent="0" marL="0">
              <a:lnSpc>
                <a:spcPts val="1600"/>
              </a:lnSpc>
              <a:buNone/>
            </a:pPr>
            <a:r>
              <a:rPr lang="en-US" sz="1100" dirty="0">
                <a:solidFill>
                  <a:srgbClr val="6E6A85"/>
                </a:solidFill>
                <a:latin typeface="Meiryo" pitchFamily="34" charset="0"/>
                <a:ea typeface="Meiryo" pitchFamily="34" charset="-122"/>
                <a:cs typeface="Meiryo" pitchFamily="34" charset="-120"/>
              </a:rPr>
              <a:t>疲労＝機能が低下すること。疲労感は、それに伴って生じる“感覚”にすぎない。だから両者はズレる。</a:t>
            </a:r>
            <a:endParaRPr lang="en-US" sz="1100" dirty="0"/>
          </a:p>
        </p:txBody>
      </p:sp>
      <p:sp>
        <p:nvSpPr>
          <p:cNvPr id="64" name="Shape 62"/>
          <p:cNvSpPr/>
          <p:nvPr/>
        </p:nvSpPr>
        <p:spPr>
          <a:xfrm>
            <a:off x="7498080" y="5486400"/>
            <a:ext cx="4114800" cy="914400"/>
          </a:xfrm>
          <a:prstGeom prst="roundRect">
            <a:avLst>
              <a:gd name="adj" fmla="val 12000"/>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65" name="Text 63"/>
          <p:cNvSpPr/>
          <p:nvPr/>
        </p:nvSpPr>
        <p:spPr>
          <a:xfrm>
            <a:off x="7818120" y="5486400"/>
            <a:ext cx="3520440" cy="914400"/>
          </a:xfrm>
          <a:prstGeom prst="rect">
            <a:avLst/>
          </a:prstGeom>
          <a:noFill/>
          <a:ln/>
        </p:spPr>
        <p:txBody>
          <a:bodyPr wrap="square" lIns="0" tIns="0" rIns="0" bIns="0" rtlCol="0" anchor="ctr"/>
          <a:lstStyle/>
          <a:p>
            <a:pPr indent="0" marL="0">
              <a:lnSpc>
                <a:spcPts val="1800"/>
              </a:lnSpc>
              <a:buNone/>
            </a:pPr>
            <a:r>
              <a:rPr lang="en-US" sz="1250" b="1" dirty="0">
                <a:solidFill>
                  <a:srgbClr val="FFFFFF"/>
                </a:solidFill>
                <a:latin typeface="Meiryo" pitchFamily="34" charset="0"/>
                <a:ea typeface="Meiryo" pitchFamily="34" charset="-122"/>
                <a:cs typeface="Meiryo" pitchFamily="34" charset="-120"/>
              </a:rPr>
              <a:t>では、その“脳が原因の疲労”は、脳の中で何が起きているのか？</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脳の中で起きていること — 疲労は「ブレーキ」</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少し専門的な話なので、要点は3つだけにします</a:t>
            </a:r>
            <a:endParaRPr lang="en-US" sz="1400" dirty="0"/>
          </a:p>
        </p:txBody>
      </p:sp>
      <p:sp>
        <p:nvSpPr>
          <p:cNvPr id="4" name="Shape 2"/>
          <p:cNvSpPr/>
          <p:nvPr/>
        </p:nvSpPr>
        <p:spPr>
          <a:xfrm>
            <a:off x="548640" y="1691640"/>
            <a:ext cx="3520440" cy="1417320"/>
          </a:xfrm>
          <a:prstGeom prst="roundRect">
            <a:avLst>
              <a:gd name="adj" fmla="val 7742"/>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804672" y="1856232"/>
            <a:ext cx="347472" cy="347472"/>
          </a:xfrm>
          <a:prstGeom prst="ellipse">
            <a:avLst/>
          </a:prstGeom>
          <a:solidFill>
            <a:srgbClr val="5B4BD6"/>
          </a:solidFill>
          <a:ln w="12700">
            <a:solidFill>
              <a:srgbClr val="5B4BD6"/>
            </a:solidFill>
            <a:prstDash val="solid"/>
          </a:ln>
        </p:spPr>
      </p:sp>
      <p:sp>
        <p:nvSpPr>
          <p:cNvPr id="6" name="Text 4"/>
          <p:cNvSpPr/>
          <p:nvPr/>
        </p:nvSpPr>
        <p:spPr>
          <a:xfrm>
            <a:off x="804672" y="18562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a:t>
            </a:r>
            <a:endParaRPr lang="en-US" sz="1100" dirty="0"/>
          </a:p>
        </p:txBody>
      </p:sp>
      <p:sp>
        <p:nvSpPr>
          <p:cNvPr id="7" name="Text 5"/>
          <p:cNvSpPr/>
          <p:nvPr/>
        </p:nvSpPr>
        <p:spPr>
          <a:xfrm>
            <a:off x="1280160" y="1837944"/>
            <a:ext cx="2606040" cy="384048"/>
          </a:xfrm>
          <a:prstGeom prst="rect">
            <a:avLst/>
          </a:prstGeom>
          <a:noFill/>
          <a:ln/>
        </p:spPr>
        <p:txBody>
          <a:bodyPr wrap="square" lIns="0" tIns="0" rIns="0" bIns="0" rtlCol="0" anchor="ctr"/>
          <a:lstStyle/>
          <a:p>
            <a:pPr indent="0" marL="0">
              <a:buNone/>
            </a:pPr>
            <a:r>
              <a:rPr lang="en-US" sz="1350" b="1" dirty="0">
                <a:solidFill>
                  <a:srgbClr val="1A1636"/>
                </a:solidFill>
                <a:latin typeface="Meiryo" pitchFamily="34" charset="0"/>
                <a:ea typeface="Meiryo" pitchFamily="34" charset="-122"/>
                <a:cs typeface="Meiryo" pitchFamily="34" charset="-120"/>
              </a:rPr>
              <a:t>糖を使ってエネルギーを作る</a:t>
            </a:r>
            <a:endParaRPr lang="en-US" sz="1350" dirty="0"/>
          </a:p>
        </p:txBody>
      </p:sp>
      <p:sp>
        <p:nvSpPr>
          <p:cNvPr id="8" name="Text 6"/>
          <p:cNvSpPr/>
          <p:nvPr/>
        </p:nvSpPr>
        <p:spPr>
          <a:xfrm>
            <a:off x="804672" y="2331720"/>
            <a:ext cx="3017520" cy="685800"/>
          </a:xfrm>
          <a:prstGeom prst="rect">
            <a:avLst/>
          </a:prstGeom>
          <a:noFill/>
          <a:ln/>
        </p:spPr>
        <p:txBody>
          <a:bodyPr wrap="square" lIns="0" tIns="0" rIns="0" bIns="0" rtlCol="0" anchor="t"/>
          <a:lstStyle/>
          <a:p>
            <a:pPr indent="0" marL="0">
              <a:lnSpc>
                <a:spcPts val="1600"/>
              </a:lnSpc>
              <a:buNone/>
            </a:pPr>
            <a:r>
              <a:rPr lang="en-US" sz="1100" dirty="0">
                <a:solidFill>
                  <a:srgbClr val="6E6A85"/>
                </a:solidFill>
                <a:latin typeface="Meiryo" pitchFamily="34" charset="0"/>
                <a:ea typeface="Meiryo" pitchFamily="34" charset="-122"/>
                <a:cs typeface="Meiryo" pitchFamily="34" charset="-120"/>
              </a:rPr>
              <a:t>脳や体を動かすと、蓄えてある糖（グリコーゲン）を分解してエネルギーを作る。</a:t>
            </a:r>
            <a:endParaRPr lang="en-US" sz="1100" dirty="0"/>
          </a:p>
        </p:txBody>
      </p:sp>
      <p:sp>
        <p:nvSpPr>
          <p:cNvPr id="9" name="Shape 7"/>
          <p:cNvSpPr/>
          <p:nvPr/>
        </p:nvSpPr>
        <p:spPr>
          <a:xfrm>
            <a:off x="4160520" y="2331720"/>
            <a:ext cx="274320" cy="237744"/>
          </a:xfrm>
          <a:prstGeom prst="rightArrow">
            <a:avLst/>
          </a:prstGeom>
          <a:solidFill>
            <a:srgbClr val="D9D7E6"/>
          </a:solidFill>
          <a:ln w="12700">
            <a:solidFill>
              <a:srgbClr val="D9D7E6"/>
            </a:solidFill>
            <a:prstDash val="solid"/>
          </a:ln>
        </p:spPr>
      </p:sp>
      <p:sp>
        <p:nvSpPr>
          <p:cNvPr id="10" name="Shape 8"/>
          <p:cNvSpPr/>
          <p:nvPr/>
        </p:nvSpPr>
        <p:spPr>
          <a:xfrm>
            <a:off x="4320540" y="1691640"/>
            <a:ext cx="3520440" cy="1417320"/>
          </a:xfrm>
          <a:prstGeom prst="roundRect">
            <a:avLst>
              <a:gd name="adj" fmla="val 7742"/>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11" name="Shape 9"/>
          <p:cNvSpPr/>
          <p:nvPr/>
        </p:nvSpPr>
        <p:spPr>
          <a:xfrm>
            <a:off x="4576572" y="1856232"/>
            <a:ext cx="347472" cy="347472"/>
          </a:xfrm>
          <a:prstGeom prst="ellipse">
            <a:avLst/>
          </a:prstGeom>
          <a:solidFill>
            <a:srgbClr val="5B4BD6"/>
          </a:solidFill>
          <a:ln w="12700">
            <a:solidFill>
              <a:srgbClr val="5B4BD6"/>
            </a:solidFill>
            <a:prstDash val="solid"/>
          </a:ln>
        </p:spPr>
      </p:sp>
      <p:sp>
        <p:nvSpPr>
          <p:cNvPr id="12" name="Text 10"/>
          <p:cNvSpPr/>
          <p:nvPr/>
        </p:nvSpPr>
        <p:spPr>
          <a:xfrm>
            <a:off x="4576572" y="18562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2</a:t>
            </a:r>
            <a:endParaRPr lang="en-US" sz="1100" dirty="0"/>
          </a:p>
        </p:txBody>
      </p:sp>
      <p:sp>
        <p:nvSpPr>
          <p:cNvPr id="13" name="Text 11"/>
          <p:cNvSpPr/>
          <p:nvPr/>
        </p:nvSpPr>
        <p:spPr>
          <a:xfrm>
            <a:off x="5052060" y="1837944"/>
            <a:ext cx="2606040" cy="384048"/>
          </a:xfrm>
          <a:prstGeom prst="rect">
            <a:avLst/>
          </a:prstGeom>
          <a:noFill/>
          <a:ln/>
        </p:spPr>
        <p:txBody>
          <a:bodyPr wrap="square" lIns="0" tIns="0" rIns="0" bIns="0" rtlCol="0" anchor="ctr"/>
          <a:lstStyle/>
          <a:p>
            <a:pPr indent="0" marL="0">
              <a:buNone/>
            </a:pPr>
            <a:r>
              <a:rPr lang="en-US" sz="1350" b="1" dirty="0">
                <a:solidFill>
                  <a:srgbClr val="1A1636"/>
                </a:solidFill>
                <a:latin typeface="Meiryo" pitchFamily="34" charset="0"/>
                <a:ea typeface="Meiryo" pitchFamily="34" charset="-122"/>
                <a:cs typeface="Meiryo" pitchFamily="34" charset="-120"/>
              </a:rPr>
              <a:t>その過程で「乳酸」が増える</a:t>
            </a:r>
            <a:endParaRPr lang="en-US" sz="1350" dirty="0"/>
          </a:p>
        </p:txBody>
      </p:sp>
      <p:sp>
        <p:nvSpPr>
          <p:cNvPr id="14" name="Text 12"/>
          <p:cNvSpPr/>
          <p:nvPr/>
        </p:nvSpPr>
        <p:spPr>
          <a:xfrm>
            <a:off x="4576572" y="2331720"/>
            <a:ext cx="3017520" cy="685800"/>
          </a:xfrm>
          <a:prstGeom prst="rect">
            <a:avLst/>
          </a:prstGeom>
          <a:noFill/>
          <a:ln/>
        </p:spPr>
        <p:txBody>
          <a:bodyPr wrap="square" lIns="0" tIns="0" rIns="0" bIns="0" rtlCol="0" anchor="t"/>
          <a:lstStyle/>
          <a:p>
            <a:pPr indent="0" marL="0">
              <a:lnSpc>
                <a:spcPts val="1600"/>
              </a:lnSpc>
              <a:buNone/>
            </a:pPr>
            <a:r>
              <a:rPr lang="en-US" sz="1100" dirty="0">
                <a:solidFill>
                  <a:srgbClr val="6E6A85"/>
                </a:solidFill>
                <a:latin typeface="Meiryo" pitchFamily="34" charset="0"/>
                <a:ea typeface="Meiryo" pitchFamily="34" charset="-122"/>
                <a:cs typeface="Meiryo" pitchFamily="34" charset="-120"/>
              </a:rPr>
              <a:t>乳酸は、糖を分解するときにできるもの。使えば使うほど増えていく。</a:t>
            </a:r>
            <a:endParaRPr lang="en-US" sz="1100" dirty="0"/>
          </a:p>
        </p:txBody>
      </p:sp>
      <p:sp>
        <p:nvSpPr>
          <p:cNvPr id="15" name="Shape 13"/>
          <p:cNvSpPr/>
          <p:nvPr/>
        </p:nvSpPr>
        <p:spPr>
          <a:xfrm>
            <a:off x="7932420" y="2331720"/>
            <a:ext cx="274320" cy="237744"/>
          </a:xfrm>
          <a:prstGeom prst="rightArrow">
            <a:avLst/>
          </a:prstGeom>
          <a:solidFill>
            <a:srgbClr val="D9D7E6"/>
          </a:solidFill>
          <a:ln w="12700">
            <a:solidFill>
              <a:srgbClr val="D9D7E6"/>
            </a:solidFill>
            <a:prstDash val="solid"/>
          </a:ln>
        </p:spPr>
      </p:sp>
      <p:sp>
        <p:nvSpPr>
          <p:cNvPr id="16" name="Shape 14"/>
          <p:cNvSpPr/>
          <p:nvPr/>
        </p:nvSpPr>
        <p:spPr>
          <a:xfrm>
            <a:off x="8092440" y="1691640"/>
            <a:ext cx="3520440" cy="1417320"/>
          </a:xfrm>
          <a:prstGeom prst="roundRect">
            <a:avLst>
              <a:gd name="adj" fmla="val 7742"/>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17" name="Shape 15"/>
          <p:cNvSpPr/>
          <p:nvPr/>
        </p:nvSpPr>
        <p:spPr>
          <a:xfrm>
            <a:off x="8348472" y="1856232"/>
            <a:ext cx="347472" cy="347472"/>
          </a:xfrm>
          <a:prstGeom prst="ellipse">
            <a:avLst/>
          </a:prstGeom>
          <a:solidFill>
            <a:srgbClr val="5B4BD6"/>
          </a:solidFill>
          <a:ln w="12700">
            <a:solidFill>
              <a:srgbClr val="5B4BD6"/>
            </a:solidFill>
            <a:prstDash val="solid"/>
          </a:ln>
        </p:spPr>
      </p:sp>
      <p:sp>
        <p:nvSpPr>
          <p:cNvPr id="18" name="Text 16"/>
          <p:cNvSpPr/>
          <p:nvPr/>
        </p:nvSpPr>
        <p:spPr>
          <a:xfrm>
            <a:off x="8348472" y="18562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3</a:t>
            </a:r>
            <a:endParaRPr lang="en-US" sz="1100" dirty="0"/>
          </a:p>
        </p:txBody>
      </p:sp>
      <p:sp>
        <p:nvSpPr>
          <p:cNvPr id="19" name="Text 17"/>
          <p:cNvSpPr/>
          <p:nvPr/>
        </p:nvSpPr>
        <p:spPr>
          <a:xfrm>
            <a:off x="8823960" y="1837944"/>
            <a:ext cx="2606040" cy="384048"/>
          </a:xfrm>
          <a:prstGeom prst="rect">
            <a:avLst/>
          </a:prstGeom>
          <a:noFill/>
          <a:ln/>
        </p:spPr>
        <p:txBody>
          <a:bodyPr wrap="square" lIns="0" tIns="0" rIns="0" bIns="0" rtlCol="0" anchor="ctr"/>
          <a:lstStyle/>
          <a:p>
            <a:pPr indent="0" marL="0">
              <a:buNone/>
            </a:pPr>
            <a:r>
              <a:rPr lang="en-US" sz="1350" b="1" dirty="0">
                <a:solidFill>
                  <a:srgbClr val="1A1636"/>
                </a:solidFill>
                <a:latin typeface="Meiryo" pitchFamily="34" charset="0"/>
                <a:ea typeface="Meiryo" pitchFamily="34" charset="-122"/>
                <a:cs typeface="Meiryo" pitchFamily="34" charset="-120"/>
              </a:rPr>
              <a:t>乳酸が増えると、動きが止まる</a:t>
            </a:r>
            <a:endParaRPr lang="en-US" sz="1350" dirty="0"/>
          </a:p>
        </p:txBody>
      </p:sp>
      <p:sp>
        <p:nvSpPr>
          <p:cNvPr id="20" name="Text 18"/>
          <p:cNvSpPr/>
          <p:nvPr/>
        </p:nvSpPr>
        <p:spPr>
          <a:xfrm>
            <a:off x="8348472" y="2331720"/>
            <a:ext cx="3017520" cy="685800"/>
          </a:xfrm>
          <a:prstGeom prst="rect">
            <a:avLst/>
          </a:prstGeom>
          <a:noFill/>
          <a:ln/>
        </p:spPr>
        <p:txBody>
          <a:bodyPr wrap="square" lIns="0" tIns="0" rIns="0" bIns="0" rtlCol="0" anchor="t"/>
          <a:lstStyle/>
          <a:p>
            <a:pPr indent="0" marL="0">
              <a:lnSpc>
                <a:spcPts val="1600"/>
              </a:lnSpc>
              <a:buNone/>
            </a:pPr>
            <a:r>
              <a:rPr lang="en-US" sz="1100" dirty="0">
                <a:solidFill>
                  <a:srgbClr val="6E6A85"/>
                </a:solidFill>
                <a:latin typeface="Meiryo" pitchFamily="34" charset="0"/>
                <a:ea typeface="Meiryo" pitchFamily="34" charset="-122"/>
                <a:cs typeface="Meiryo" pitchFamily="34" charset="-120"/>
              </a:rPr>
              <a:t>神経の活動が抑えられ、それ以上続けられなくなる。＝ ブレーキ。</a:t>
            </a:r>
            <a:endParaRPr lang="en-US" sz="1100" dirty="0"/>
          </a:p>
        </p:txBody>
      </p:sp>
      <p:sp>
        <p:nvSpPr>
          <p:cNvPr id="21" name="Shape 19"/>
          <p:cNvSpPr/>
          <p:nvPr/>
        </p:nvSpPr>
        <p:spPr>
          <a:xfrm>
            <a:off x="548640" y="3273552"/>
            <a:ext cx="11064240" cy="731520"/>
          </a:xfrm>
          <a:prstGeom prst="roundRect">
            <a:avLst>
              <a:gd name="adj" fmla="val 15000"/>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22" name="Text 20"/>
          <p:cNvSpPr/>
          <p:nvPr/>
        </p:nvSpPr>
        <p:spPr>
          <a:xfrm>
            <a:off x="914400" y="3273552"/>
            <a:ext cx="10332720" cy="731520"/>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なぜ止めるのか：糖が本当に尽きると神経細胞は死んでしまい、神経は再生できない。だから尽きる前に止める——疲労は、私たちを守るための仕組みです。</a:t>
            </a:r>
            <a:endParaRPr lang="en-US" sz="1350" dirty="0"/>
          </a:p>
        </p:txBody>
      </p:sp>
      <p:sp>
        <p:nvSpPr>
          <p:cNvPr id="23" name="Shape 21"/>
          <p:cNvSpPr/>
          <p:nvPr/>
        </p:nvSpPr>
        <p:spPr>
          <a:xfrm>
            <a:off x="548640" y="4160520"/>
            <a:ext cx="5440680" cy="1097280"/>
          </a:xfrm>
          <a:prstGeom prst="roundRect">
            <a:avLst>
              <a:gd name="adj" fmla="val 10000"/>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24" name="Shape 22"/>
          <p:cNvSpPr/>
          <p:nvPr/>
        </p:nvSpPr>
        <p:spPr>
          <a:xfrm>
            <a:off x="850392" y="4315968"/>
            <a:ext cx="402336" cy="402336"/>
          </a:xfrm>
          <a:prstGeom prst="ellipse">
            <a:avLst/>
          </a:prstGeom>
          <a:solidFill>
            <a:srgbClr val="12B886"/>
          </a:solidFill>
          <a:ln w="12700">
            <a:solidFill>
              <a:srgbClr val="12B886"/>
            </a:solidFill>
            <a:prstDash val="solid"/>
          </a:ln>
        </p:spPr>
      </p:sp>
      <p:sp>
        <p:nvSpPr>
          <p:cNvPr id="25" name="Text 23"/>
          <p:cNvSpPr/>
          <p:nvPr/>
        </p:nvSpPr>
        <p:spPr>
          <a:xfrm>
            <a:off x="850392"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26" name="Text 24"/>
          <p:cNvSpPr/>
          <p:nvPr/>
        </p:nvSpPr>
        <p:spPr>
          <a:xfrm>
            <a:off x="1399032" y="4297680"/>
            <a:ext cx="4297680" cy="256032"/>
          </a:xfrm>
          <a:prstGeom prst="rect">
            <a:avLst/>
          </a:prstGeom>
          <a:noFill/>
          <a:ln/>
        </p:spPr>
        <p:txBody>
          <a:bodyPr wrap="square" lIns="0" tIns="0" rIns="0" bIns="0" rtlCol="0" anchor="t"/>
          <a:lstStyle/>
          <a:p>
            <a:pPr indent="0" marL="0">
              <a:buNone/>
            </a:pPr>
            <a:r>
              <a:rPr lang="en-US" sz="1250" b="1" dirty="0">
                <a:solidFill>
                  <a:srgbClr val="1A1636"/>
                </a:solidFill>
                <a:latin typeface="Meiryo" pitchFamily="34" charset="0"/>
                <a:ea typeface="Meiryo" pitchFamily="34" charset="-122"/>
                <a:cs typeface="Meiryo" pitchFamily="34" charset="-120"/>
              </a:rPr>
              <a:t>わかっていること（事実）</a:t>
            </a:r>
            <a:endParaRPr lang="en-US" sz="1250" dirty="0"/>
          </a:p>
        </p:txBody>
      </p:sp>
      <p:sp>
        <p:nvSpPr>
          <p:cNvPr id="27" name="Text 25"/>
          <p:cNvSpPr/>
          <p:nvPr/>
        </p:nvSpPr>
        <p:spPr>
          <a:xfrm>
            <a:off x="1399032" y="4590288"/>
            <a:ext cx="4297680" cy="548640"/>
          </a:xfrm>
          <a:prstGeom prst="rect">
            <a:avLst/>
          </a:prstGeom>
          <a:noFill/>
          <a:ln/>
        </p:spPr>
        <p:txBody>
          <a:bodyPr wrap="square" lIns="0" tIns="0" rIns="0" bIns="0" rtlCol="0" anchor="t"/>
          <a:lstStyle/>
          <a:p>
            <a:pPr indent="0" marL="0">
              <a:lnSpc>
                <a:spcPts val="1500"/>
              </a:lnSpc>
              <a:buNone/>
            </a:pPr>
            <a:r>
              <a:rPr lang="en-US" sz="1050" dirty="0">
                <a:solidFill>
                  <a:srgbClr val="6E6A85"/>
                </a:solidFill>
                <a:latin typeface="Meiryo" pitchFamily="34" charset="0"/>
                <a:ea typeface="Meiryo" pitchFamily="34" charset="-122"/>
                <a:cs typeface="Meiryo" pitchFamily="34" charset="-120"/>
              </a:rPr>
              <a:t>走れなくなるまで走らせると脳内でも乳酸が増え、神経の活動を抑えて運動を止める——動物実験で確認済み。</a:t>
            </a:r>
            <a:endParaRPr lang="en-US" sz="1050" dirty="0"/>
          </a:p>
        </p:txBody>
      </p:sp>
      <p:sp>
        <p:nvSpPr>
          <p:cNvPr id="28" name="Shape 26"/>
          <p:cNvSpPr/>
          <p:nvPr/>
        </p:nvSpPr>
        <p:spPr>
          <a:xfrm>
            <a:off x="6172200" y="4160520"/>
            <a:ext cx="5440680" cy="1097280"/>
          </a:xfrm>
          <a:prstGeom prst="roundRect">
            <a:avLst>
              <a:gd name="adj" fmla="val 10000"/>
            </a:avLst>
          </a:prstGeom>
          <a:solidFill>
            <a:srgbClr val="FFF1EF"/>
          </a:solidFill>
          <a:ln w="12700">
            <a:solidFill>
              <a:srgbClr val="FFD9D3"/>
            </a:solidFill>
            <a:prstDash val="solid"/>
          </a:ln>
          <a:effectLst>
            <a:outerShdw sx="100000" sy="100000" kx="0" ky="0" algn="bl" rotWithShape="0" blurRad="152400" dist="25400" dir="5400000">
              <a:srgbClr val="1A1636">
                <a:alpha val="12000"/>
              </a:srgbClr>
            </a:outerShdw>
          </a:effectLst>
        </p:spPr>
      </p:sp>
      <p:sp>
        <p:nvSpPr>
          <p:cNvPr id="29" name="Shape 27"/>
          <p:cNvSpPr/>
          <p:nvPr/>
        </p:nvSpPr>
        <p:spPr>
          <a:xfrm>
            <a:off x="6473952" y="4315968"/>
            <a:ext cx="402336" cy="402336"/>
          </a:xfrm>
          <a:prstGeom prst="ellipse">
            <a:avLst/>
          </a:prstGeom>
          <a:solidFill>
            <a:srgbClr val="F5A524"/>
          </a:solidFill>
          <a:ln w="12700">
            <a:solidFill>
              <a:srgbClr val="F5A524"/>
            </a:solidFill>
            <a:prstDash val="solid"/>
          </a:ln>
        </p:spPr>
      </p:sp>
      <p:sp>
        <p:nvSpPr>
          <p:cNvPr id="30" name="Text 28"/>
          <p:cNvSpPr/>
          <p:nvPr/>
        </p:nvSpPr>
        <p:spPr>
          <a:xfrm>
            <a:off x="6473952"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31" name="Text 29"/>
          <p:cNvSpPr/>
          <p:nvPr/>
        </p:nvSpPr>
        <p:spPr>
          <a:xfrm>
            <a:off x="7022592" y="4297680"/>
            <a:ext cx="4297680" cy="256032"/>
          </a:xfrm>
          <a:prstGeom prst="rect">
            <a:avLst/>
          </a:prstGeom>
          <a:noFill/>
          <a:ln/>
        </p:spPr>
        <p:txBody>
          <a:bodyPr wrap="square" lIns="0" tIns="0" rIns="0" bIns="0" rtlCol="0" anchor="t"/>
          <a:lstStyle/>
          <a:p>
            <a:pPr indent="0" marL="0">
              <a:buNone/>
            </a:pPr>
            <a:r>
              <a:rPr lang="en-US" sz="1250" b="1" dirty="0">
                <a:solidFill>
                  <a:srgbClr val="1A1636"/>
                </a:solidFill>
                <a:latin typeface="Meiryo" pitchFamily="34" charset="0"/>
                <a:ea typeface="Meiryo" pitchFamily="34" charset="-122"/>
                <a:cs typeface="Meiryo" pitchFamily="34" charset="-120"/>
              </a:rPr>
              <a:t>まだ仮説（検証中）</a:t>
            </a:r>
            <a:endParaRPr lang="en-US" sz="1250" dirty="0"/>
          </a:p>
        </p:txBody>
      </p:sp>
      <p:sp>
        <p:nvSpPr>
          <p:cNvPr id="32" name="Text 30"/>
          <p:cNvSpPr/>
          <p:nvPr/>
        </p:nvSpPr>
        <p:spPr>
          <a:xfrm>
            <a:off x="7022592" y="4590288"/>
            <a:ext cx="4297680" cy="548640"/>
          </a:xfrm>
          <a:prstGeom prst="rect">
            <a:avLst/>
          </a:prstGeom>
          <a:noFill/>
          <a:ln/>
        </p:spPr>
        <p:txBody>
          <a:bodyPr wrap="square" lIns="0" tIns="0" rIns="0" bIns="0" rtlCol="0" anchor="t"/>
          <a:lstStyle/>
          <a:p>
            <a:pPr indent="0" marL="0">
              <a:lnSpc>
                <a:spcPts val="1500"/>
              </a:lnSpc>
              <a:buNone/>
            </a:pPr>
            <a:r>
              <a:rPr lang="en-US" sz="1050" dirty="0">
                <a:solidFill>
                  <a:srgbClr val="6E6A85"/>
                </a:solidFill>
                <a:latin typeface="Meiryo" pitchFamily="34" charset="0"/>
                <a:ea typeface="Meiryo" pitchFamily="34" charset="-122"/>
                <a:cs typeface="Meiryo" pitchFamily="34" charset="-120"/>
              </a:rPr>
              <a:t>頭だけを使う活動でも同じことが起きているかは、まだ「可能性がある」という段階。</a:t>
            </a:r>
            <a:endParaRPr lang="en-US" sz="1050" dirty="0"/>
          </a:p>
        </p:txBody>
      </p:sp>
      <p:sp>
        <p:nvSpPr>
          <p:cNvPr id="33" name="Shape 31"/>
          <p:cNvSpPr/>
          <p:nvPr/>
        </p:nvSpPr>
        <p:spPr>
          <a:xfrm>
            <a:off x="548640" y="5440680"/>
            <a:ext cx="6720840" cy="960120"/>
          </a:xfrm>
          <a:prstGeom prst="roundRect">
            <a:avLst>
              <a:gd name="adj" fmla="val 11429"/>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34" name="Text 32"/>
          <p:cNvSpPr/>
          <p:nvPr/>
        </p:nvSpPr>
        <p:spPr>
          <a:xfrm>
            <a:off x="914400" y="5440680"/>
            <a:ext cx="6126480" cy="960120"/>
          </a:xfrm>
          <a:prstGeom prst="rect">
            <a:avLst/>
          </a:prstGeom>
          <a:noFill/>
          <a:ln/>
        </p:spPr>
        <p:txBody>
          <a:bodyPr wrap="square" lIns="0" tIns="0" rIns="0" bIns="0" rtlCol="0" anchor="ctr"/>
          <a:lstStyle/>
          <a:p>
            <a:pPr indent="0" marL="0">
              <a:lnSpc>
                <a:spcPts val="2100"/>
              </a:lnSpc>
              <a:buNone/>
            </a:pPr>
            <a:r>
              <a:rPr lang="en-US" sz="1350" b="1" dirty="0">
                <a:solidFill>
                  <a:srgbClr val="3B2F8F"/>
                </a:solidFill>
                <a:latin typeface="Meiryo" pitchFamily="34" charset="0"/>
                <a:ea typeface="Meiryo" pitchFamily="34" charset="-122"/>
                <a:cs typeface="Meiryo" pitchFamily="34" charset="-120"/>
              </a:rPr>
              <a:t>では、頭を使う仕事でも本当に同じことが起きるのか。</a:t>
            </a:r>
            <a:endParaRPr lang="en-US" sz="1350" dirty="0"/>
          </a:p>
          <a:p>
            <a:pPr indent="0" marL="0">
              <a:lnSpc>
                <a:spcPts val="2100"/>
              </a:lnSpc>
              <a:buNone/>
            </a:pPr>
            <a:r>
              <a:rPr lang="en-US" sz="1350" b="1" dirty="0">
                <a:solidFill>
                  <a:srgbClr val="3B2F8F"/>
                </a:solidFill>
                <a:latin typeface="Meiryo" pitchFamily="34" charset="0"/>
                <a:ea typeface="Meiryo" pitchFamily="34" charset="-122"/>
                <a:cs typeface="Meiryo" pitchFamily="34" charset="-120"/>
              </a:rPr>
              <a:t>——実際に測った実験があります。</a:t>
            </a:r>
            <a:endParaRPr lang="en-US" sz="1350" dirty="0"/>
          </a:p>
        </p:txBody>
      </p:sp>
      <p:sp>
        <p:nvSpPr>
          <p:cNvPr id="35" name="Shape 33"/>
          <p:cNvSpPr/>
          <p:nvPr/>
        </p:nvSpPr>
        <p:spPr>
          <a:xfrm>
            <a:off x="7498080" y="5440680"/>
            <a:ext cx="4114800" cy="960120"/>
          </a:xfrm>
          <a:prstGeom prst="roundRect">
            <a:avLst>
              <a:gd name="adj" fmla="val 11429"/>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36" name="Text 34"/>
          <p:cNvSpPr/>
          <p:nvPr/>
        </p:nvSpPr>
        <p:spPr>
          <a:xfrm>
            <a:off x="7818120" y="5577840"/>
            <a:ext cx="3520440" cy="237744"/>
          </a:xfrm>
          <a:prstGeom prst="rect">
            <a:avLst/>
          </a:prstGeom>
          <a:noFill/>
          <a:ln/>
        </p:spPr>
        <p:txBody>
          <a:bodyPr wrap="square" lIns="0" tIns="0" rIns="0" bIns="0" rtlCol="0" anchor="t"/>
          <a:lstStyle/>
          <a:p>
            <a:pPr indent="0" marL="0">
              <a:buNone/>
            </a:pPr>
            <a:r>
              <a:rPr lang="en-US" sz="1050" b="1" dirty="0">
                <a:solidFill>
                  <a:srgbClr val="F5A524"/>
                </a:solidFill>
                <a:latin typeface="Meiryo" pitchFamily="34" charset="0"/>
                <a:ea typeface="Meiryo" pitchFamily="34" charset="-122"/>
                <a:cs typeface="Meiryo" pitchFamily="34" charset="-120"/>
              </a:rPr>
              <a:t>豆知識：乳酸は「疲労物質」ではなかった</a:t>
            </a:r>
            <a:endParaRPr lang="en-US" sz="1050" dirty="0"/>
          </a:p>
        </p:txBody>
      </p:sp>
      <p:sp>
        <p:nvSpPr>
          <p:cNvPr id="37" name="Text 35"/>
          <p:cNvSpPr/>
          <p:nvPr/>
        </p:nvSpPr>
        <p:spPr>
          <a:xfrm>
            <a:off x="7818120" y="5833872"/>
            <a:ext cx="3520440" cy="475488"/>
          </a:xfrm>
          <a:prstGeom prst="rect">
            <a:avLst/>
          </a:prstGeom>
          <a:noFill/>
          <a:ln/>
        </p:spPr>
        <p:txBody>
          <a:bodyPr wrap="square" lIns="0" tIns="0" rIns="0" bIns="0" rtlCol="0" anchor="t"/>
          <a:lstStyle/>
          <a:p>
            <a:pPr indent="0" marL="0">
              <a:lnSpc>
                <a:spcPts val="1100"/>
              </a:lnSpc>
              <a:buNone/>
            </a:pPr>
            <a:r>
              <a:rPr lang="en-US" sz="850" dirty="0">
                <a:solidFill>
                  <a:srgbClr val="C9C2F2"/>
                </a:solidFill>
                <a:latin typeface="Meiryo" pitchFamily="34" charset="0"/>
                <a:ea typeface="Meiryo" pitchFamily="34" charset="-122"/>
                <a:cs typeface="Meiryo" pitchFamily="34" charset="-120"/>
              </a:rPr>
              <a:t>1922年のノーベル生理学・医学賞（A.V.ヒル／O.マイヤーホフ）以来そう呼ばれてきたが、2000年代以降はむしろ重要なエネルギー源だと判明。運動を続けられるのも乳酸のおかげ。</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核心：疲労感より先に、判断力が落ちる</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eスポーツ（サッカーゲーム）を3時間連続でプレイした実験。運動のときとは、順番が逆になる</a:t>
            </a:r>
            <a:endParaRPr lang="en-US" sz="1400" dirty="0"/>
          </a:p>
        </p:txBody>
      </p:sp>
      <p:sp>
        <p:nvSpPr>
          <p:cNvPr id="4" name="Shape 2"/>
          <p:cNvSpPr/>
          <p:nvPr/>
        </p:nvSpPr>
        <p:spPr>
          <a:xfrm>
            <a:off x="548640" y="1645920"/>
            <a:ext cx="5440680" cy="3154680"/>
          </a:xfrm>
          <a:prstGeom prst="roundRect">
            <a:avLst>
              <a:gd name="adj" fmla="val 3478"/>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5" name="Text 3"/>
          <p:cNvSpPr/>
          <p:nvPr/>
        </p:nvSpPr>
        <p:spPr>
          <a:xfrm>
            <a:off x="868680" y="1783080"/>
            <a:ext cx="3657600" cy="256032"/>
          </a:xfrm>
          <a:prstGeom prst="rect">
            <a:avLst/>
          </a:prstGeom>
          <a:noFill/>
          <a:ln/>
        </p:spPr>
        <p:txBody>
          <a:bodyPr wrap="square" lIns="0" tIns="0" rIns="0" bIns="0" rtlCol="0" anchor="t"/>
          <a:lstStyle/>
          <a:p>
            <a:pPr indent="0" marL="0">
              <a:buNone/>
            </a:pPr>
            <a:r>
              <a:rPr lang="en-US" sz="1400" b="1" dirty="0">
                <a:solidFill>
                  <a:srgbClr val="1A1636"/>
                </a:solidFill>
                <a:latin typeface="Meiryo" pitchFamily="34" charset="0"/>
                <a:ea typeface="Meiryo" pitchFamily="34" charset="-122"/>
                <a:cs typeface="Meiryo" pitchFamily="34" charset="-120"/>
              </a:rPr>
              <a:t>判断の速度（実測）</a:t>
            </a:r>
            <a:endParaRPr lang="en-US" sz="1400" dirty="0"/>
          </a:p>
        </p:txBody>
      </p:sp>
      <p:sp>
        <p:nvSpPr>
          <p:cNvPr id="6" name="Text 4"/>
          <p:cNvSpPr/>
          <p:nvPr/>
        </p:nvSpPr>
        <p:spPr>
          <a:xfrm>
            <a:off x="868680" y="2066544"/>
            <a:ext cx="4846320" cy="237744"/>
          </a:xfrm>
          <a:prstGeom prst="rect">
            <a:avLst/>
          </a:prstGeom>
          <a:noFill/>
          <a:ln/>
        </p:spPr>
        <p:txBody>
          <a:bodyPr wrap="square" lIns="0" tIns="0" rIns="0" bIns="0" rtlCol="0" anchor="t"/>
          <a:lstStyle/>
          <a:p>
            <a:pPr indent="0" marL="0">
              <a:buNone/>
            </a:pPr>
            <a:r>
              <a:rPr lang="en-US" sz="1100" b="1" dirty="0">
                <a:solidFill>
                  <a:srgbClr val="FF6B5B"/>
                </a:solidFill>
                <a:latin typeface="Meiryo" pitchFamily="34" charset="0"/>
                <a:ea typeface="Meiryo" pitchFamily="34" charset="-122"/>
                <a:cs typeface="Meiryo" pitchFamily="34" charset="-120"/>
              </a:rPr>
              <a:t>1時間では上がる → 2時間で、すでに開始前より低い</a:t>
            </a:r>
            <a:endParaRPr lang="en-US" sz="1100" dirty="0"/>
          </a:p>
        </p:txBody>
      </p:sp>
      <p:pic>
        <p:nvPicPr>
          <p:cNvPr id="7" name="Image 0" descr="/home/claude/frames/flanker.jpg">    </p:cNvPr>
          <p:cNvPicPr>
            <a:picLocks noChangeAspect="1"/>
          </p:cNvPicPr>
          <p:nvPr/>
        </p:nvPicPr>
        <p:blipFill>
          <a:blip r:embed="rId1"/>
          <a:srcRect l="0" r="0" t="0" b="0"/>
          <a:stretch/>
        </p:blipFill>
        <p:spPr>
          <a:xfrm>
            <a:off x="1444752" y="2359152"/>
            <a:ext cx="3657600" cy="2112264"/>
          </a:xfrm>
          <a:prstGeom prst="rect">
            <a:avLst/>
          </a:prstGeom>
        </p:spPr>
      </p:pic>
      <p:sp>
        <p:nvSpPr>
          <p:cNvPr id="8" name="Text 5"/>
          <p:cNvSpPr/>
          <p:nvPr/>
        </p:nvSpPr>
        <p:spPr>
          <a:xfrm>
            <a:off x="868680" y="4517136"/>
            <a:ext cx="4846320" cy="219456"/>
          </a:xfrm>
          <a:prstGeom prst="rect">
            <a:avLst/>
          </a:prstGeom>
          <a:noFill/>
          <a:ln/>
        </p:spPr>
        <p:txBody>
          <a:bodyPr wrap="square" lIns="0" tIns="0" rIns="0" bIns="0" rtlCol="0" anchor="t"/>
          <a:lstStyle/>
          <a:p>
            <a:pPr indent="0" marL="0">
              <a:buNone/>
            </a:pPr>
            <a:r>
              <a:rPr lang="en-US" sz="850" dirty="0">
                <a:solidFill>
                  <a:srgbClr val="9B97AE"/>
                </a:solidFill>
                <a:latin typeface="Meiryo" pitchFamily="34" charset="0"/>
                <a:ea typeface="Meiryo" pitchFamily="34" charset="-122"/>
                <a:cs typeface="Meiryo" pitchFamily="34" charset="-120"/>
              </a:rPr>
              <a:t>(Matsui et al., Comput Hum Behav, 2024 / n=15)</a:t>
            </a:r>
            <a:endParaRPr lang="en-US" sz="850" dirty="0"/>
          </a:p>
        </p:txBody>
      </p:sp>
      <p:sp>
        <p:nvSpPr>
          <p:cNvPr id="9" name="Shape 6"/>
          <p:cNvSpPr/>
          <p:nvPr/>
        </p:nvSpPr>
        <p:spPr>
          <a:xfrm>
            <a:off x="6172200" y="1645920"/>
            <a:ext cx="5440680" cy="3154680"/>
          </a:xfrm>
          <a:prstGeom prst="roundRect">
            <a:avLst>
              <a:gd name="adj" fmla="val 3478"/>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10" name="Text 7"/>
          <p:cNvSpPr/>
          <p:nvPr/>
        </p:nvSpPr>
        <p:spPr>
          <a:xfrm>
            <a:off x="6492240" y="1783080"/>
            <a:ext cx="3657600" cy="256032"/>
          </a:xfrm>
          <a:prstGeom prst="rect">
            <a:avLst/>
          </a:prstGeom>
          <a:noFill/>
          <a:ln/>
        </p:spPr>
        <p:txBody>
          <a:bodyPr wrap="square" lIns="0" tIns="0" rIns="0" bIns="0" rtlCol="0" anchor="t"/>
          <a:lstStyle/>
          <a:p>
            <a:pPr indent="0" marL="0">
              <a:buNone/>
            </a:pPr>
            <a:r>
              <a:rPr lang="en-US" sz="1400" b="1" dirty="0">
                <a:solidFill>
                  <a:srgbClr val="1A1636"/>
                </a:solidFill>
                <a:latin typeface="Meiryo" pitchFamily="34" charset="0"/>
                <a:ea typeface="Meiryo" pitchFamily="34" charset="-122"/>
                <a:cs typeface="Meiryo" pitchFamily="34" charset="-120"/>
              </a:rPr>
              <a:t>疲労感（自覚）</a:t>
            </a:r>
            <a:endParaRPr lang="en-US" sz="1400" dirty="0"/>
          </a:p>
        </p:txBody>
      </p:sp>
      <p:sp>
        <p:nvSpPr>
          <p:cNvPr id="11" name="Text 8"/>
          <p:cNvSpPr/>
          <p:nvPr/>
        </p:nvSpPr>
        <p:spPr>
          <a:xfrm>
            <a:off x="6492240" y="2066544"/>
            <a:ext cx="4846320" cy="237744"/>
          </a:xfrm>
          <a:prstGeom prst="rect">
            <a:avLst/>
          </a:prstGeom>
          <a:noFill/>
          <a:ln/>
        </p:spPr>
        <p:txBody>
          <a:bodyPr wrap="square" lIns="0" tIns="0" rIns="0" bIns="0" rtlCol="0" anchor="t"/>
          <a:lstStyle/>
          <a:p>
            <a:pPr indent="0" marL="0">
              <a:buNone/>
            </a:pPr>
            <a:r>
              <a:rPr lang="en-US" sz="1100" b="1" dirty="0">
                <a:solidFill>
                  <a:srgbClr val="12B886"/>
                </a:solidFill>
                <a:latin typeface="Meiryo" pitchFamily="34" charset="0"/>
                <a:ea typeface="Meiryo" pitchFamily="34" charset="-122"/>
                <a:cs typeface="Meiryo" pitchFamily="34" charset="-120"/>
              </a:rPr>
              <a:t>3時間後に、はじめて上がった</a:t>
            </a:r>
            <a:endParaRPr lang="en-US" sz="1100" dirty="0"/>
          </a:p>
        </p:txBody>
      </p:sp>
      <p:pic>
        <p:nvPicPr>
          <p:cNvPr id="12" name="Image 1" descr="/home/claude/frames/vas.jpg">    </p:cNvPr>
          <p:cNvPicPr>
            <a:picLocks noChangeAspect="1"/>
          </p:cNvPicPr>
          <p:nvPr/>
        </p:nvPicPr>
        <p:blipFill>
          <a:blip r:embed="rId2"/>
          <a:srcRect l="0" r="0" t="0" b="0"/>
          <a:stretch/>
        </p:blipFill>
        <p:spPr>
          <a:xfrm>
            <a:off x="7306056" y="2359152"/>
            <a:ext cx="3182112" cy="2112264"/>
          </a:xfrm>
          <a:prstGeom prst="rect">
            <a:avLst/>
          </a:prstGeom>
        </p:spPr>
      </p:pic>
      <p:sp>
        <p:nvSpPr>
          <p:cNvPr id="13" name="Text 9"/>
          <p:cNvSpPr/>
          <p:nvPr/>
        </p:nvSpPr>
        <p:spPr>
          <a:xfrm>
            <a:off x="6492240" y="4517136"/>
            <a:ext cx="4846320" cy="219456"/>
          </a:xfrm>
          <a:prstGeom prst="rect">
            <a:avLst/>
          </a:prstGeom>
          <a:noFill/>
          <a:ln/>
        </p:spPr>
        <p:txBody>
          <a:bodyPr wrap="square" lIns="0" tIns="0" rIns="0" bIns="0" rtlCol="0" anchor="t"/>
          <a:lstStyle/>
          <a:p>
            <a:pPr indent="0" marL="0">
              <a:buNone/>
            </a:pPr>
            <a:r>
              <a:rPr lang="en-US" sz="850" dirty="0">
                <a:solidFill>
                  <a:srgbClr val="9B97AE"/>
                </a:solidFill>
                <a:latin typeface="Meiryo" pitchFamily="34" charset="0"/>
                <a:ea typeface="Meiryo" pitchFamily="34" charset="-122"/>
                <a:cs typeface="Meiryo" pitchFamily="34" charset="-120"/>
              </a:rPr>
              <a:t>縦軸＝疲労感（VAS）。数値が高いほど「疲れた」と感じている</a:t>
            </a:r>
            <a:endParaRPr lang="en-US" sz="850" dirty="0"/>
          </a:p>
        </p:txBody>
      </p:sp>
      <p:sp>
        <p:nvSpPr>
          <p:cNvPr id="14" name="Shape 10"/>
          <p:cNvSpPr/>
          <p:nvPr/>
        </p:nvSpPr>
        <p:spPr>
          <a:xfrm>
            <a:off x="548640" y="4983480"/>
            <a:ext cx="6720840" cy="1417320"/>
          </a:xfrm>
          <a:prstGeom prst="roundRect">
            <a:avLst>
              <a:gd name="adj" fmla="val 7742"/>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15" name="Text 11"/>
          <p:cNvSpPr/>
          <p:nvPr/>
        </p:nvSpPr>
        <p:spPr>
          <a:xfrm>
            <a:off x="868680" y="5138928"/>
            <a:ext cx="6126480" cy="274320"/>
          </a:xfrm>
          <a:prstGeom prst="rect">
            <a:avLst/>
          </a:prstGeom>
          <a:noFill/>
          <a:ln/>
        </p:spPr>
        <p:txBody>
          <a:bodyPr wrap="square" lIns="0" tIns="0" rIns="0" bIns="0" rtlCol="0" anchor="t"/>
          <a:lstStyle/>
          <a:p>
            <a:pPr indent="0" marL="0">
              <a:buNone/>
            </a:pPr>
            <a:r>
              <a:rPr lang="en-US" sz="1500" b="1" dirty="0">
                <a:solidFill>
                  <a:srgbClr val="F5A524"/>
                </a:solidFill>
                <a:latin typeface="Meiryo" pitchFamily="34" charset="0"/>
                <a:ea typeface="Meiryo" pitchFamily="34" charset="-122"/>
                <a:cs typeface="Meiryo" pitchFamily="34" charset="-120"/>
              </a:rPr>
              <a:t>運動とは、順番が逆転する</a:t>
            </a:r>
            <a:endParaRPr lang="en-US" sz="1500" dirty="0"/>
          </a:p>
        </p:txBody>
      </p:sp>
      <p:sp>
        <p:nvSpPr>
          <p:cNvPr id="16" name="Text 12"/>
          <p:cNvSpPr/>
          <p:nvPr/>
        </p:nvSpPr>
        <p:spPr>
          <a:xfrm>
            <a:off x="868680" y="5486400"/>
            <a:ext cx="6126480" cy="777240"/>
          </a:xfrm>
          <a:prstGeom prst="rect">
            <a:avLst/>
          </a:prstGeom>
          <a:noFill/>
          <a:ln/>
        </p:spPr>
        <p:txBody>
          <a:bodyPr wrap="square" lIns="0" tIns="0" rIns="0" bIns="0" rtlCol="0" anchor="t"/>
          <a:lstStyle/>
          <a:p>
            <a:pPr indent="0" marL="0">
              <a:lnSpc>
                <a:spcPts val="1900"/>
              </a:lnSpc>
              <a:buNone/>
            </a:pPr>
            <a:r>
              <a:rPr lang="en-US" sz="1250" dirty="0">
                <a:solidFill>
                  <a:srgbClr val="C9C2F2"/>
                </a:solidFill>
                <a:latin typeface="Meiryo" pitchFamily="34" charset="0"/>
                <a:ea typeface="Meiryo" pitchFamily="34" charset="-122"/>
                <a:cs typeface="Meiryo" pitchFamily="34" charset="-120"/>
              </a:rPr>
              <a:t>運動なら疲労感が先に来るので、動けなくなる前に止まれる。頭脳活動では判断力の低下が先に来るので、落ちたことに自分で気づけない。</a:t>
            </a:r>
            <a:endParaRPr lang="en-US" sz="1250" dirty="0"/>
          </a:p>
        </p:txBody>
      </p:sp>
      <p:sp>
        <p:nvSpPr>
          <p:cNvPr id="17" name="Shape 13"/>
          <p:cNvSpPr/>
          <p:nvPr/>
        </p:nvSpPr>
        <p:spPr>
          <a:xfrm>
            <a:off x="7498080" y="4983480"/>
            <a:ext cx="4114800" cy="1417320"/>
          </a:xfrm>
          <a:prstGeom prst="roundRect">
            <a:avLst>
              <a:gd name="adj" fmla="val 7742"/>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18" name="Text 14"/>
          <p:cNvSpPr/>
          <p:nvPr/>
        </p:nvSpPr>
        <p:spPr>
          <a:xfrm>
            <a:off x="7818120" y="5120640"/>
            <a:ext cx="3520440" cy="256032"/>
          </a:xfrm>
          <a:prstGeom prst="rect">
            <a:avLst/>
          </a:prstGeom>
          <a:noFill/>
          <a:ln/>
        </p:spPr>
        <p:txBody>
          <a:bodyPr wrap="square" lIns="0" tIns="0" rIns="0" bIns="0" rtlCol="0" anchor="t"/>
          <a:lstStyle/>
          <a:p>
            <a:pPr indent="0" marL="0">
              <a:buNone/>
            </a:pPr>
            <a:r>
              <a:rPr lang="en-US" sz="1150" b="1" dirty="0">
                <a:solidFill>
                  <a:srgbClr val="3B2F8F"/>
                </a:solidFill>
                <a:latin typeface="Meiryo" pitchFamily="34" charset="0"/>
                <a:ea typeface="Meiryo" pitchFamily="34" charset="-122"/>
                <a:cs typeface="Meiryo" pitchFamily="34" charset="-120"/>
              </a:rPr>
              <a:t>補足：なぜ「3時間で初めて」？</a:t>
            </a:r>
            <a:endParaRPr lang="en-US" sz="1150" dirty="0"/>
          </a:p>
        </p:txBody>
      </p:sp>
      <p:sp>
        <p:nvSpPr>
          <p:cNvPr id="19" name="Text 15"/>
          <p:cNvSpPr/>
          <p:nvPr/>
        </p:nvSpPr>
        <p:spPr>
          <a:xfrm>
            <a:off x="7818120" y="5413248"/>
            <a:ext cx="3520440" cy="868680"/>
          </a:xfrm>
          <a:prstGeom prst="rect">
            <a:avLst/>
          </a:prstGeom>
          <a:noFill/>
          <a:ln/>
        </p:spPr>
        <p:txBody>
          <a:bodyPr wrap="square" lIns="0" tIns="0" rIns="0" bIns="0" rtlCol="0" anchor="t"/>
          <a:lstStyle/>
          <a:p>
            <a:pPr indent="0" marL="0">
              <a:lnSpc>
                <a:spcPts val="1300"/>
              </a:lnSpc>
              <a:buNone/>
            </a:pPr>
            <a:r>
              <a:rPr lang="en-US" sz="950" dirty="0">
                <a:solidFill>
                  <a:srgbClr val="6E6A85"/>
                </a:solidFill>
                <a:latin typeface="Meiryo" pitchFamily="34" charset="0"/>
                <a:ea typeface="Meiryo" pitchFamily="34" charset="-122"/>
                <a:cs typeface="Meiryo" pitchFamily="34" charset="-120"/>
              </a:rPr>
              <a:t>5つの時点の比較には一元配置分散分析を使う。開始前との差が偶然で生じる確率が5%未満なら「同じでない」と判断する作法。この基準では1時間・2時間は「開始前と同じ」と解釈される。</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なぜズレる？ ——「疲労感」は筋肉の疲れが前提</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本来、脳を使うことと体を動かすことはほぼイコールだった。そのころ作られたアラートを、私たちはいまも使っている</a:t>
            </a:r>
            <a:endParaRPr lang="en-US" sz="1400" dirty="0"/>
          </a:p>
        </p:txBody>
      </p:sp>
      <p:sp>
        <p:nvSpPr>
          <p:cNvPr id="4" name="Shape 2"/>
          <p:cNvSpPr/>
          <p:nvPr/>
        </p:nvSpPr>
        <p:spPr>
          <a:xfrm>
            <a:off x="548640" y="1691640"/>
            <a:ext cx="5440680" cy="2880360"/>
          </a:xfrm>
          <a:prstGeom prst="roundRect">
            <a:avLst>
              <a:gd name="adj" fmla="val 3810"/>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868680" y="1901952"/>
            <a:ext cx="1371600" cy="347472"/>
          </a:xfrm>
          <a:prstGeom prst="roundRect">
            <a:avLst>
              <a:gd name="adj" fmla="val 50000"/>
            </a:avLst>
          </a:prstGeom>
          <a:solidFill>
            <a:srgbClr val="6E6A85"/>
          </a:solidFill>
          <a:ln w="12700">
            <a:solidFill>
              <a:srgbClr val="6E6A85"/>
            </a:solidFill>
            <a:prstDash val="solid"/>
          </a:ln>
        </p:spPr>
      </p:sp>
      <p:sp>
        <p:nvSpPr>
          <p:cNvPr id="6" name="Text 4"/>
          <p:cNvSpPr/>
          <p:nvPr/>
        </p:nvSpPr>
        <p:spPr>
          <a:xfrm>
            <a:off x="868680" y="1901952"/>
            <a:ext cx="137160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本来</a:t>
            </a:r>
            <a:endParaRPr lang="en-US" sz="1150" dirty="0"/>
          </a:p>
        </p:txBody>
      </p:sp>
      <p:sp>
        <p:nvSpPr>
          <p:cNvPr id="7" name="Text 5"/>
          <p:cNvSpPr/>
          <p:nvPr/>
        </p:nvSpPr>
        <p:spPr>
          <a:xfrm>
            <a:off x="2377440" y="1901952"/>
            <a:ext cx="3291840" cy="347472"/>
          </a:xfrm>
          <a:prstGeom prst="rect">
            <a:avLst/>
          </a:prstGeom>
          <a:noFill/>
          <a:ln/>
        </p:spPr>
        <p:txBody>
          <a:bodyPr wrap="square" lIns="0" tIns="0" rIns="0" bIns="0" rtlCol="0" anchor="ctr"/>
          <a:lstStyle/>
          <a:p>
            <a:pPr indent="0" marL="0">
              <a:buNone/>
            </a:pPr>
            <a:r>
              <a:rPr lang="en-US" sz="1450" b="1" dirty="0">
                <a:solidFill>
                  <a:srgbClr val="1A1636"/>
                </a:solidFill>
                <a:latin typeface="Meiryo" pitchFamily="34" charset="0"/>
                <a:ea typeface="Meiryo" pitchFamily="34" charset="-122"/>
                <a:cs typeface="Meiryo" pitchFamily="34" charset="-120"/>
              </a:rPr>
              <a:t>狩り・移動・作業</a:t>
            </a:r>
            <a:endParaRPr lang="en-US" sz="1450" dirty="0"/>
          </a:p>
        </p:txBody>
      </p:sp>
      <p:sp>
        <p:nvSpPr>
          <p:cNvPr id="8" name="Shape 6"/>
          <p:cNvSpPr/>
          <p:nvPr/>
        </p:nvSpPr>
        <p:spPr>
          <a:xfrm>
            <a:off x="868680" y="2404872"/>
            <a:ext cx="329184" cy="329184"/>
          </a:xfrm>
          <a:prstGeom prst="ellipse">
            <a:avLst/>
          </a:prstGeom>
          <a:solidFill>
            <a:srgbClr val="6E6A85"/>
          </a:solidFill>
          <a:ln w="12700">
            <a:solidFill>
              <a:srgbClr val="6E6A85"/>
            </a:solidFill>
            <a:prstDash val="solid"/>
          </a:ln>
        </p:spPr>
      </p:sp>
      <p:sp>
        <p:nvSpPr>
          <p:cNvPr id="9" name="Text 7"/>
          <p:cNvSpPr/>
          <p:nvPr/>
        </p:nvSpPr>
        <p:spPr>
          <a:xfrm>
            <a:off x="868680" y="240487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1</a:t>
            </a:r>
            <a:endParaRPr lang="en-US" sz="1000" dirty="0"/>
          </a:p>
        </p:txBody>
      </p:sp>
      <p:sp>
        <p:nvSpPr>
          <p:cNvPr id="10" name="Text 8"/>
          <p:cNvSpPr/>
          <p:nvPr/>
        </p:nvSpPr>
        <p:spPr>
          <a:xfrm>
            <a:off x="1353312" y="2377440"/>
            <a:ext cx="4315968" cy="402336"/>
          </a:xfrm>
          <a:prstGeom prst="rect">
            <a:avLst/>
          </a:prstGeom>
          <a:noFill/>
          <a:ln/>
        </p:spPr>
        <p:txBody>
          <a:bodyPr wrap="square" lIns="0" tIns="0" rIns="0" bIns="0" rtlCol="0" anchor="ctr"/>
          <a:lstStyle/>
          <a:p>
            <a:pPr indent="0" marL="0">
              <a:buNone/>
            </a:pPr>
            <a:r>
              <a:rPr lang="en-US" sz="1150" dirty="0">
                <a:solidFill>
                  <a:srgbClr val="1A1636"/>
                </a:solidFill>
                <a:latin typeface="Meiryo" pitchFamily="34" charset="0"/>
                <a:ea typeface="Meiryo" pitchFamily="34" charset="-122"/>
                <a:cs typeface="Meiryo" pitchFamily="34" charset="-120"/>
              </a:rPr>
              <a:t>「どこに餌があるか」を脳で判断する</a:t>
            </a:r>
            <a:endParaRPr lang="en-US" sz="1150" dirty="0"/>
          </a:p>
        </p:txBody>
      </p:sp>
      <p:sp>
        <p:nvSpPr>
          <p:cNvPr id="11" name="Shape 9"/>
          <p:cNvSpPr/>
          <p:nvPr/>
        </p:nvSpPr>
        <p:spPr>
          <a:xfrm>
            <a:off x="868680" y="2907792"/>
            <a:ext cx="329184" cy="329184"/>
          </a:xfrm>
          <a:prstGeom prst="ellipse">
            <a:avLst/>
          </a:prstGeom>
          <a:solidFill>
            <a:srgbClr val="6E6A85"/>
          </a:solidFill>
          <a:ln w="12700">
            <a:solidFill>
              <a:srgbClr val="6E6A85"/>
            </a:solidFill>
            <a:prstDash val="solid"/>
          </a:ln>
        </p:spPr>
      </p:sp>
      <p:sp>
        <p:nvSpPr>
          <p:cNvPr id="12" name="Text 10"/>
          <p:cNvSpPr/>
          <p:nvPr/>
        </p:nvSpPr>
        <p:spPr>
          <a:xfrm>
            <a:off x="868680" y="290779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2</a:t>
            </a:r>
            <a:endParaRPr lang="en-US" sz="1000" dirty="0"/>
          </a:p>
        </p:txBody>
      </p:sp>
      <p:sp>
        <p:nvSpPr>
          <p:cNvPr id="13" name="Text 11"/>
          <p:cNvSpPr/>
          <p:nvPr/>
        </p:nvSpPr>
        <p:spPr>
          <a:xfrm>
            <a:off x="1353312" y="2880360"/>
            <a:ext cx="4315968" cy="402336"/>
          </a:xfrm>
          <a:prstGeom prst="rect">
            <a:avLst/>
          </a:prstGeom>
          <a:noFill/>
          <a:ln/>
        </p:spPr>
        <p:txBody>
          <a:bodyPr wrap="square" lIns="0" tIns="0" rIns="0" bIns="0" rtlCol="0" anchor="ctr"/>
          <a:lstStyle/>
          <a:p>
            <a:pPr indent="0" marL="0">
              <a:buNone/>
            </a:pPr>
            <a:r>
              <a:rPr lang="en-US" sz="1150" dirty="0">
                <a:solidFill>
                  <a:srgbClr val="1A1636"/>
                </a:solidFill>
                <a:latin typeface="Meiryo" pitchFamily="34" charset="0"/>
                <a:ea typeface="Meiryo" pitchFamily="34" charset="-122"/>
                <a:cs typeface="Meiryo" pitchFamily="34" charset="-120"/>
              </a:rPr>
              <a:t>判断したら、そのまま体を動かす</a:t>
            </a:r>
            <a:endParaRPr lang="en-US" sz="1150" dirty="0"/>
          </a:p>
        </p:txBody>
      </p:sp>
      <p:sp>
        <p:nvSpPr>
          <p:cNvPr id="14" name="Shape 12"/>
          <p:cNvSpPr/>
          <p:nvPr/>
        </p:nvSpPr>
        <p:spPr>
          <a:xfrm>
            <a:off x="868680" y="3410712"/>
            <a:ext cx="329184" cy="329184"/>
          </a:xfrm>
          <a:prstGeom prst="ellipse">
            <a:avLst/>
          </a:prstGeom>
          <a:solidFill>
            <a:srgbClr val="6E6A85"/>
          </a:solidFill>
          <a:ln w="12700">
            <a:solidFill>
              <a:srgbClr val="6E6A85"/>
            </a:solidFill>
            <a:prstDash val="solid"/>
          </a:ln>
        </p:spPr>
      </p:sp>
      <p:sp>
        <p:nvSpPr>
          <p:cNvPr id="15" name="Text 13"/>
          <p:cNvSpPr/>
          <p:nvPr/>
        </p:nvSpPr>
        <p:spPr>
          <a:xfrm>
            <a:off x="868680" y="341071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3</a:t>
            </a:r>
            <a:endParaRPr lang="en-US" sz="1000" dirty="0"/>
          </a:p>
        </p:txBody>
      </p:sp>
      <p:sp>
        <p:nvSpPr>
          <p:cNvPr id="16" name="Text 14"/>
          <p:cNvSpPr/>
          <p:nvPr/>
        </p:nvSpPr>
        <p:spPr>
          <a:xfrm>
            <a:off x="1353312" y="3383280"/>
            <a:ext cx="4315968" cy="402336"/>
          </a:xfrm>
          <a:prstGeom prst="rect">
            <a:avLst/>
          </a:prstGeom>
          <a:noFill/>
          <a:ln/>
        </p:spPr>
        <p:txBody>
          <a:bodyPr wrap="square" lIns="0" tIns="0" rIns="0" bIns="0" rtlCol="0" anchor="ctr"/>
          <a:lstStyle/>
          <a:p>
            <a:pPr indent="0" marL="0">
              <a:buNone/>
            </a:pPr>
            <a:r>
              <a:rPr lang="en-US" sz="1150" dirty="0">
                <a:solidFill>
                  <a:srgbClr val="1A1636"/>
                </a:solidFill>
                <a:latin typeface="Meiryo" pitchFamily="34" charset="0"/>
                <a:ea typeface="Meiryo" pitchFamily="34" charset="-122"/>
                <a:cs typeface="Meiryo" pitchFamily="34" charset="-120"/>
              </a:rPr>
              <a:t>筋肉が疲れる → 疲労感が立ち上がる</a:t>
            </a:r>
            <a:endParaRPr lang="en-US" sz="1150" dirty="0"/>
          </a:p>
        </p:txBody>
      </p:sp>
      <p:sp>
        <p:nvSpPr>
          <p:cNvPr id="17" name="Shape 15"/>
          <p:cNvSpPr/>
          <p:nvPr/>
        </p:nvSpPr>
        <p:spPr>
          <a:xfrm>
            <a:off x="868680" y="3950208"/>
            <a:ext cx="4800600" cy="438912"/>
          </a:xfrm>
          <a:prstGeom prst="roundRect">
            <a:avLst>
              <a:gd name="adj" fmla="val 20833"/>
            </a:avLst>
          </a:prstGeom>
          <a:solidFill>
            <a:srgbClr val="EDF7F2"/>
          </a:solidFill>
          <a:ln w="12700">
            <a:solidFill>
              <a:srgbClr val="EDF7F2"/>
            </a:solidFill>
            <a:prstDash val="solid"/>
          </a:ln>
        </p:spPr>
      </p:sp>
      <p:sp>
        <p:nvSpPr>
          <p:cNvPr id="18" name="Text 16"/>
          <p:cNvSpPr/>
          <p:nvPr/>
        </p:nvSpPr>
        <p:spPr>
          <a:xfrm>
            <a:off x="1051560" y="3950208"/>
            <a:ext cx="4434840" cy="438912"/>
          </a:xfrm>
          <a:prstGeom prst="rect">
            <a:avLst/>
          </a:prstGeom>
          <a:noFill/>
          <a:ln/>
        </p:spPr>
        <p:txBody>
          <a:bodyPr wrap="square" lIns="0" tIns="0" rIns="0" bIns="0" rtlCol="0" anchor="ctr"/>
          <a:lstStyle/>
          <a:p>
            <a:pPr indent="0" marL="0">
              <a:buNone/>
            </a:pPr>
            <a:r>
              <a:rPr lang="en-US" sz="1200" b="1" dirty="0">
                <a:solidFill>
                  <a:srgbClr val="0B7A5C"/>
                </a:solidFill>
                <a:latin typeface="Meiryo" pitchFamily="34" charset="0"/>
                <a:ea typeface="Meiryo" pitchFamily="34" charset="-122"/>
                <a:cs typeface="Meiryo" pitchFamily="34" charset="-120"/>
              </a:rPr>
              <a:t>アラートが正しく鳴る。動けなくなる前に休める</a:t>
            </a:r>
            <a:endParaRPr lang="en-US" sz="1200" dirty="0"/>
          </a:p>
        </p:txBody>
      </p:sp>
      <p:sp>
        <p:nvSpPr>
          <p:cNvPr id="19" name="Shape 17"/>
          <p:cNvSpPr/>
          <p:nvPr/>
        </p:nvSpPr>
        <p:spPr>
          <a:xfrm>
            <a:off x="6172200" y="1691640"/>
            <a:ext cx="5440680" cy="2880360"/>
          </a:xfrm>
          <a:prstGeom prst="roundRect">
            <a:avLst>
              <a:gd name="adj" fmla="val 3810"/>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20" name="Shape 18"/>
          <p:cNvSpPr/>
          <p:nvPr/>
        </p:nvSpPr>
        <p:spPr>
          <a:xfrm>
            <a:off x="6492240" y="1901952"/>
            <a:ext cx="1371600" cy="347472"/>
          </a:xfrm>
          <a:prstGeom prst="roundRect">
            <a:avLst>
              <a:gd name="adj" fmla="val 50000"/>
            </a:avLst>
          </a:prstGeom>
          <a:solidFill>
            <a:srgbClr val="FF6B5B"/>
          </a:solidFill>
          <a:ln w="12700">
            <a:solidFill>
              <a:srgbClr val="FF6B5B"/>
            </a:solidFill>
            <a:prstDash val="solid"/>
          </a:ln>
        </p:spPr>
      </p:sp>
      <p:sp>
        <p:nvSpPr>
          <p:cNvPr id="21" name="Text 19"/>
          <p:cNvSpPr/>
          <p:nvPr/>
        </p:nvSpPr>
        <p:spPr>
          <a:xfrm>
            <a:off x="6492240" y="1901952"/>
            <a:ext cx="137160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現代</a:t>
            </a:r>
            <a:endParaRPr lang="en-US" sz="1150" dirty="0"/>
          </a:p>
        </p:txBody>
      </p:sp>
      <p:sp>
        <p:nvSpPr>
          <p:cNvPr id="22" name="Text 20"/>
          <p:cNvSpPr/>
          <p:nvPr/>
        </p:nvSpPr>
        <p:spPr>
          <a:xfrm>
            <a:off x="8001000" y="1901952"/>
            <a:ext cx="3291840" cy="347472"/>
          </a:xfrm>
          <a:prstGeom prst="rect">
            <a:avLst/>
          </a:prstGeom>
          <a:noFill/>
          <a:ln/>
        </p:spPr>
        <p:txBody>
          <a:bodyPr wrap="square" lIns="0" tIns="0" rIns="0" bIns="0" rtlCol="0" anchor="ctr"/>
          <a:lstStyle/>
          <a:p>
            <a:pPr indent="0" marL="0">
              <a:buNone/>
            </a:pPr>
            <a:r>
              <a:rPr lang="en-US" sz="1450" b="1" dirty="0">
                <a:solidFill>
                  <a:srgbClr val="1A1636"/>
                </a:solidFill>
                <a:latin typeface="Meiryo" pitchFamily="34" charset="0"/>
                <a:ea typeface="Meiryo" pitchFamily="34" charset="-122"/>
                <a:cs typeface="Meiryo" pitchFamily="34" charset="-120"/>
              </a:rPr>
              <a:t>デスクワーク・会議・eスポーツ</a:t>
            </a:r>
            <a:endParaRPr lang="en-US" sz="1450" dirty="0"/>
          </a:p>
        </p:txBody>
      </p:sp>
      <p:sp>
        <p:nvSpPr>
          <p:cNvPr id="23" name="Shape 21"/>
          <p:cNvSpPr/>
          <p:nvPr/>
        </p:nvSpPr>
        <p:spPr>
          <a:xfrm>
            <a:off x="6492240" y="2404872"/>
            <a:ext cx="329184" cy="329184"/>
          </a:xfrm>
          <a:prstGeom prst="ellipse">
            <a:avLst/>
          </a:prstGeom>
          <a:solidFill>
            <a:srgbClr val="FF6B5B"/>
          </a:solidFill>
          <a:ln w="12700">
            <a:solidFill>
              <a:srgbClr val="FF6B5B"/>
            </a:solidFill>
            <a:prstDash val="solid"/>
          </a:ln>
        </p:spPr>
      </p:sp>
      <p:sp>
        <p:nvSpPr>
          <p:cNvPr id="24" name="Text 22"/>
          <p:cNvSpPr/>
          <p:nvPr/>
        </p:nvSpPr>
        <p:spPr>
          <a:xfrm>
            <a:off x="6492240" y="240487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1</a:t>
            </a:r>
            <a:endParaRPr lang="en-US" sz="1000" dirty="0"/>
          </a:p>
        </p:txBody>
      </p:sp>
      <p:sp>
        <p:nvSpPr>
          <p:cNvPr id="25" name="Text 23"/>
          <p:cNvSpPr/>
          <p:nvPr/>
        </p:nvSpPr>
        <p:spPr>
          <a:xfrm>
            <a:off x="6976872" y="2377440"/>
            <a:ext cx="4315968" cy="402336"/>
          </a:xfrm>
          <a:prstGeom prst="rect">
            <a:avLst/>
          </a:prstGeom>
          <a:noFill/>
          <a:ln/>
        </p:spPr>
        <p:txBody>
          <a:bodyPr wrap="square" lIns="0" tIns="0" rIns="0" bIns="0" rtlCol="0" anchor="ctr"/>
          <a:lstStyle/>
          <a:p>
            <a:pPr indent="0" marL="0">
              <a:buNone/>
            </a:pPr>
            <a:r>
              <a:rPr lang="en-US" sz="1150" dirty="0">
                <a:solidFill>
                  <a:srgbClr val="1A1636"/>
                </a:solidFill>
                <a:latin typeface="Meiryo" pitchFamily="34" charset="0"/>
                <a:ea typeface="Meiryo" pitchFamily="34" charset="-122"/>
                <a:cs typeface="Meiryo" pitchFamily="34" charset="-120"/>
              </a:rPr>
              <a:t>椅子に座ったまま、判断だけを続ける</a:t>
            </a:r>
            <a:endParaRPr lang="en-US" sz="1150" dirty="0"/>
          </a:p>
        </p:txBody>
      </p:sp>
      <p:sp>
        <p:nvSpPr>
          <p:cNvPr id="26" name="Shape 24"/>
          <p:cNvSpPr/>
          <p:nvPr/>
        </p:nvSpPr>
        <p:spPr>
          <a:xfrm>
            <a:off x="6492240" y="2907792"/>
            <a:ext cx="329184" cy="329184"/>
          </a:xfrm>
          <a:prstGeom prst="ellipse">
            <a:avLst/>
          </a:prstGeom>
          <a:solidFill>
            <a:srgbClr val="FF6B5B"/>
          </a:solidFill>
          <a:ln w="12700">
            <a:solidFill>
              <a:srgbClr val="FF6B5B"/>
            </a:solidFill>
            <a:prstDash val="solid"/>
          </a:ln>
        </p:spPr>
      </p:sp>
      <p:sp>
        <p:nvSpPr>
          <p:cNvPr id="27" name="Text 25"/>
          <p:cNvSpPr/>
          <p:nvPr/>
        </p:nvSpPr>
        <p:spPr>
          <a:xfrm>
            <a:off x="6492240" y="290779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2</a:t>
            </a:r>
            <a:endParaRPr lang="en-US" sz="1000" dirty="0"/>
          </a:p>
        </p:txBody>
      </p:sp>
      <p:sp>
        <p:nvSpPr>
          <p:cNvPr id="28" name="Text 26"/>
          <p:cNvSpPr/>
          <p:nvPr/>
        </p:nvSpPr>
        <p:spPr>
          <a:xfrm>
            <a:off x="6976872" y="2880360"/>
            <a:ext cx="4315968" cy="402336"/>
          </a:xfrm>
          <a:prstGeom prst="rect">
            <a:avLst/>
          </a:prstGeom>
          <a:noFill/>
          <a:ln/>
        </p:spPr>
        <p:txBody>
          <a:bodyPr wrap="square" lIns="0" tIns="0" rIns="0" bIns="0" rtlCol="0" anchor="ctr"/>
          <a:lstStyle/>
          <a:p>
            <a:pPr indent="0" marL="0">
              <a:buNone/>
            </a:pPr>
            <a:r>
              <a:rPr lang="en-US" sz="1150" dirty="0">
                <a:solidFill>
                  <a:srgbClr val="1A1636"/>
                </a:solidFill>
                <a:latin typeface="Meiryo" pitchFamily="34" charset="0"/>
                <a:ea typeface="Meiryo" pitchFamily="34" charset="-122"/>
                <a:cs typeface="Meiryo" pitchFamily="34" charset="-120"/>
              </a:rPr>
              <a:t>筋肉はほとんど動かない</a:t>
            </a:r>
            <a:endParaRPr lang="en-US" sz="1150" dirty="0"/>
          </a:p>
        </p:txBody>
      </p:sp>
      <p:sp>
        <p:nvSpPr>
          <p:cNvPr id="29" name="Shape 27"/>
          <p:cNvSpPr/>
          <p:nvPr/>
        </p:nvSpPr>
        <p:spPr>
          <a:xfrm>
            <a:off x="6492240" y="3410712"/>
            <a:ext cx="329184" cy="329184"/>
          </a:xfrm>
          <a:prstGeom prst="ellipse">
            <a:avLst/>
          </a:prstGeom>
          <a:solidFill>
            <a:srgbClr val="FF6B5B"/>
          </a:solidFill>
          <a:ln w="12700">
            <a:solidFill>
              <a:srgbClr val="FF6B5B"/>
            </a:solidFill>
            <a:prstDash val="solid"/>
          </a:ln>
        </p:spPr>
      </p:sp>
      <p:sp>
        <p:nvSpPr>
          <p:cNvPr id="30" name="Text 28"/>
          <p:cNvSpPr/>
          <p:nvPr/>
        </p:nvSpPr>
        <p:spPr>
          <a:xfrm>
            <a:off x="6492240" y="341071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3</a:t>
            </a:r>
            <a:endParaRPr lang="en-US" sz="1000" dirty="0"/>
          </a:p>
        </p:txBody>
      </p:sp>
      <p:sp>
        <p:nvSpPr>
          <p:cNvPr id="31" name="Text 29"/>
          <p:cNvSpPr/>
          <p:nvPr/>
        </p:nvSpPr>
        <p:spPr>
          <a:xfrm>
            <a:off x="6976872" y="3383280"/>
            <a:ext cx="4315968" cy="402336"/>
          </a:xfrm>
          <a:prstGeom prst="rect">
            <a:avLst/>
          </a:prstGeom>
          <a:noFill/>
          <a:ln/>
        </p:spPr>
        <p:txBody>
          <a:bodyPr wrap="square" lIns="0" tIns="0" rIns="0" bIns="0" rtlCol="0" anchor="ctr"/>
          <a:lstStyle/>
          <a:p>
            <a:pPr indent="0" marL="0">
              <a:buNone/>
            </a:pPr>
            <a:r>
              <a:rPr lang="en-US" sz="1150" dirty="0">
                <a:solidFill>
                  <a:srgbClr val="1A1636"/>
                </a:solidFill>
                <a:latin typeface="Meiryo" pitchFamily="34" charset="0"/>
                <a:ea typeface="Meiryo" pitchFamily="34" charset="-122"/>
                <a:cs typeface="Meiryo" pitchFamily="34" charset="-120"/>
              </a:rPr>
              <a:t>だから疲労感が立ち上がってこない</a:t>
            </a:r>
            <a:endParaRPr lang="en-US" sz="1150" dirty="0"/>
          </a:p>
        </p:txBody>
      </p:sp>
      <p:sp>
        <p:nvSpPr>
          <p:cNvPr id="32" name="Shape 30"/>
          <p:cNvSpPr/>
          <p:nvPr/>
        </p:nvSpPr>
        <p:spPr>
          <a:xfrm>
            <a:off x="6492240" y="3950208"/>
            <a:ext cx="4800600" cy="438912"/>
          </a:xfrm>
          <a:prstGeom prst="roundRect">
            <a:avLst>
              <a:gd name="adj" fmla="val 20833"/>
            </a:avLst>
          </a:prstGeom>
          <a:solidFill>
            <a:srgbClr val="FFF1EF"/>
          </a:solidFill>
          <a:ln w="12700">
            <a:solidFill>
              <a:srgbClr val="FFF1EF"/>
            </a:solidFill>
            <a:prstDash val="solid"/>
          </a:ln>
        </p:spPr>
      </p:sp>
      <p:sp>
        <p:nvSpPr>
          <p:cNvPr id="33" name="Text 31"/>
          <p:cNvSpPr/>
          <p:nvPr/>
        </p:nvSpPr>
        <p:spPr>
          <a:xfrm>
            <a:off x="6675120" y="3950208"/>
            <a:ext cx="4434840" cy="438912"/>
          </a:xfrm>
          <a:prstGeom prst="rect">
            <a:avLst/>
          </a:prstGeom>
          <a:noFill/>
          <a:ln/>
        </p:spPr>
        <p:txBody>
          <a:bodyPr wrap="square" lIns="0" tIns="0" rIns="0" bIns="0" rtlCol="0" anchor="ctr"/>
          <a:lstStyle/>
          <a:p>
            <a:pPr indent="0" marL="0">
              <a:buNone/>
            </a:pPr>
            <a:r>
              <a:rPr lang="en-US" sz="1200" b="1" dirty="0">
                <a:solidFill>
                  <a:srgbClr val="B33A2C"/>
                </a:solidFill>
                <a:latin typeface="Meiryo" pitchFamily="34" charset="0"/>
                <a:ea typeface="Meiryo" pitchFamily="34" charset="-122"/>
                <a:cs typeface="Meiryo" pitchFamily="34" charset="-120"/>
              </a:rPr>
              <a:t>判断力だけが、静かに落ちていく</a:t>
            </a:r>
            <a:endParaRPr lang="en-US" sz="1200" dirty="0"/>
          </a:p>
        </p:txBody>
      </p:sp>
      <p:sp>
        <p:nvSpPr>
          <p:cNvPr id="34" name="Shape 32"/>
          <p:cNvSpPr/>
          <p:nvPr/>
        </p:nvSpPr>
        <p:spPr>
          <a:xfrm>
            <a:off x="548640" y="4800600"/>
            <a:ext cx="11064240" cy="1371600"/>
          </a:xfrm>
          <a:prstGeom prst="roundRect">
            <a:avLst>
              <a:gd name="adj" fmla="val 8000"/>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35" name="Text 33"/>
          <p:cNvSpPr/>
          <p:nvPr/>
        </p:nvSpPr>
        <p:spPr>
          <a:xfrm>
            <a:off x="914400" y="4983480"/>
            <a:ext cx="10332720" cy="384048"/>
          </a:xfrm>
          <a:prstGeom prst="rect">
            <a:avLst/>
          </a:prstGeom>
          <a:noFill/>
          <a:ln/>
        </p:spPr>
        <p:txBody>
          <a:bodyPr wrap="square" lIns="0" tIns="0" rIns="0" bIns="0" rtlCol="0" anchor="ctr"/>
          <a:lstStyle/>
          <a:p>
            <a:pPr indent="0" marL="0">
              <a:buNone/>
            </a:pPr>
            <a:r>
              <a:rPr lang="en-US" sz="1650" b="1" dirty="0">
                <a:solidFill>
                  <a:srgbClr val="FFFFFF"/>
                </a:solidFill>
                <a:latin typeface="Meiryo" pitchFamily="34" charset="0"/>
                <a:ea typeface="Meiryo" pitchFamily="34" charset="-122"/>
                <a:cs typeface="Meiryo" pitchFamily="34" charset="-120"/>
              </a:rPr>
              <a:t>つまり、体感として疲れていなくても、判断力が下がった時点で休む必要がある。</a:t>
            </a:r>
            <a:endParaRPr lang="en-US" sz="1650" dirty="0"/>
          </a:p>
        </p:txBody>
      </p:sp>
      <p:sp>
        <p:nvSpPr>
          <p:cNvPr id="36" name="Text 34"/>
          <p:cNvSpPr/>
          <p:nvPr/>
        </p:nvSpPr>
        <p:spPr>
          <a:xfrm>
            <a:off x="914400" y="5440680"/>
            <a:ext cx="10332720" cy="411480"/>
          </a:xfrm>
          <a:prstGeom prst="rect">
            <a:avLst/>
          </a:prstGeom>
          <a:noFill/>
          <a:ln/>
        </p:spPr>
        <p:txBody>
          <a:bodyPr wrap="square" lIns="0" tIns="0" rIns="0" bIns="0" rtlCol="0" anchor="ctr"/>
          <a:lstStyle/>
          <a:p>
            <a:pPr indent="0" marL="0">
              <a:buNone/>
            </a:pPr>
            <a:r>
              <a:rPr lang="en-US" sz="1250" dirty="0">
                <a:solidFill>
                  <a:srgbClr val="C9C2F2"/>
                </a:solidFill>
                <a:latin typeface="Meiryo" pitchFamily="34" charset="0"/>
                <a:ea typeface="Meiryo" pitchFamily="34" charset="-122"/>
                <a:cs typeface="Meiryo" pitchFamily="34" charset="-120"/>
              </a:rPr>
              <a:t>そうしないと、落ちていることに自分で気づかないまま意思決定をすることになる。──では、どうやって気づくのか。</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補足：気づき方——自覚の代わりになる2つのサイン</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「疲れた気がするか」は判断力とまったく相関しない。だから体の別のサインを見る（時間があれば触れる程度で）</a:t>
            </a:r>
            <a:endParaRPr lang="en-US" sz="1400" dirty="0"/>
          </a:p>
        </p:txBody>
      </p:sp>
      <p:sp>
        <p:nvSpPr>
          <p:cNvPr id="4" name="Shape 2"/>
          <p:cNvSpPr/>
          <p:nvPr/>
        </p:nvSpPr>
        <p:spPr>
          <a:xfrm>
            <a:off x="548640" y="1600200"/>
            <a:ext cx="5532120" cy="3794760"/>
          </a:xfrm>
          <a:prstGeom prst="roundRect">
            <a:avLst>
              <a:gd name="adj" fmla="val 2892"/>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841248" y="1819656"/>
            <a:ext cx="502920" cy="502920"/>
          </a:xfrm>
          <a:prstGeom prst="ellipse">
            <a:avLst/>
          </a:prstGeom>
          <a:solidFill>
            <a:srgbClr val="5B4BD6"/>
          </a:solidFill>
          <a:ln w="12700">
            <a:solidFill>
              <a:srgbClr val="5B4BD6"/>
            </a:solidFill>
            <a:prstDash val="solid"/>
          </a:ln>
        </p:spPr>
      </p:sp>
      <p:sp>
        <p:nvSpPr>
          <p:cNvPr id="6" name="Text 4"/>
          <p:cNvSpPr/>
          <p:nvPr/>
        </p:nvSpPr>
        <p:spPr>
          <a:xfrm>
            <a:off x="841248" y="181965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1</a:t>
            </a:r>
            <a:endParaRPr lang="en-US" sz="1500" dirty="0"/>
          </a:p>
        </p:txBody>
      </p:sp>
      <p:sp>
        <p:nvSpPr>
          <p:cNvPr id="7" name="Text 5"/>
          <p:cNvSpPr/>
          <p:nvPr/>
        </p:nvSpPr>
        <p:spPr>
          <a:xfrm>
            <a:off x="1481328" y="1819656"/>
            <a:ext cx="2926080" cy="502920"/>
          </a:xfrm>
          <a:prstGeom prst="rect">
            <a:avLst/>
          </a:prstGeom>
          <a:noFill/>
          <a:ln/>
        </p:spPr>
        <p:txBody>
          <a:bodyPr wrap="square" lIns="0" tIns="0" rIns="0" bIns="0" rtlCol="0" anchor="ctr"/>
          <a:lstStyle/>
          <a:p>
            <a:pPr indent="0" marL="0">
              <a:buNone/>
            </a:pPr>
            <a:r>
              <a:rPr lang="en-US" sz="1700" b="1" dirty="0">
                <a:solidFill>
                  <a:srgbClr val="1A1636"/>
                </a:solidFill>
                <a:latin typeface="Meiryo" pitchFamily="34" charset="0"/>
                <a:ea typeface="Meiryo" pitchFamily="34" charset="-122"/>
                <a:cs typeface="Meiryo" pitchFamily="34" charset="-120"/>
              </a:rPr>
              <a:t>瞳孔（ひとみ）が縮む</a:t>
            </a:r>
            <a:endParaRPr lang="en-US" sz="1700" dirty="0"/>
          </a:p>
        </p:txBody>
      </p:sp>
      <p:sp>
        <p:nvSpPr>
          <p:cNvPr id="8" name="Shape 6"/>
          <p:cNvSpPr/>
          <p:nvPr/>
        </p:nvSpPr>
        <p:spPr>
          <a:xfrm>
            <a:off x="4526280" y="1847088"/>
            <a:ext cx="1280160" cy="457200"/>
          </a:xfrm>
          <a:prstGeom prst="roundRect">
            <a:avLst>
              <a:gd name="adj" fmla="val 20000"/>
            </a:avLst>
          </a:prstGeom>
          <a:solidFill>
            <a:srgbClr val="5B4BD6"/>
          </a:solidFill>
          <a:ln w="12700">
            <a:solidFill>
              <a:srgbClr val="5B4BD6"/>
            </a:solidFill>
            <a:prstDash val="solid"/>
          </a:ln>
        </p:spPr>
      </p:sp>
      <p:sp>
        <p:nvSpPr>
          <p:cNvPr id="9" name="Text 7"/>
          <p:cNvSpPr/>
          <p:nvPr/>
        </p:nvSpPr>
        <p:spPr>
          <a:xfrm>
            <a:off x="4526280" y="1847088"/>
            <a:ext cx="128016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− 0.12 mm</a:t>
            </a:r>
            <a:endParaRPr lang="en-US" sz="1250" dirty="0"/>
          </a:p>
        </p:txBody>
      </p:sp>
      <p:pic>
        <p:nvPicPr>
          <p:cNvPr id="10" name="Image 0" descr="/home/claude/frames/pupil.jpg">    </p:cNvPr>
          <p:cNvPicPr>
            <a:picLocks noChangeAspect="1"/>
          </p:cNvPicPr>
          <p:nvPr/>
        </p:nvPicPr>
        <p:blipFill>
          <a:blip r:embed="rId1"/>
          <a:srcRect l="0" r="0" t="0" b="0"/>
          <a:stretch/>
        </p:blipFill>
        <p:spPr>
          <a:xfrm>
            <a:off x="822960" y="2468880"/>
            <a:ext cx="1874520" cy="2377440"/>
          </a:xfrm>
          <a:prstGeom prst="rect">
            <a:avLst/>
          </a:prstGeom>
        </p:spPr>
      </p:pic>
      <p:sp>
        <p:nvSpPr>
          <p:cNvPr id="11" name="Text 8"/>
          <p:cNvSpPr/>
          <p:nvPr/>
        </p:nvSpPr>
        <p:spPr>
          <a:xfrm>
            <a:off x="804672" y="4919472"/>
            <a:ext cx="2377440" cy="274320"/>
          </a:xfrm>
          <a:prstGeom prst="rect">
            <a:avLst/>
          </a:prstGeom>
          <a:noFill/>
          <a:ln/>
        </p:spPr>
        <p:txBody>
          <a:bodyPr wrap="square" lIns="0" tIns="0" rIns="0" bIns="0" rtlCol="0" anchor="t"/>
          <a:lstStyle/>
          <a:p>
            <a:pPr indent="0" marL="0">
              <a:buNone/>
            </a:pPr>
            <a:r>
              <a:rPr lang="en-US" sz="950" dirty="0">
                <a:solidFill>
                  <a:srgbClr val="6E6A85"/>
                </a:solidFill>
                <a:latin typeface="Meiryo" pitchFamily="34" charset="0"/>
                <a:ea typeface="Meiryo" pitchFamily="34" charset="-122"/>
                <a:cs typeface="Meiryo" pitchFamily="34" charset="-120"/>
              </a:rPr>
              <a:t>瞳孔径 × 判断の速度（r = −0.51）</a:t>
            </a:r>
            <a:endParaRPr lang="en-US" sz="950" dirty="0"/>
          </a:p>
        </p:txBody>
      </p:sp>
      <p:sp>
        <p:nvSpPr>
          <p:cNvPr id="12" name="Text 9"/>
          <p:cNvSpPr/>
          <p:nvPr/>
        </p:nvSpPr>
        <p:spPr>
          <a:xfrm>
            <a:off x="2971800" y="2514600"/>
            <a:ext cx="2926080" cy="777240"/>
          </a:xfrm>
          <a:prstGeom prst="rect">
            <a:avLst/>
          </a:prstGeom>
          <a:noFill/>
          <a:ln/>
        </p:spPr>
        <p:txBody>
          <a:bodyPr wrap="square" lIns="0" tIns="0" rIns="0" bIns="0" rtlCol="0" anchor="t"/>
          <a:lstStyle/>
          <a:p>
            <a:pPr indent="0" marL="0">
              <a:lnSpc>
                <a:spcPts val="1800"/>
              </a:lnSpc>
              <a:buNone/>
            </a:pPr>
            <a:r>
              <a:rPr lang="en-US" sz="1200" b="1" dirty="0">
                <a:solidFill>
                  <a:srgbClr val="1A1636"/>
                </a:solidFill>
                <a:latin typeface="Meiryo" pitchFamily="34" charset="0"/>
                <a:ea typeface="Meiryo" pitchFamily="34" charset="-122"/>
                <a:cs typeface="Meiryo" pitchFamily="34" charset="-120"/>
              </a:rPr>
              <a:t>縮んだ量が大きいほど、判断が遅くなり、精度も落ちる。</a:t>
            </a:r>
            <a:endParaRPr lang="en-US" sz="1200" dirty="0"/>
          </a:p>
        </p:txBody>
      </p:sp>
      <p:sp>
        <p:nvSpPr>
          <p:cNvPr id="13" name="Text 10"/>
          <p:cNvSpPr/>
          <p:nvPr/>
        </p:nvSpPr>
        <p:spPr>
          <a:xfrm>
            <a:off x="2971800" y="3337560"/>
            <a:ext cx="2926080" cy="1188720"/>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室内のデスクワークは明るさが変わらないので、瞳孔の変化がそのまま脳活動の目安になる。初心者もプロも、うまさに関係なく2時間で縮む。</a:t>
            </a:r>
            <a:endParaRPr lang="en-US" sz="1150" dirty="0"/>
          </a:p>
        </p:txBody>
      </p:sp>
      <p:sp>
        <p:nvSpPr>
          <p:cNvPr id="14" name="Text 11"/>
          <p:cNvSpPr/>
          <p:nvPr/>
        </p:nvSpPr>
        <p:spPr>
          <a:xfrm>
            <a:off x="2971800" y="4526280"/>
            <a:ext cx="2926080" cy="777240"/>
          </a:xfrm>
          <a:prstGeom prst="rect">
            <a:avLst/>
          </a:prstGeom>
          <a:noFill/>
          <a:ln/>
        </p:spPr>
        <p:txBody>
          <a:bodyPr wrap="square" lIns="0" tIns="0" rIns="0" bIns="0" rtlCol="0" anchor="t"/>
          <a:lstStyle/>
          <a:p>
            <a:pPr indent="0" marL="0">
              <a:lnSpc>
                <a:spcPts val="1400"/>
              </a:lnSpc>
              <a:buNone/>
            </a:pPr>
            <a:r>
              <a:rPr lang="en-US" sz="1000" dirty="0">
                <a:solidFill>
                  <a:srgbClr val="9B97AE"/>
                </a:solidFill>
                <a:latin typeface="Meiryo" pitchFamily="34" charset="0"/>
                <a:ea typeface="Meiryo" pitchFamily="34" charset="-122"/>
                <a:cs typeface="Meiryo" pitchFamily="34" charset="-120"/>
              </a:rPr>
              <a:t>※研究用のアイトラッカーは高価だが、PCカメラやスマホの視線機能への応用が期待されている。</a:t>
            </a:r>
            <a:endParaRPr lang="en-US" sz="1000" dirty="0"/>
          </a:p>
        </p:txBody>
      </p:sp>
      <p:sp>
        <p:nvSpPr>
          <p:cNvPr id="15" name="Shape 12"/>
          <p:cNvSpPr/>
          <p:nvPr/>
        </p:nvSpPr>
        <p:spPr>
          <a:xfrm>
            <a:off x="6355080" y="1600200"/>
            <a:ext cx="5257800" cy="3794760"/>
          </a:xfrm>
          <a:prstGeom prst="roundRect">
            <a:avLst>
              <a:gd name="adj" fmla="val 2892"/>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16" name="Shape 13"/>
          <p:cNvSpPr/>
          <p:nvPr/>
        </p:nvSpPr>
        <p:spPr>
          <a:xfrm>
            <a:off x="6647688" y="1819656"/>
            <a:ext cx="502920" cy="502920"/>
          </a:xfrm>
          <a:prstGeom prst="ellipse">
            <a:avLst/>
          </a:prstGeom>
          <a:solidFill>
            <a:srgbClr val="FF6B5B"/>
          </a:solidFill>
          <a:ln w="12700">
            <a:solidFill>
              <a:srgbClr val="FF6B5B"/>
            </a:solidFill>
            <a:prstDash val="solid"/>
          </a:ln>
        </p:spPr>
      </p:sp>
      <p:sp>
        <p:nvSpPr>
          <p:cNvPr id="17" name="Text 14"/>
          <p:cNvSpPr/>
          <p:nvPr/>
        </p:nvSpPr>
        <p:spPr>
          <a:xfrm>
            <a:off x="6647688" y="181965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2</a:t>
            </a:r>
            <a:endParaRPr lang="en-US" sz="1500" dirty="0"/>
          </a:p>
        </p:txBody>
      </p:sp>
      <p:sp>
        <p:nvSpPr>
          <p:cNvPr id="18" name="Text 15"/>
          <p:cNvSpPr/>
          <p:nvPr/>
        </p:nvSpPr>
        <p:spPr>
          <a:xfrm>
            <a:off x="7287768" y="1819656"/>
            <a:ext cx="2926080" cy="502920"/>
          </a:xfrm>
          <a:prstGeom prst="rect">
            <a:avLst/>
          </a:prstGeom>
          <a:noFill/>
          <a:ln/>
        </p:spPr>
        <p:txBody>
          <a:bodyPr wrap="square" lIns="0" tIns="0" rIns="0" bIns="0" rtlCol="0" anchor="ctr"/>
          <a:lstStyle/>
          <a:p>
            <a:pPr indent="0" marL="0">
              <a:buNone/>
            </a:pPr>
            <a:r>
              <a:rPr lang="en-US" sz="1700" b="1" dirty="0">
                <a:solidFill>
                  <a:srgbClr val="1A1636"/>
                </a:solidFill>
                <a:latin typeface="Meiryo" pitchFamily="34" charset="0"/>
                <a:ea typeface="Meiryo" pitchFamily="34" charset="-122"/>
                <a:cs typeface="Meiryo" pitchFamily="34" charset="-120"/>
              </a:rPr>
              <a:t>指先と鼻が、冷たくなる</a:t>
            </a:r>
            <a:endParaRPr lang="en-US" sz="1700" dirty="0"/>
          </a:p>
        </p:txBody>
      </p:sp>
      <p:sp>
        <p:nvSpPr>
          <p:cNvPr id="19" name="Shape 16"/>
          <p:cNvSpPr/>
          <p:nvPr/>
        </p:nvSpPr>
        <p:spPr>
          <a:xfrm>
            <a:off x="10058400" y="1847088"/>
            <a:ext cx="1280160" cy="457200"/>
          </a:xfrm>
          <a:prstGeom prst="roundRect">
            <a:avLst>
              <a:gd name="adj" fmla="val 20000"/>
            </a:avLst>
          </a:prstGeom>
          <a:solidFill>
            <a:srgbClr val="FF6B5B"/>
          </a:solidFill>
          <a:ln w="12700">
            <a:solidFill>
              <a:srgbClr val="FF6B5B"/>
            </a:solidFill>
            <a:prstDash val="solid"/>
          </a:ln>
        </p:spPr>
      </p:sp>
      <p:sp>
        <p:nvSpPr>
          <p:cNvPr id="20" name="Text 17"/>
          <p:cNvSpPr/>
          <p:nvPr/>
        </p:nvSpPr>
        <p:spPr>
          <a:xfrm>
            <a:off x="10058400" y="1847088"/>
            <a:ext cx="128016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− 2 ℃</a:t>
            </a:r>
            <a:endParaRPr lang="en-US" sz="1250" dirty="0"/>
          </a:p>
        </p:txBody>
      </p:sp>
      <p:pic>
        <p:nvPicPr>
          <p:cNvPr id="21" name="Image 1" descr="/home/claude/frames/thermo.jpg">    </p:cNvPr>
          <p:cNvPicPr>
            <a:picLocks noChangeAspect="1"/>
          </p:cNvPicPr>
          <p:nvPr/>
        </p:nvPicPr>
        <p:blipFill>
          <a:blip r:embed="rId2"/>
          <a:srcRect l="0" r="0" t="0" b="0"/>
          <a:stretch/>
        </p:blipFill>
        <p:spPr>
          <a:xfrm>
            <a:off x="7068312" y="2468880"/>
            <a:ext cx="3840480" cy="2121408"/>
          </a:xfrm>
          <a:prstGeom prst="rect">
            <a:avLst/>
          </a:prstGeom>
        </p:spPr>
      </p:pic>
      <p:sp>
        <p:nvSpPr>
          <p:cNvPr id="22" name="Text 18"/>
          <p:cNvSpPr/>
          <p:nvPr/>
        </p:nvSpPr>
        <p:spPr>
          <a:xfrm>
            <a:off x="6675120" y="4645152"/>
            <a:ext cx="4617720" cy="256032"/>
          </a:xfrm>
          <a:prstGeom prst="rect">
            <a:avLst/>
          </a:prstGeom>
          <a:noFill/>
          <a:ln/>
        </p:spPr>
        <p:txBody>
          <a:bodyPr wrap="square" lIns="0" tIns="0" rIns="0" bIns="0" rtlCol="0" anchor="t"/>
          <a:lstStyle/>
          <a:p>
            <a:pPr algn="ctr" indent="0" marL="0">
              <a:buNone/>
            </a:pPr>
            <a:r>
              <a:rPr lang="en-US" sz="950" dirty="0">
                <a:solidFill>
                  <a:srgbClr val="6E6A85"/>
                </a:solidFill>
                <a:latin typeface="Meiryo" pitchFamily="34" charset="0"/>
                <a:ea typeface="Meiryo" pitchFamily="34" charset="-122"/>
                <a:cs typeface="Meiryo" pitchFamily="34" charset="-120"/>
              </a:rPr>
              <a:t>サーモグラフィ：プレイ前（Pre）／ 3時間後（Post）</a:t>
            </a:r>
            <a:endParaRPr lang="en-US" sz="950" dirty="0"/>
          </a:p>
        </p:txBody>
      </p:sp>
      <p:sp>
        <p:nvSpPr>
          <p:cNvPr id="23" name="Text 19"/>
          <p:cNvSpPr/>
          <p:nvPr/>
        </p:nvSpPr>
        <p:spPr>
          <a:xfrm>
            <a:off x="6675120" y="4956048"/>
            <a:ext cx="4617720" cy="457200"/>
          </a:xfrm>
          <a:prstGeom prst="rect">
            <a:avLst/>
          </a:prstGeom>
          <a:noFill/>
          <a:ln/>
        </p:spPr>
        <p:txBody>
          <a:bodyPr wrap="square" lIns="0" tIns="0" rIns="0" bIns="0" rtlCol="0" anchor="t"/>
          <a:lstStyle/>
          <a:p>
            <a:pPr indent="0" marL="0">
              <a:lnSpc>
                <a:spcPts val="1500"/>
              </a:lnSpc>
              <a:buNone/>
            </a:pPr>
            <a:r>
              <a:rPr lang="en-US" sz="1000" dirty="0">
                <a:solidFill>
                  <a:srgbClr val="6E6A85"/>
                </a:solidFill>
                <a:latin typeface="Meiryo" pitchFamily="34" charset="0"/>
                <a:ea typeface="Meiryo" pitchFamily="34" charset="-122"/>
                <a:cs typeface="Meiryo" pitchFamily="34" charset="-120"/>
              </a:rPr>
              <a:t>頭脳活動では筋肉が動かず熱が出ない。緊張で末梢の血管も縮むため、指先が冷える。鼻の温度は指とよく一致するので顔でも代用できる。</a:t>
            </a:r>
            <a:endParaRPr lang="en-US" sz="1000" dirty="0"/>
          </a:p>
        </p:txBody>
      </p:sp>
      <p:sp>
        <p:nvSpPr>
          <p:cNvPr id="24" name="Shape 20"/>
          <p:cNvSpPr/>
          <p:nvPr/>
        </p:nvSpPr>
        <p:spPr>
          <a:xfrm>
            <a:off x="548640" y="5532120"/>
            <a:ext cx="11064240" cy="868680"/>
          </a:xfrm>
          <a:prstGeom prst="roundRect">
            <a:avLst>
              <a:gd name="adj" fmla="val 12632"/>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25" name="Text 21"/>
          <p:cNvSpPr/>
          <p:nvPr/>
        </p:nvSpPr>
        <p:spPr>
          <a:xfrm>
            <a:off x="914400" y="5532120"/>
            <a:ext cx="10332720" cy="868680"/>
          </a:xfrm>
          <a:prstGeom prst="rect">
            <a:avLst/>
          </a:prstGeom>
          <a:noFill/>
          <a:ln/>
        </p:spPr>
        <p:txBody>
          <a:bodyPr wrap="square" lIns="0" tIns="0" rIns="0" bIns="0" rtlCol="0" anchor="ctr"/>
          <a:lstStyle/>
          <a:p>
            <a:pPr indent="0" marL="0">
              <a:buNone/>
            </a:pPr>
            <a:r>
              <a:rPr lang="en-US" sz="1550" b="1" dirty="0">
                <a:solidFill>
                  <a:srgbClr val="FFFFFF"/>
                </a:solidFill>
                <a:latin typeface="Meiryo" pitchFamily="34" charset="0"/>
                <a:ea typeface="Meiryo" pitchFamily="34" charset="-122"/>
                <a:cs typeface="Meiryo" pitchFamily="34" charset="-120"/>
              </a:rPr>
              <a:t>一方、「疲労感」と判断の速さには相関がない（r = 0.08, n.s.）。自覚ではなく、目と手先を見る。</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01A4C"/>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回復と予防は、この4要素</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9A8FF2"/>
                </a:solidFill>
                <a:latin typeface="Meiryo" pitchFamily="34" charset="0"/>
                <a:ea typeface="Meiryo" pitchFamily="34" charset="-122"/>
                <a:cs typeface="Meiryo" pitchFamily="34" charset="-120"/>
              </a:rPr>
              <a:t>気づいたあと、何をするか。特別な道具はいらない</a:t>
            </a:r>
            <a:endParaRPr lang="en-US" sz="1400" dirty="0"/>
          </a:p>
        </p:txBody>
      </p:sp>
      <p:sp>
        <p:nvSpPr>
          <p:cNvPr id="4" name="Shape 2"/>
          <p:cNvSpPr/>
          <p:nvPr/>
        </p:nvSpPr>
        <p:spPr>
          <a:xfrm>
            <a:off x="548640" y="2011680"/>
            <a:ext cx="2542032" cy="2377440"/>
          </a:xfrm>
          <a:prstGeom prst="roundRect">
            <a:avLst>
              <a:gd name="adj" fmla="val 5385"/>
            </a:avLst>
          </a:prstGeom>
          <a:solidFill>
            <a:srgbClr val="2E2668"/>
          </a:solidFill>
          <a:ln w="12700">
            <a:solidFill>
              <a:srgbClr val="40368C"/>
            </a:solidFill>
            <a:prstDash val="solid"/>
          </a:ln>
        </p:spPr>
      </p:sp>
      <p:sp>
        <p:nvSpPr>
          <p:cNvPr id="5" name="Shape 3"/>
          <p:cNvSpPr/>
          <p:nvPr/>
        </p:nvSpPr>
        <p:spPr>
          <a:xfrm>
            <a:off x="1545336" y="2286000"/>
            <a:ext cx="548640" cy="548640"/>
          </a:xfrm>
          <a:prstGeom prst="ellipse">
            <a:avLst/>
          </a:prstGeom>
          <a:solidFill>
            <a:srgbClr val="5346B8"/>
          </a:solidFill>
          <a:ln w="12700">
            <a:solidFill>
              <a:srgbClr val="5346B8"/>
            </a:solidFill>
            <a:prstDash val="solid"/>
          </a:ln>
        </p:spPr>
      </p:sp>
      <p:sp>
        <p:nvSpPr>
          <p:cNvPr id="6" name="Text 4"/>
          <p:cNvSpPr/>
          <p:nvPr/>
        </p:nvSpPr>
        <p:spPr>
          <a:xfrm>
            <a:off x="1545336"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7" name="Text 5"/>
          <p:cNvSpPr/>
          <p:nvPr/>
        </p:nvSpPr>
        <p:spPr>
          <a:xfrm>
            <a:off x="731520" y="2980944"/>
            <a:ext cx="2176272"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Meiryo" pitchFamily="34" charset="0"/>
                <a:ea typeface="Meiryo" pitchFamily="34" charset="-122"/>
                <a:cs typeface="Meiryo" pitchFamily="34" charset="-120"/>
              </a:rPr>
              <a:t>運動</a:t>
            </a:r>
            <a:endParaRPr lang="en-US" sz="2200" dirty="0"/>
          </a:p>
        </p:txBody>
      </p:sp>
      <p:sp>
        <p:nvSpPr>
          <p:cNvPr id="8" name="Text 6"/>
          <p:cNvSpPr/>
          <p:nvPr/>
        </p:nvSpPr>
        <p:spPr>
          <a:xfrm>
            <a:off x="731520" y="3438144"/>
            <a:ext cx="2176272" cy="274320"/>
          </a:xfrm>
          <a:prstGeom prst="rect">
            <a:avLst/>
          </a:prstGeom>
          <a:noFill/>
          <a:ln/>
        </p:spPr>
        <p:txBody>
          <a:bodyPr wrap="square" lIns="0" tIns="0" rIns="0" bIns="0" rtlCol="0" anchor="t"/>
          <a:lstStyle/>
          <a:p>
            <a:pPr algn="ctr" indent="0" marL="0">
              <a:buNone/>
            </a:pPr>
            <a:r>
              <a:rPr lang="en-US" sz="1250" b="1" dirty="0">
                <a:solidFill>
                  <a:srgbClr val="9A8FF2"/>
                </a:solidFill>
                <a:latin typeface="Meiryo" pitchFamily="34" charset="0"/>
                <a:ea typeface="Meiryo" pitchFamily="34" charset="-122"/>
                <a:cs typeface="Meiryo" pitchFamily="34" charset="-120"/>
              </a:rPr>
              <a:t>1分でいい</a:t>
            </a:r>
            <a:endParaRPr lang="en-US" sz="1250" dirty="0"/>
          </a:p>
        </p:txBody>
      </p:sp>
      <p:sp>
        <p:nvSpPr>
          <p:cNvPr id="9" name="Text 7"/>
          <p:cNvSpPr/>
          <p:nvPr/>
        </p:nvSpPr>
        <p:spPr>
          <a:xfrm>
            <a:off x="777240" y="3803904"/>
            <a:ext cx="2084832" cy="502920"/>
          </a:xfrm>
          <a:prstGeom prst="rect">
            <a:avLst/>
          </a:prstGeom>
          <a:noFill/>
          <a:ln/>
        </p:spPr>
        <p:txBody>
          <a:bodyPr wrap="square" lIns="0" tIns="0" rIns="0" bIns="0" rtlCol="0" anchor="t"/>
          <a:lstStyle/>
          <a:p>
            <a:pPr algn="ctr" indent="0" marL="0">
              <a:lnSpc>
                <a:spcPts val="1500"/>
              </a:lnSpc>
              <a:buNone/>
            </a:pPr>
            <a:r>
              <a:rPr lang="en-US" sz="1100" dirty="0">
                <a:solidFill>
                  <a:srgbClr val="C9C2F2"/>
                </a:solidFill>
                <a:latin typeface="Meiryo" pitchFamily="34" charset="0"/>
                <a:ea typeface="Meiryo" pitchFamily="34" charset="-122"/>
                <a:cs typeface="Meiryo" pitchFamily="34" charset="-120"/>
              </a:rPr>
              <a:t>7秒ダッシュ×3セットでも脳の活動は上がる</a:t>
            </a:r>
            <a:endParaRPr lang="en-US" sz="1100" dirty="0"/>
          </a:p>
        </p:txBody>
      </p:sp>
      <p:sp>
        <p:nvSpPr>
          <p:cNvPr id="10" name="Shape 8"/>
          <p:cNvSpPr/>
          <p:nvPr/>
        </p:nvSpPr>
        <p:spPr>
          <a:xfrm>
            <a:off x="3364992" y="2011680"/>
            <a:ext cx="2542032" cy="2377440"/>
          </a:xfrm>
          <a:prstGeom prst="roundRect">
            <a:avLst>
              <a:gd name="adj" fmla="val 5385"/>
            </a:avLst>
          </a:prstGeom>
          <a:solidFill>
            <a:srgbClr val="2E2668"/>
          </a:solidFill>
          <a:ln w="12700">
            <a:solidFill>
              <a:srgbClr val="40368C"/>
            </a:solidFill>
            <a:prstDash val="solid"/>
          </a:ln>
        </p:spPr>
      </p:sp>
      <p:sp>
        <p:nvSpPr>
          <p:cNvPr id="11" name="Shape 9"/>
          <p:cNvSpPr/>
          <p:nvPr/>
        </p:nvSpPr>
        <p:spPr>
          <a:xfrm>
            <a:off x="4361688" y="2286000"/>
            <a:ext cx="548640" cy="548640"/>
          </a:xfrm>
          <a:prstGeom prst="ellipse">
            <a:avLst/>
          </a:prstGeom>
          <a:solidFill>
            <a:srgbClr val="5346B8"/>
          </a:solidFill>
          <a:ln w="12700">
            <a:solidFill>
              <a:srgbClr val="5346B8"/>
            </a:solidFill>
            <a:prstDash val="solid"/>
          </a:ln>
        </p:spPr>
      </p:sp>
      <p:sp>
        <p:nvSpPr>
          <p:cNvPr id="12" name="Text 10"/>
          <p:cNvSpPr/>
          <p:nvPr/>
        </p:nvSpPr>
        <p:spPr>
          <a:xfrm>
            <a:off x="4361688"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3" name="Text 11"/>
          <p:cNvSpPr/>
          <p:nvPr/>
        </p:nvSpPr>
        <p:spPr>
          <a:xfrm>
            <a:off x="3547872" y="2980944"/>
            <a:ext cx="2176272"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Meiryo" pitchFamily="34" charset="0"/>
                <a:ea typeface="Meiryo" pitchFamily="34" charset="-122"/>
                <a:cs typeface="Meiryo" pitchFamily="34" charset="-120"/>
              </a:rPr>
              <a:t>栄養</a:t>
            </a:r>
            <a:endParaRPr lang="en-US" sz="2200" dirty="0"/>
          </a:p>
        </p:txBody>
      </p:sp>
      <p:sp>
        <p:nvSpPr>
          <p:cNvPr id="14" name="Text 12"/>
          <p:cNvSpPr/>
          <p:nvPr/>
        </p:nvSpPr>
        <p:spPr>
          <a:xfrm>
            <a:off x="3547872" y="3438144"/>
            <a:ext cx="2176272" cy="274320"/>
          </a:xfrm>
          <a:prstGeom prst="rect">
            <a:avLst/>
          </a:prstGeom>
          <a:noFill/>
          <a:ln/>
        </p:spPr>
        <p:txBody>
          <a:bodyPr wrap="square" lIns="0" tIns="0" rIns="0" bIns="0" rtlCol="0" anchor="t"/>
          <a:lstStyle/>
          <a:p>
            <a:pPr algn="ctr" indent="0" marL="0">
              <a:buNone/>
            </a:pPr>
            <a:r>
              <a:rPr lang="en-US" sz="1250" b="1" dirty="0">
                <a:solidFill>
                  <a:srgbClr val="9A8FF2"/>
                </a:solidFill>
                <a:latin typeface="Meiryo" pitchFamily="34" charset="0"/>
                <a:ea typeface="Meiryo" pitchFamily="34" charset="-122"/>
                <a:cs typeface="Meiryo" pitchFamily="34" charset="-120"/>
              </a:rPr>
              <a:t>朝プロテイン</a:t>
            </a:r>
            <a:endParaRPr lang="en-US" sz="1250" dirty="0"/>
          </a:p>
        </p:txBody>
      </p:sp>
      <p:sp>
        <p:nvSpPr>
          <p:cNvPr id="15" name="Text 13"/>
          <p:cNvSpPr/>
          <p:nvPr/>
        </p:nvSpPr>
        <p:spPr>
          <a:xfrm>
            <a:off x="3593592" y="3803904"/>
            <a:ext cx="2084832" cy="502920"/>
          </a:xfrm>
          <a:prstGeom prst="rect">
            <a:avLst/>
          </a:prstGeom>
          <a:noFill/>
          <a:ln/>
        </p:spPr>
        <p:txBody>
          <a:bodyPr wrap="square" lIns="0" tIns="0" rIns="0" bIns="0" rtlCol="0" anchor="t"/>
          <a:lstStyle/>
          <a:p>
            <a:pPr algn="ctr" indent="0" marL="0">
              <a:lnSpc>
                <a:spcPts val="1500"/>
              </a:lnSpc>
              <a:buNone/>
            </a:pPr>
            <a:r>
              <a:rPr lang="en-US" sz="1100" dirty="0">
                <a:solidFill>
                  <a:srgbClr val="C9C2F2"/>
                </a:solidFill>
                <a:latin typeface="Meiryo" pitchFamily="34" charset="0"/>
                <a:ea typeface="Meiryo" pitchFamily="34" charset="-122"/>
                <a:cs typeface="Meiryo" pitchFamily="34" charset="-120"/>
              </a:rPr>
              <a:t>その日の午前中のパフォーマンスが変わる</a:t>
            </a:r>
            <a:endParaRPr lang="en-US" sz="1100" dirty="0"/>
          </a:p>
        </p:txBody>
      </p:sp>
      <p:sp>
        <p:nvSpPr>
          <p:cNvPr id="16" name="Shape 14"/>
          <p:cNvSpPr/>
          <p:nvPr/>
        </p:nvSpPr>
        <p:spPr>
          <a:xfrm>
            <a:off x="6181344" y="2011680"/>
            <a:ext cx="2542032" cy="2377440"/>
          </a:xfrm>
          <a:prstGeom prst="roundRect">
            <a:avLst>
              <a:gd name="adj" fmla="val 5385"/>
            </a:avLst>
          </a:prstGeom>
          <a:solidFill>
            <a:srgbClr val="2E2668"/>
          </a:solidFill>
          <a:ln w="12700">
            <a:solidFill>
              <a:srgbClr val="40368C"/>
            </a:solidFill>
            <a:prstDash val="solid"/>
          </a:ln>
        </p:spPr>
      </p:sp>
      <p:sp>
        <p:nvSpPr>
          <p:cNvPr id="17" name="Shape 15"/>
          <p:cNvSpPr/>
          <p:nvPr/>
        </p:nvSpPr>
        <p:spPr>
          <a:xfrm>
            <a:off x="7178040" y="2286000"/>
            <a:ext cx="548640" cy="548640"/>
          </a:xfrm>
          <a:prstGeom prst="ellipse">
            <a:avLst/>
          </a:prstGeom>
          <a:solidFill>
            <a:srgbClr val="5346B8"/>
          </a:solidFill>
          <a:ln w="12700">
            <a:solidFill>
              <a:srgbClr val="5346B8"/>
            </a:solidFill>
            <a:prstDash val="solid"/>
          </a:ln>
        </p:spPr>
      </p:sp>
      <p:sp>
        <p:nvSpPr>
          <p:cNvPr id="18" name="Text 16"/>
          <p:cNvSpPr/>
          <p:nvPr/>
        </p:nvSpPr>
        <p:spPr>
          <a:xfrm>
            <a:off x="7178040"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19" name="Text 17"/>
          <p:cNvSpPr/>
          <p:nvPr/>
        </p:nvSpPr>
        <p:spPr>
          <a:xfrm>
            <a:off x="6364224" y="2980944"/>
            <a:ext cx="2176272"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Meiryo" pitchFamily="34" charset="0"/>
                <a:ea typeface="Meiryo" pitchFamily="34" charset="-122"/>
                <a:cs typeface="Meiryo" pitchFamily="34" charset="-120"/>
              </a:rPr>
              <a:t>休養</a:t>
            </a:r>
            <a:endParaRPr lang="en-US" sz="2200" dirty="0"/>
          </a:p>
        </p:txBody>
      </p:sp>
      <p:sp>
        <p:nvSpPr>
          <p:cNvPr id="20" name="Text 18"/>
          <p:cNvSpPr/>
          <p:nvPr/>
        </p:nvSpPr>
        <p:spPr>
          <a:xfrm>
            <a:off x="6364224" y="3438144"/>
            <a:ext cx="2176272" cy="274320"/>
          </a:xfrm>
          <a:prstGeom prst="rect">
            <a:avLst/>
          </a:prstGeom>
          <a:noFill/>
          <a:ln/>
        </p:spPr>
        <p:txBody>
          <a:bodyPr wrap="square" lIns="0" tIns="0" rIns="0" bIns="0" rtlCol="0" anchor="t"/>
          <a:lstStyle/>
          <a:p>
            <a:pPr algn="ctr" indent="0" marL="0">
              <a:buNone/>
            </a:pPr>
            <a:r>
              <a:rPr lang="en-US" sz="1250" b="1" dirty="0">
                <a:solidFill>
                  <a:srgbClr val="9A8FF2"/>
                </a:solidFill>
                <a:latin typeface="Meiryo" pitchFamily="34" charset="0"/>
                <a:ea typeface="Meiryo" pitchFamily="34" charset="-122"/>
                <a:cs typeface="Meiryo" pitchFamily="34" charset="-120"/>
              </a:rPr>
              <a:t>早めに、短く</a:t>
            </a:r>
            <a:endParaRPr lang="en-US" sz="1250" dirty="0"/>
          </a:p>
        </p:txBody>
      </p:sp>
      <p:sp>
        <p:nvSpPr>
          <p:cNvPr id="21" name="Text 19"/>
          <p:cNvSpPr/>
          <p:nvPr/>
        </p:nvSpPr>
        <p:spPr>
          <a:xfrm>
            <a:off x="6409944" y="3803904"/>
            <a:ext cx="2084832" cy="502920"/>
          </a:xfrm>
          <a:prstGeom prst="rect">
            <a:avLst/>
          </a:prstGeom>
          <a:noFill/>
          <a:ln/>
        </p:spPr>
        <p:txBody>
          <a:bodyPr wrap="square" lIns="0" tIns="0" rIns="0" bIns="0" rtlCol="0" anchor="t"/>
          <a:lstStyle/>
          <a:p>
            <a:pPr algn="ctr" indent="0" marL="0">
              <a:lnSpc>
                <a:spcPts val="1500"/>
              </a:lnSpc>
              <a:buNone/>
            </a:pPr>
            <a:r>
              <a:rPr lang="en-US" sz="1100" dirty="0">
                <a:solidFill>
                  <a:srgbClr val="C9C2F2"/>
                </a:solidFill>
                <a:latin typeface="Meiryo" pitchFamily="34" charset="0"/>
                <a:ea typeface="Meiryo" pitchFamily="34" charset="-122"/>
                <a:cs typeface="Meiryo" pitchFamily="34" charset="-120"/>
              </a:rPr>
              <a:t>自覚を待たず、時間と合図で区切る</a:t>
            </a:r>
            <a:endParaRPr lang="en-US" sz="1100" dirty="0"/>
          </a:p>
        </p:txBody>
      </p:sp>
      <p:sp>
        <p:nvSpPr>
          <p:cNvPr id="22" name="Shape 20"/>
          <p:cNvSpPr/>
          <p:nvPr/>
        </p:nvSpPr>
        <p:spPr>
          <a:xfrm>
            <a:off x="8997696" y="2011680"/>
            <a:ext cx="2542032" cy="2377440"/>
          </a:xfrm>
          <a:prstGeom prst="roundRect">
            <a:avLst>
              <a:gd name="adj" fmla="val 5385"/>
            </a:avLst>
          </a:prstGeom>
          <a:solidFill>
            <a:srgbClr val="2E2668"/>
          </a:solidFill>
          <a:ln w="12700">
            <a:solidFill>
              <a:srgbClr val="40368C"/>
            </a:solidFill>
            <a:prstDash val="solid"/>
          </a:ln>
        </p:spPr>
      </p:sp>
      <p:sp>
        <p:nvSpPr>
          <p:cNvPr id="23" name="Shape 21"/>
          <p:cNvSpPr/>
          <p:nvPr/>
        </p:nvSpPr>
        <p:spPr>
          <a:xfrm>
            <a:off x="9994392" y="2286000"/>
            <a:ext cx="548640" cy="548640"/>
          </a:xfrm>
          <a:prstGeom prst="ellipse">
            <a:avLst/>
          </a:prstGeom>
          <a:solidFill>
            <a:srgbClr val="5346B8"/>
          </a:solidFill>
          <a:ln w="12700">
            <a:solidFill>
              <a:srgbClr val="5346B8"/>
            </a:solidFill>
            <a:prstDash val="solid"/>
          </a:ln>
        </p:spPr>
      </p:sp>
      <p:sp>
        <p:nvSpPr>
          <p:cNvPr id="24" name="Text 22"/>
          <p:cNvSpPr/>
          <p:nvPr/>
        </p:nvSpPr>
        <p:spPr>
          <a:xfrm>
            <a:off x="9994392"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4</a:t>
            </a:r>
            <a:endParaRPr lang="en-US" sz="1600" dirty="0"/>
          </a:p>
        </p:txBody>
      </p:sp>
      <p:sp>
        <p:nvSpPr>
          <p:cNvPr id="25" name="Text 23"/>
          <p:cNvSpPr/>
          <p:nvPr/>
        </p:nvSpPr>
        <p:spPr>
          <a:xfrm>
            <a:off x="9180576" y="2980944"/>
            <a:ext cx="2176272"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Meiryo" pitchFamily="34" charset="0"/>
                <a:ea typeface="Meiryo" pitchFamily="34" charset="-122"/>
                <a:cs typeface="Meiryo" pitchFamily="34" charset="-120"/>
              </a:rPr>
              <a:t>絆</a:t>
            </a:r>
            <a:endParaRPr lang="en-US" sz="2200" dirty="0"/>
          </a:p>
        </p:txBody>
      </p:sp>
      <p:sp>
        <p:nvSpPr>
          <p:cNvPr id="26" name="Text 24"/>
          <p:cNvSpPr/>
          <p:nvPr/>
        </p:nvSpPr>
        <p:spPr>
          <a:xfrm>
            <a:off x="9180576" y="3438144"/>
            <a:ext cx="2176272" cy="274320"/>
          </a:xfrm>
          <a:prstGeom prst="rect">
            <a:avLst/>
          </a:prstGeom>
          <a:noFill/>
          <a:ln/>
        </p:spPr>
        <p:txBody>
          <a:bodyPr wrap="square" lIns="0" tIns="0" rIns="0" bIns="0" rtlCol="0" anchor="t"/>
          <a:lstStyle/>
          <a:p>
            <a:pPr algn="ctr" indent="0" marL="0">
              <a:buNone/>
            </a:pPr>
            <a:r>
              <a:rPr lang="en-US" sz="1250" b="1" dirty="0">
                <a:solidFill>
                  <a:srgbClr val="9A8FF2"/>
                </a:solidFill>
                <a:latin typeface="Meiryo" pitchFamily="34" charset="0"/>
                <a:ea typeface="Meiryo" pitchFamily="34" charset="-122"/>
                <a:cs typeface="Meiryo" pitchFamily="34" charset="-120"/>
              </a:rPr>
              <a:t>一緒にやる</a:t>
            </a:r>
            <a:endParaRPr lang="en-US" sz="1250" dirty="0"/>
          </a:p>
        </p:txBody>
      </p:sp>
      <p:sp>
        <p:nvSpPr>
          <p:cNvPr id="27" name="Text 25"/>
          <p:cNvSpPr/>
          <p:nvPr/>
        </p:nvSpPr>
        <p:spPr>
          <a:xfrm>
            <a:off x="9226296" y="3803904"/>
            <a:ext cx="2084832" cy="502920"/>
          </a:xfrm>
          <a:prstGeom prst="rect">
            <a:avLst/>
          </a:prstGeom>
          <a:noFill/>
          <a:ln/>
        </p:spPr>
        <p:txBody>
          <a:bodyPr wrap="square" lIns="0" tIns="0" rIns="0" bIns="0" rtlCol="0" anchor="t"/>
          <a:lstStyle/>
          <a:p>
            <a:pPr algn="ctr" indent="0" marL="0">
              <a:lnSpc>
                <a:spcPts val="1500"/>
              </a:lnSpc>
              <a:buNone/>
            </a:pPr>
            <a:r>
              <a:rPr lang="en-US" sz="1100" dirty="0">
                <a:solidFill>
                  <a:srgbClr val="C9C2F2"/>
                </a:solidFill>
                <a:latin typeface="Meiryo" pitchFamily="34" charset="0"/>
                <a:ea typeface="Meiryo" pitchFamily="34" charset="-122"/>
                <a:cs typeface="Meiryo" pitchFamily="34" charset="-120"/>
              </a:rPr>
              <a:t>疲労と楽しさはトレードオフ。仲間がいると軽くなる</a:t>
            </a:r>
            <a:endParaRPr lang="en-US" sz="1100" dirty="0"/>
          </a:p>
        </p:txBody>
      </p:sp>
      <p:sp>
        <p:nvSpPr>
          <p:cNvPr id="28" name="Shape 26"/>
          <p:cNvSpPr/>
          <p:nvPr/>
        </p:nvSpPr>
        <p:spPr>
          <a:xfrm>
            <a:off x="548640" y="4754880"/>
            <a:ext cx="11064240" cy="1371600"/>
          </a:xfrm>
          <a:prstGeom prst="roundRect">
            <a:avLst>
              <a:gd name="adj" fmla="val 9333"/>
            </a:avLst>
          </a:prstGeom>
          <a:solidFill>
            <a:srgbClr val="5B4BD6"/>
          </a:solidFill>
          <a:ln w="12700">
            <a:solidFill>
              <a:srgbClr val="5B4BD6"/>
            </a:solidFill>
            <a:prstDash val="solid"/>
          </a:ln>
          <a:effectLst>
            <a:outerShdw sx="100000" sy="100000" kx="0" ky="0" algn="bl" rotWithShape="0" blurRad="152400" dist="25400" dir="5400000">
              <a:srgbClr val="1A1636">
                <a:alpha val="12000"/>
              </a:srgbClr>
            </a:outerShdw>
          </a:effectLst>
        </p:spPr>
      </p:sp>
      <p:sp>
        <p:nvSpPr>
          <p:cNvPr id="29" name="Text 27"/>
          <p:cNvSpPr/>
          <p:nvPr/>
        </p:nvSpPr>
        <p:spPr>
          <a:xfrm>
            <a:off x="914400" y="4892040"/>
            <a:ext cx="10332720" cy="41148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今日はこの先、いちばん手軽で意外だった「無糖の炭酸水」を深掘りします</a:t>
            </a:r>
            <a:endParaRPr lang="en-US" sz="1900" dirty="0"/>
          </a:p>
        </p:txBody>
      </p:sp>
      <p:sp>
        <p:nvSpPr>
          <p:cNvPr id="30" name="Text 28"/>
          <p:cNvSpPr/>
          <p:nvPr/>
        </p:nvSpPr>
        <p:spPr>
          <a:xfrm>
            <a:off x="914400" y="5394960"/>
            <a:ext cx="10332720" cy="365760"/>
          </a:xfrm>
          <a:prstGeom prst="rect">
            <a:avLst/>
          </a:prstGeom>
          <a:noFill/>
          <a:ln/>
        </p:spPr>
        <p:txBody>
          <a:bodyPr wrap="square" lIns="0" tIns="0" rIns="0" bIns="0" rtlCol="0" anchor="ctr"/>
          <a:lstStyle/>
          <a:p>
            <a:pPr indent="0" marL="0">
              <a:buNone/>
            </a:pPr>
            <a:r>
              <a:rPr lang="en-US" sz="1300" dirty="0">
                <a:solidFill>
                  <a:srgbClr val="F0EDFF"/>
                </a:solidFill>
                <a:latin typeface="Meiryo" pitchFamily="34" charset="0"/>
                <a:ea typeface="Meiryo" pitchFamily="34" charset="-122"/>
                <a:cs typeface="Meiryo" pitchFamily="34" charset="-120"/>
              </a:rPr>
              <a:t>まずは「疲れた時、つい手が出るもの」を分解するところから。</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まず「疲れた時、つい手が出るもの」を分解する</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コーヒーやエナジードリンク。効くのは確かだけれど、毎日だと代償が大きい</a:t>
            </a:r>
            <a:endParaRPr lang="en-US" sz="1400" dirty="0"/>
          </a:p>
        </p:txBody>
      </p:sp>
      <p:sp>
        <p:nvSpPr>
          <p:cNvPr id="4" name="Text 2"/>
          <p:cNvSpPr/>
          <p:nvPr/>
        </p:nvSpPr>
        <p:spPr>
          <a:xfrm>
            <a:off x="548640" y="1737360"/>
            <a:ext cx="6949440" cy="274320"/>
          </a:xfrm>
          <a:prstGeom prst="rect">
            <a:avLst/>
          </a:prstGeom>
          <a:noFill/>
          <a:ln/>
        </p:spPr>
        <p:txBody>
          <a:bodyPr wrap="square" lIns="0" tIns="0" rIns="0" bIns="0" rtlCol="0" anchor="t"/>
          <a:lstStyle/>
          <a:p>
            <a:pPr indent="0" marL="0">
              <a:buNone/>
            </a:pPr>
            <a:r>
              <a:rPr lang="en-US" sz="1300" b="1" dirty="0">
                <a:solidFill>
                  <a:srgbClr val="6E6A85"/>
                </a:solidFill>
                <a:latin typeface="Meiryo" pitchFamily="34" charset="0"/>
                <a:ea typeface="Meiryo" pitchFamily="34" charset="-122"/>
                <a:cs typeface="Meiryo" pitchFamily="34" charset="-120"/>
              </a:rPr>
              <a:t>エナジードリンクの三大成分</a:t>
            </a:r>
            <a:endParaRPr lang="en-US" sz="1300" dirty="0"/>
          </a:p>
        </p:txBody>
      </p:sp>
      <p:sp>
        <p:nvSpPr>
          <p:cNvPr id="5" name="Shape 3"/>
          <p:cNvSpPr/>
          <p:nvPr/>
        </p:nvSpPr>
        <p:spPr>
          <a:xfrm>
            <a:off x="548640" y="2103120"/>
            <a:ext cx="6949440" cy="868680"/>
          </a:xfrm>
          <a:prstGeom prst="roundRect">
            <a:avLst>
              <a:gd name="adj" fmla="val 12632"/>
            </a:avLst>
          </a:prstGeom>
          <a:solidFill>
            <a:srgbClr val="FFFFFF"/>
          </a:solidFill>
          <a:ln w="12700">
            <a:solidFill>
              <a:srgbClr val="D9D7E6"/>
            </a:solidFill>
            <a:prstDash val="solid"/>
          </a:ln>
        </p:spPr>
      </p:sp>
      <p:sp>
        <p:nvSpPr>
          <p:cNvPr id="6" name="Shape 4"/>
          <p:cNvSpPr/>
          <p:nvPr/>
        </p:nvSpPr>
        <p:spPr>
          <a:xfrm>
            <a:off x="868680" y="2258568"/>
            <a:ext cx="548640" cy="548640"/>
          </a:xfrm>
          <a:prstGeom prst="ellipse">
            <a:avLst/>
          </a:prstGeom>
          <a:solidFill>
            <a:srgbClr val="FF6B5B"/>
          </a:solidFill>
          <a:ln w="12700">
            <a:solidFill>
              <a:srgbClr val="FF6B5B"/>
            </a:solidFill>
            <a:prstDash val="solid"/>
          </a:ln>
        </p:spPr>
      </p:sp>
      <p:sp>
        <p:nvSpPr>
          <p:cNvPr id="7" name="Text 5"/>
          <p:cNvSpPr/>
          <p:nvPr/>
        </p:nvSpPr>
        <p:spPr>
          <a:xfrm>
            <a:off x="868680" y="2258568"/>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a:t>
            </a:r>
            <a:endParaRPr lang="en-US" sz="1700" dirty="0"/>
          </a:p>
        </p:txBody>
      </p:sp>
      <p:sp>
        <p:nvSpPr>
          <p:cNvPr id="8" name="Text 6"/>
          <p:cNvSpPr/>
          <p:nvPr/>
        </p:nvSpPr>
        <p:spPr>
          <a:xfrm>
            <a:off x="1600200" y="2103120"/>
            <a:ext cx="1737360" cy="868680"/>
          </a:xfrm>
          <a:prstGeom prst="rect">
            <a:avLst/>
          </a:prstGeom>
          <a:noFill/>
          <a:ln/>
        </p:spPr>
        <p:txBody>
          <a:bodyPr wrap="square" lIns="0" tIns="0" rIns="0" bIns="0" rtlCol="0" anchor="ctr"/>
          <a:lstStyle/>
          <a:p>
            <a:pPr indent="0" marL="0">
              <a:buNone/>
            </a:pPr>
            <a:r>
              <a:rPr lang="en-US" sz="1500" b="1" dirty="0">
                <a:solidFill>
                  <a:srgbClr val="1A1636"/>
                </a:solidFill>
                <a:latin typeface="Meiryo" pitchFamily="34" charset="0"/>
                <a:ea typeface="Meiryo" pitchFamily="34" charset="-122"/>
                <a:cs typeface="Meiryo" pitchFamily="34" charset="-120"/>
              </a:rPr>
              <a:t>カフェイン</a:t>
            </a:r>
            <a:endParaRPr lang="en-US" sz="1500" dirty="0"/>
          </a:p>
        </p:txBody>
      </p:sp>
      <p:sp>
        <p:nvSpPr>
          <p:cNvPr id="9" name="Text 7"/>
          <p:cNvSpPr/>
          <p:nvPr/>
        </p:nvSpPr>
        <p:spPr>
          <a:xfrm>
            <a:off x="3401568" y="2103120"/>
            <a:ext cx="3913632" cy="868680"/>
          </a:xfrm>
          <a:prstGeom prst="rect">
            <a:avLst/>
          </a:prstGeom>
          <a:noFill/>
          <a:ln/>
        </p:spPr>
        <p:txBody>
          <a:bodyPr wrap="square" lIns="0" tIns="0" rIns="0" bIns="0" rtlCol="0" anchor="ctr"/>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毎日だと効かなくなり、量が増える。そして眠れなくなる。</a:t>
            </a:r>
            <a:endParaRPr lang="en-US" sz="1150" dirty="0"/>
          </a:p>
        </p:txBody>
      </p:sp>
      <p:sp>
        <p:nvSpPr>
          <p:cNvPr id="10" name="Shape 8"/>
          <p:cNvSpPr/>
          <p:nvPr/>
        </p:nvSpPr>
        <p:spPr>
          <a:xfrm>
            <a:off x="548640" y="3108960"/>
            <a:ext cx="6949440" cy="868680"/>
          </a:xfrm>
          <a:prstGeom prst="roundRect">
            <a:avLst>
              <a:gd name="adj" fmla="val 12632"/>
            </a:avLst>
          </a:prstGeom>
          <a:solidFill>
            <a:srgbClr val="FFFFFF"/>
          </a:solidFill>
          <a:ln w="12700">
            <a:solidFill>
              <a:srgbClr val="D9D7E6"/>
            </a:solidFill>
            <a:prstDash val="solid"/>
          </a:ln>
        </p:spPr>
      </p:sp>
      <p:sp>
        <p:nvSpPr>
          <p:cNvPr id="11" name="Shape 9"/>
          <p:cNvSpPr/>
          <p:nvPr/>
        </p:nvSpPr>
        <p:spPr>
          <a:xfrm>
            <a:off x="868680" y="3264408"/>
            <a:ext cx="548640" cy="548640"/>
          </a:xfrm>
          <a:prstGeom prst="ellipse">
            <a:avLst/>
          </a:prstGeom>
          <a:solidFill>
            <a:srgbClr val="FF6B5B"/>
          </a:solidFill>
          <a:ln w="12700">
            <a:solidFill>
              <a:srgbClr val="FF6B5B"/>
            </a:solidFill>
            <a:prstDash val="solid"/>
          </a:ln>
        </p:spPr>
      </p:sp>
      <p:sp>
        <p:nvSpPr>
          <p:cNvPr id="12" name="Text 10"/>
          <p:cNvSpPr/>
          <p:nvPr/>
        </p:nvSpPr>
        <p:spPr>
          <a:xfrm>
            <a:off x="868680" y="3264408"/>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a:t>
            </a:r>
            <a:endParaRPr lang="en-US" sz="1700" dirty="0"/>
          </a:p>
        </p:txBody>
      </p:sp>
      <p:sp>
        <p:nvSpPr>
          <p:cNvPr id="13" name="Text 11"/>
          <p:cNvSpPr/>
          <p:nvPr/>
        </p:nvSpPr>
        <p:spPr>
          <a:xfrm>
            <a:off x="1600200" y="3108960"/>
            <a:ext cx="1737360" cy="868680"/>
          </a:xfrm>
          <a:prstGeom prst="rect">
            <a:avLst/>
          </a:prstGeom>
          <a:noFill/>
          <a:ln/>
        </p:spPr>
        <p:txBody>
          <a:bodyPr wrap="square" lIns="0" tIns="0" rIns="0" bIns="0" rtlCol="0" anchor="ctr"/>
          <a:lstStyle/>
          <a:p>
            <a:pPr indent="0" marL="0">
              <a:buNone/>
            </a:pPr>
            <a:r>
              <a:rPr lang="en-US" sz="1500" b="1" dirty="0">
                <a:solidFill>
                  <a:srgbClr val="1A1636"/>
                </a:solidFill>
                <a:latin typeface="Meiryo" pitchFamily="34" charset="0"/>
                <a:ea typeface="Meiryo" pitchFamily="34" charset="-122"/>
                <a:cs typeface="Meiryo" pitchFamily="34" charset="-120"/>
              </a:rPr>
              <a:t>砂　糖</a:t>
            </a:r>
            <a:endParaRPr lang="en-US" sz="1500" dirty="0"/>
          </a:p>
        </p:txBody>
      </p:sp>
      <p:sp>
        <p:nvSpPr>
          <p:cNvPr id="14" name="Text 12"/>
          <p:cNvSpPr/>
          <p:nvPr/>
        </p:nvSpPr>
        <p:spPr>
          <a:xfrm>
            <a:off x="3401568" y="3108960"/>
            <a:ext cx="3913632" cy="868680"/>
          </a:xfrm>
          <a:prstGeom prst="rect">
            <a:avLst/>
          </a:prstGeom>
          <a:noFill/>
          <a:ln/>
        </p:spPr>
        <p:txBody>
          <a:bodyPr wrap="square" lIns="0" tIns="0" rIns="0" bIns="0" rtlCol="0" anchor="ctr"/>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取りすぎれば太る。血糖の乱高下も起きる。</a:t>
            </a:r>
            <a:endParaRPr lang="en-US" sz="1150" dirty="0"/>
          </a:p>
        </p:txBody>
      </p:sp>
      <p:sp>
        <p:nvSpPr>
          <p:cNvPr id="15" name="Shape 13"/>
          <p:cNvSpPr/>
          <p:nvPr/>
        </p:nvSpPr>
        <p:spPr>
          <a:xfrm>
            <a:off x="548640" y="4114800"/>
            <a:ext cx="6949440" cy="868680"/>
          </a:xfrm>
          <a:prstGeom prst="roundRect">
            <a:avLst>
              <a:gd name="adj" fmla="val 12632"/>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16" name="Shape 14"/>
          <p:cNvSpPr/>
          <p:nvPr/>
        </p:nvSpPr>
        <p:spPr>
          <a:xfrm>
            <a:off x="868680" y="4270248"/>
            <a:ext cx="548640" cy="548640"/>
          </a:xfrm>
          <a:prstGeom prst="ellipse">
            <a:avLst/>
          </a:prstGeom>
          <a:solidFill>
            <a:srgbClr val="5B4BD6"/>
          </a:solidFill>
          <a:ln w="12700">
            <a:solidFill>
              <a:srgbClr val="5B4BD6"/>
            </a:solidFill>
            <a:prstDash val="solid"/>
          </a:ln>
        </p:spPr>
      </p:sp>
      <p:sp>
        <p:nvSpPr>
          <p:cNvPr id="17" name="Text 15"/>
          <p:cNvSpPr/>
          <p:nvPr/>
        </p:nvSpPr>
        <p:spPr>
          <a:xfrm>
            <a:off x="868680" y="4270248"/>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a:t>
            </a:r>
            <a:endParaRPr lang="en-US" sz="1700" dirty="0"/>
          </a:p>
        </p:txBody>
      </p:sp>
      <p:sp>
        <p:nvSpPr>
          <p:cNvPr id="18" name="Text 16"/>
          <p:cNvSpPr/>
          <p:nvPr/>
        </p:nvSpPr>
        <p:spPr>
          <a:xfrm>
            <a:off x="1600200" y="4114800"/>
            <a:ext cx="1737360" cy="868680"/>
          </a:xfrm>
          <a:prstGeom prst="rect">
            <a:avLst/>
          </a:prstGeom>
          <a:noFill/>
          <a:ln/>
        </p:spPr>
        <p:txBody>
          <a:bodyPr wrap="square" lIns="0" tIns="0" rIns="0" bIns="0" rtlCol="0" anchor="ctr"/>
          <a:lstStyle/>
          <a:p>
            <a:pPr indent="0" marL="0">
              <a:buNone/>
            </a:pPr>
            <a:r>
              <a:rPr lang="en-US" sz="1500" b="1" dirty="0">
                <a:solidFill>
                  <a:srgbClr val="1A1636"/>
                </a:solidFill>
                <a:latin typeface="Meiryo" pitchFamily="34" charset="0"/>
                <a:ea typeface="Meiryo" pitchFamily="34" charset="-122"/>
                <a:cs typeface="Meiryo" pitchFamily="34" charset="-120"/>
              </a:rPr>
              <a:t>炭　酸</a:t>
            </a:r>
            <a:endParaRPr lang="en-US" sz="1500" dirty="0"/>
          </a:p>
        </p:txBody>
      </p:sp>
      <p:sp>
        <p:nvSpPr>
          <p:cNvPr id="19" name="Text 17"/>
          <p:cNvSpPr/>
          <p:nvPr/>
        </p:nvSpPr>
        <p:spPr>
          <a:xfrm>
            <a:off x="3401568" y="4114800"/>
            <a:ext cx="3913632" cy="868680"/>
          </a:xfrm>
          <a:prstGeom prst="rect">
            <a:avLst/>
          </a:prstGeom>
          <a:noFill/>
          <a:ln/>
        </p:spPr>
        <p:txBody>
          <a:bodyPr wrap="square" lIns="0" tIns="0" rIns="0" bIns="0" rtlCol="0" anchor="ctr"/>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カロリーゼロ。無糖の炭酸水なら、この成分だけを取り出せる。</a:t>
            </a:r>
            <a:endParaRPr lang="en-US" sz="1150" dirty="0"/>
          </a:p>
        </p:txBody>
      </p:sp>
      <p:sp>
        <p:nvSpPr>
          <p:cNvPr id="20" name="Shape 18"/>
          <p:cNvSpPr/>
          <p:nvPr/>
        </p:nvSpPr>
        <p:spPr>
          <a:xfrm>
            <a:off x="7772400" y="1737360"/>
            <a:ext cx="3840480" cy="3200400"/>
          </a:xfrm>
          <a:prstGeom prst="roundRect">
            <a:avLst>
              <a:gd name="adj" fmla="val 3429"/>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21" name="Text 19"/>
          <p:cNvSpPr/>
          <p:nvPr/>
        </p:nvSpPr>
        <p:spPr>
          <a:xfrm>
            <a:off x="8092440" y="2057400"/>
            <a:ext cx="3200400" cy="868680"/>
          </a:xfrm>
          <a:prstGeom prst="rect">
            <a:avLst/>
          </a:prstGeom>
          <a:noFill/>
          <a:ln/>
        </p:spPr>
        <p:txBody>
          <a:bodyPr wrap="square" lIns="0" tIns="0" rIns="0" bIns="0" rtlCol="0" anchor="t"/>
          <a:lstStyle/>
          <a:p>
            <a:pPr indent="0" marL="0">
              <a:lnSpc>
                <a:spcPts val="3200"/>
              </a:lnSpc>
              <a:buNone/>
            </a:pPr>
            <a:r>
              <a:rPr lang="en-US" sz="2400" b="1" dirty="0">
                <a:solidFill>
                  <a:srgbClr val="FFFFFF"/>
                </a:solidFill>
                <a:latin typeface="Meiryo" pitchFamily="34" charset="0"/>
                <a:ea typeface="Meiryo" pitchFamily="34" charset="-122"/>
                <a:cs typeface="Meiryo" pitchFamily="34" charset="-120"/>
              </a:rPr>
              <a:t>残ったのは</a:t>
            </a:r>
            <a:endParaRPr lang="en-US" sz="2400" dirty="0"/>
          </a:p>
          <a:p>
            <a:pPr indent="0" marL="0">
              <a:lnSpc>
                <a:spcPts val="3200"/>
              </a:lnSpc>
              <a:buNone/>
            </a:pPr>
            <a:r>
              <a:rPr lang="en-US" sz="2400" b="1" dirty="0">
                <a:solidFill>
                  <a:srgbClr val="FFFFFF"/>
                </a:solidFill>
                <a:latin typeface="Meiryo" pitchFamily="34" charset="0"/>
                <a:ea typeface="Meiryo" pitchFamily="34" charset="-122"/>
                <a:cs typeface="Meiryo" pitchFamily="34" charset="-120"/>
              </a:rPr>
              <a:t>炭酸だった</a:t>
            </a:r>
            <a:endParaRPr lang="en-US" sz="2400" dirty="0"/>
          </a:p>
        </p:txBody>
      </p:sp>
      <p:sp>
        <p:nvSpPr>
          <p:cNvPr id="22" name="Text 20"/>
          <p:cNvSpPr/>
          <p:nvPr/>
        </p:nvSpPr>
        <p:spPr>
          <a:xfrm>
            <a:off x="8092440" y="3108960"/>
            <a:ext cx="3200400" cy="1188720"/>
          </a:xfrm>
          <a:prstGeom prst="rect">
            <a:avLst/>
          </a:prstGeom>
          <a:noFill/>
          <a:ln/>
        </p:spPr>
        <p:txBody>
          <a:bodyPr wrap="square" lIns="0" tIns="0" rIns="0" bIns="0" rtlCol="0" anchor="t"/>
          <a:lstStyle/>
          <a:p>
            <a:pPr indent="0" marL="0">
              <a:lnSpc>
                <a:spcPts val="1900"/>
              </a:lnSpc>
              <a:buNone/>
            </a:pPr>
            <a:r>
              <a:rPr lang="en-US" sz="1200" dirty="0">
                <a:solidFill>
                  <a:srgbClr val="C9C2F2"/>
                </a:solidFill>
                <a:latin typeface="Meiryo" pitchFamily="34" charset="0"/>
                <a:ea typeface="Meiryo" pitchFamily="34" charset="-122"/>
                <a:cs typeface="Meiryo" pitchFamily="34" charset="-120"/>
              </a:rPr>
              <a:t>日頃の疲労ケアなら、無糖の炭酸水。カフェインと砂糖を取りすぎずに頭を働かせられて、その後の食事もちゃんと取れる。</a:t>
            </a:r>
            <a:endParaRPr lang="en-US" sz="1200" dirty="0"/>
          </a:p>
        </p:txBody>
      </p:sp>
      <p:sp>
        <p:nvSpPr>
          <p:cNvPr id="23" name="Shape 21"/>
          <p:cNvSpPr/>
          <p:nvPr/>
        </p:nvSpPr>
        <p:spPr>
          <a:xfrm>
            <a:off x="8092440" y="4297680"/>
            <a:ext cx="3200400" cy="457200"/>
          </a:xfrm>
          <a:prstGeom prst="roundRect">
            <a:avLst>
              <a:gd name="adj" fmla="val 20000"/>
            </a:avLst>
          </a:prstGeom>
          <a:solidFill>
            <a:srgbClr val="3A3080"/>
          </a:solidFill>
          <a:ln w="12700">
            <a:solidFill>
              <a:srgbClr val="5346B8"/>
            </a:solidFill>
            <a:prstDash val="solid"/>
          </a:ln>
        </p:spPr>
      </p:sp>
      <p:sp>
        <p:nvSpPr>
          <p:cNvPr id="24" name="Text 22"/>
          <p:cNvSpPr/>
          <p:nvPr/>
        </p:nvSpPr>
        <p:spPr>
          <a:xfrm>
            <a:off x="8092440" y="4297680"/>
            <a:ext cx="3200400" cy="457200"/>
          </a:xfrm>
          <a:prstGeom prst="rect">
            <a:avLst/>
          </a:prstGeom>
          <a:noFill/>
          <a:ln/>
        </p:spPr>
        <p:txBody>
          <a:bodyPr wrap="square" lIns="0" tIns="0" rIns="0" bIns="0" rtlCol="0" anchor="ctr"/>
          <a:lstStyle/>
          <a:p>
            <a:pPr algn="ctr" indent="0" marL="0">
              <a:buNone/>
            </a:pPr>
            <a:r>
              <a:rPr lang="en-US" sz="1100" b="1" dirty="0">
                <a:solidFill>
                  <a:srgbClr val="F5A524"/>
                </a:solidFill>
                <a:latin typeface="Meiryo" pitchFamily="34" charset="0"/>
                <a:ea typeface="Meiryo" pitchFamily="34" charset="-122"/>
                <a:cs typeface="Meiryo" pitchFamily="34" charset="-120"/>
              </a:rPr>
              <a:t>コンビニで買える・カロリーゼロ</a:t>
            </a:r>
            <a:endParaRPr lang="en-US" sz="1100" dirty="0"/>
          </a:p>
        </p:txBody>
      </p:sp>
      <p:sp>
        <p:nvSpPr>
          <p:cNvPr id="25" name="Shape 23"/>
          <p:cNvSpPr/>
          <p:nvPr/>
        </p:nvSpPr>
        <p:spPr>
          <a:xfrm>
            <a:off x="548640" y="5166360"/>
            <a:ext cx="11064240" cy="1143000"/>
          </a:xfrm>
          <a:prstGeom prst="roundRect">
            <a:avLst>
              <a:gd name="adj" fmla="val 9600"/>
            </a:avLst>
          </a:prstGeom>
          <a:solidFill>
            <a:srgbClr val="FFF1EF"/>
          </a:solidFill>
          <a:ln w="12700">
            <a:solidFill>
              <a:srgbClr val="FFD9D3"/>
            </a:solidFill>
            <a:prstDash val="solid"/>
          </a:ln>
          <a:effectLst>
            <a:outerShdw sx="100000" sy="100000" kx="0" ky="0" algn="bl" rotWithShape="0" blurRad="152400" dist="25400" dir="5400000">
              <a:srgbClr val="1A1636">
                <a:alpha val="12000"/>
              </a:srgbClr>
            </a:outerShdw>
          </a:effectLst>
        </p:spPr>
      </p:sp>
      <p:sp>
        <p:nvSpPr>
          <p:cNvPr id="26" name="Text 24"/>
          <p:cNvSpPr/>
          <p:nvPr/>
        </p:nvSpPr>
        <p:spPr>
          <a:xfrm>
            <a:off x="914400" y="5257800"/>
            <a:ext cx="10332720" cy="365760"/>
          </a:xfrm>
          <a:prstGeom prst="rect">
            <a:avLst/>
          </a:prstGeom>
          <a:noFill/>
          <a:ln/>
        </p:spPr>
        <p:txBody>
          <a:bodyPr wrap="square" lIns="0" tIns="0" rIns="0" bIns="0" rtlCol="0" anchor="ctr"/>
          <a:lstStyle/>
          <a:p>
            <a:pPr indent="0" marL="0">
              <a:buNone/>
            </a:pPr>
            <a:r>
              <a:rPr lang="en-US" sz="1250" b="1" dirty="0">
                <a:solidFill>
                  <a:srgbClr val="B33A2C"/>
                </a:solidFill>
                <a:latin typeface="Meiryo" pitchFamily="34" charset="0"/>
                <a:ea typeface="Meiryo" pitchFamily="34" charset="-122"/>
                <a:cs typeface="Meiryo" pitchFamily="34" charset="-120"/>
              </a:rPr>
              <a:t>※ カフェインと砂糖を否定しているわけではない。「ここ一番、今日はやるしかない」という日には使ってよい。毎日にしないこと。</a:t>
            </a:r>
            <a:endParaRPr lang="en-US" sz="1250" dirty="0"/>
          </a:p>
        </p:txBody>
      </p:sp>
      <p:sp>
        <p:nvSpPr>
          <p:cNvPr id="27" name="Text 25"/>
          <p:cNvSpPr/>
          <p:nvPr/>
        </p:nvSpPr>
        <p:spPr>
          <a:xfrm>
            <a:off x="914400" y="5687568"/>
            <a:ext cx="10332720" cy="411480"/>
          </a:xfrm>
          <a:prstGeom prst="rect">
            <a:avLst/>
          </a:prstGeom>
          <a:noFill/>
          <a:ln/>
        </p:spPr>
        <p:txBody>
          <a:bodyPr wrap="square" lIns="0" tIns="0" rIns="0" bIns="0" rtlCol="0" anchor="ctr"/>
          <a:lstStyle/>
          <a:p>
            <a:pPr indent="0" marL="0">
              <a:buNone/>
            </a:pPr>
            <a:r>
              <a:rPr lang="en-US" sz="1350" b="1" dirty="0">
                <a:solidFill>
                  <a:srgbClr val="1A1636"/>
                </a:solidFill>
                <a:latin typeface="Meiryo" pitchFamily="34" charset="0"/>
                <a:ea typeface="Meiryo" pitchFamily="34" charset="-122"/>
                <a:cs typeface="Meiryo" pitchFamily="34" charset="-120"/>
              </a:rPr>
              <a:t>では、その「炭酸」は、体の中で何をしているのか。カギは「のど越し」でした。 ──次のページ</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カギは「のど越し」——のどには2種類のセンサーがある</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私たちがのど越しを感じているのは、温度と痛みを感じるセンサーのはたらき</a:t>
            </a:r>
            <a:endParaRPr lang="en-US" sz="1400" dirty="0"/>
          </a:p>
        </p:txBody>
      </p:sp>
      <p:sp>
        <p:nvSpPr>
          <p:cNvPr id="4" name="Shape 2"/>
          <p:cNvSpPr/>
          <p:nvPr/>
        </p:nvSpPr>
        <p:spPr>
          <a:xfrm>
            <a:off x="548640" y="1664208"/>
            <a:ext cx="5440680" cy="1719072"/>
          </a:xfrm>
          <a:prstGeom prst="roundRect">
            <a:avLst>
              <a:gd name="adj" fmla="val 6383"/>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868680" y="1901952"/>
            <a:ext cx="621792" cy="621792"/>
          </a:xfrm>
          <a:prstGeom prst="ellipse">
            <a:avLst/>
          </a:prstGeom>
          <a:solidFill>
            <a:srgbClr val="5B4BD6"/>
          </a:solidFill>
          <a:ln w="12700">
            <a:solidFill>
              <a:srgbClr val="5B4BD6"/>
            </a:solidFill>
            <a:prstDash val="solid"/>
          </a:ln>
        </p:spPr>
      </p:sp>
      <p:sp>
        <p:nvSpPr>
          <p:cNvPr id="6" name="Text 4"/>
          <p:cNvSpPr/>
          <p:nvPr/>
        </p:nvSpPr>
        <p:spPr>
          <a:xfrm>
            <a:off x="868680" y="1901952"/>
            <a:ext cx="621792"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冷</a:t>
            </a:r>
            <a:endParaRPr lang="en-US" sz="1500" dirty="0"/>
          </a:p>
        </p:txBody>
      </p:sp>
      <p:sp>
        <p:nvSpPr>
          <p:cNvPr id="7" name="Text 5"/>
          <p:cNvSpPr/>
          <p:nvPr/>
        </p:nvSpPr>
        <p:spPr>
          <a:xfrm>
            <a:off x="1691640" y="1901952"/>
            <a:ext cx="3977640" cy="310896"/>
          </a:xfrm>
          <a:prstGeom prst="rect">
            <a:avLst/>
          </a:prstGeom>
          <a:noFill/>
          <a:ln/>
        </p:spPr>
        <p:txBody>
          <a:bodyPr wrap="square" lIns="0" tIns="0" rIns="0" bIns="0" rtlCol="0" anchor="ctr"/>
          <a:lstStyle/>
          <a:p>
            <a:pPr indent="0" marL="0">
              <a:buNone/>
            </a:pPr>
            <a:r>
              <a:rPr lang="en-US" sz="1650" b="1" dirty="0">
                <a:solidFill>
                  <a:srgbClr val="1A1636"/>
                </a:solidFill>
                <a:latin typeface="Meiryo" pitchFamily="34" charset="0"/>
                <a:ea typeface="Meiryo" pitchFamily="34" charset="-122"/>
                <a:cs typeface="Meiryo" pitchFamily="34" charset="-120"/>
              </a:rPr>
              <a:t>「冷たい」を感じるセンサー</a:t>
            </a:r>
            <a:endParaRPr lang="en-US" sz="1650" dirty="0"/>
          </a:p>
        </p:txBody>
      </p:sp>
      <p:sp>
        <p:nvSpPr>
          <p:cNvPr id="8" name="Text 6"/>
          <p:cNvSpPr/>
          <p:nvPr/>
        </p:nvSpPr>
        <p:spPr>
          <a:xfrm>
            <a:off x="1691640" y="2231136"/>
            <a:ext cx="3977640" cy="256032"/>
          </a:xfrm>
          <a:prstGeom prst="rect">
            <a:avLst/>
          </a:prstGeom>
          <a:noFill/>
          <a:ln/>
        </p:spPr>
        <p:txBody>
          <a:bodyPr wrap="square" lIns="0" tIns="0" rIns="0" bIns="0" rtlCol="0" anchor="ctr"/>
          <a:lstStyle/>
          <a:p>
            <a:pPr indent="0" marL="0">
              <a:buNone/>
            </a:pPr>
            <a:r>
              <a:rPr lang="en-US" sz="1150" b="1" dirty="0">
                <a:solidFill>
                  <a:srgbClr val="5B4BD6"/>
                </a:solidFill>
                <a:latin typeface="Meiryo" pitchFamily="34" charset="0"/>
                <a:ea typeface="Meiryo" pitchFamily="34" charset="-122"/>
                <a:cs typeface="Meiryo" pitchFamily="34" charset="-120"/>
              </a:rPr>
              <a:t>わさびの“ツーン”を感じるのと同じ仕組み</a:t>
            </a:r>
            <a:endParaRPr lang="en-US" sz="1150" dirty="0"/>
          </a:p>
        </p:txBody>
      </p:sp>
      <p:sp>
        <p:nvSpPr>
          <p:cNvPr id="9" name="Text 7"/>
          <p:cNvSpPr/>
          <p:nvPr/>
        </p:nvSpPr>
        <p:spPr>
          <a:xfrm>
            <a:off x="868680" y="2633472"/>
            <a:ext cx="4800600" cy="566928"/>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冷たさを感じ取る受容体。わさびの刺激も、実はこのセンサーが反応して生まれています。</a:t>
            </a:r>
            <a:endParaRPr lang="en-US" sz="1150" dirty="0"/>
          </a:p>
        </p:txBody>
      </p:sp>
      <p:sp>
        <p:nvSpPr>
          <p:cNvPr id="10" name="Shape 8"/>
          <p:cNvSpPr/>
          <p:nvPr/>
        </p:nvSpPr>
        <p:spPr>
          <a:xfrm>
            <a:off x="6172200" y="1664208"/>
            <a:ext cx="5440680" cy="1719072"/>
          </a:xfrm>
          <a:prstGeom prst="roundRect">
            <a:avLst>
              <a:gd name="adj" fmla="val 6383"/>
            </a:avLst>
          </a:prstGeom>
          <a:solidFill>
            <a:srgbClr val="FFF1EF"/>
          </a:solidFill>
          <a:ln w="12700">
            <a:solidFill>
              <a:srgbClr val="FFD9D3"/>
            </a:solidFill>
            <a:prstDash val="solid"/>
          </a:ln>
          <a:effectLst>
            <a:outerShdw sx="100000" sy="100000" kx="0" ky="0" algn="bl" rotWithShape="0" blurRad="152400" dist="25400" dir="5400000">
              <a:srgbClr val="1A1636">
                <a:alpha val="12000"/>
              </a:srgbClr>
            </a:outerShdw>
          </a:effectLst>
        </p:spPr>
      </p:sp>
      <p:sp>
        <p:nvSpPr>
          <p:cNvPr id="11" name="Shape 9"/>
          <p:cNvSpPr/>
          <p:nvPr/>
        </p:nvSpPr>
        <p:spPr>
          <a:xfrm>
            <a:off x="6492240" y="1901952"/>
            <a:ext cx="621792" cy="621792"/>
          </a:xfrm>
          <a:prstGeom prst="ellipse">
            <a:avLst/>
          </a:prstGeom>
          <a:solidFill>
            <a:srgbClr val="FF6B5B"/>
          </a:solidFill>
          <a:ln w="12700">
            <a:solidFill>
              <a:srgbClr val="FF6B5B"/>
            </a:solidFill>
            <a:prstDash val="solid"/>
          </a:ln>
        </p:spPr>
      </p:sp>
      <p:sp>
        <p:nvSpPr>
          <p:cNvPr id="12" name="Text 10"/>
          <p:cNvSpPr/>
          <p:nvPr/>
        </p:nvSpPr>
        <p:spPr>
          <a:xfrm>
            <a:off x="6492240" y="1901952"/>
            <a:ext cx="621792"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熱</a:t>
            </a:r>
            <a:endParaRPr lang="en-US" sz="1500" dirty="0"/>
          </a:p>
        </p:txBody>
      </p:sp>
      <p:sp>
        <p:nvSpPr>
          <p:cNvPr id="13" name="Text 11"/>
          <p:cNvSpPr/>
          <p:nvPr/>
        </p:nvSpPr>
        <p:spPr>
          <a:xfrm>
            <a:off x="7315200" y="1901952"/>
            <a:ext cx="3977640" cy="310896"/>
          </a:xfrm>
          <a:prstGeom prst="rect">
            <a:avLst/>
          </a:prstGeom>
          <a:noFill/>
          <a:ln/>
        </p:spPr>
        <p:txBody>
          <a:bodyPr wrap="square" lIns="0" tIns="0" rIns="0" bIns="0" rtlCol="0" anchor="ctr"/>
          <a:lstStyle/>
          <a:p>
            <a:pPr indent="0" marL="0">
              <a:buNone/>
            </a:pPr>
            <a:r>
              <a:rPr lang="en-US" sz="1650" b="1" dirty="0">
                <a:solidFill>
                  <a:srgbClr val="1A1636"/>
                </a:solidFill>
                <a:latin typeface="Meiryo" pitchFamily="34" charset="0"/>
                <a:ea typeface="Meiryo" pitchFamily="34" charset="-122"/>
                <a:cs typeface="Meiryo" pitchFamily="34" charset="-120"/>
              </a:rPr>
              <a:t>「熱い」を感じるセンサー</a:t>
            </a:r>
            <a:endParaRPr lang="en-US" sz="1650" dirty="0"/>
          </a:p>
        </p:txBody>
      </p:sp>
      <p:sp>
        <p:nvSpPr>
          <p:cNvPr id="14" name="Text 12"/>
          <p:cNvSpPr/>
          <p:nvPr/>
        </p:nvSpPr>
        <p:spPr>
          <a:xfrm>
            <a:off x="7315200" y="2231136"/>
            <a:ext cx="3977640" cy="256032"/>
          </a:xfrm>
          <a:prstGeom prst="rect">
            <a:avLst/>
          </a:prstGeom>
          <a:noFill/>
          <a:ln/>
        </p:spPr>
        <p:txBody>
          <a:bodyPr wrap="square" lIns="0" tIns="0" rIns="0" bIns="0" rtlCol="0" anchor="ctr"/>
          <a:lstStyle/>
          <a:p>
            <a:pPr indent="0" marL="0">
              <a:buNone/>
            </a:pPr>
            <a:r>
              <a:rPr lang="en-US" sz="1150" b="1" dirty="0">
                <a:solidFill>
                  <a:srgbClr val="FF6B5B"/>
                </a:solidFill>
                <a:latin typeface="Meiryo" pitchFamily="34" charset="0"/>
                <a:ea typeface="Meiryo" pitchFamily="34" charset="-122"/>
                <a:cs typeface="Meiryo" pitchFamily="34" charset="-120"/>
              </a:rPr>
              <a:t>唐辛子の“カーッ”を感じるのと同じ仕組み</a:t>
            </a:r>
            <a:endParaRPr lang="en-US" sz="1150" dirty="0"/>
          </a:p>
        </p:txBody>
      </p:sp>
      <p:sp>
        <p:nvSpPr>
          <p:cNvPr id="15" name="Text 13"/>
          <p:cNvSpPr/>
          <p:nvPr/>
        </p:nvSpPr>
        <p:spPr>
          <a:xfrm>
            <a:off x="6492240" y="2633472"/>
            <a:ext cx="4800600" cy="566928"/>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温かさを感じ取る受容体。唐辛子の辛さも、このセンサーが反応して生まれています。</a:t>
            </a:r>
            <a:endParaRPr lang="en-US" sz="1150" dirty="0"/>
          </a:p>
        </p:txBody>
      </p:sp>
      <p:sp>
        <p:nvSpPr>
          <p:cNvPr id="16" name="Shape 14"/>
          <p:cNvSpPr/>
          <p:nvPr/>
        </p:nvSpPr>
        <p:spPr>
          <a:xfrm>
            <a:off x="548640" y="3566160"/>
            <a:ext cx="5440680" cy="1874520"/>
          </a:xfrm>
          <a:prstGeom prst="roundRect">
            <a:avLst>
              <a:gd name="adj" fmla="val 5854"/>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17" name="Text 15"/>
          <p:cNvSpPr/>
          <p:nvPr/>
        </p:nvSpPr>
        <p:spPr>
          <a:xfrm>
            <a:off x="868680" y="3749040"/>
            <a:ext cx="4800600" cy="320040"/>
          </a:xfrm>
          <a:prstGeom prst="rect">
            <a:avLst/>
          </a:prstGeom>
          <a:noFill/>
          <a:ln/>
        </p:spPr>
        <p:txBody>
          <a:bodyPr wrap="square" lIns="0" tIns="0" rIns="0" bIns="0" rtlCol="0" anchor="t"/>
          <a:lstStyle/>
          <a:p>
            <a:pPr indent="0" marL="0">
              <a:buNone/>
            </a:pPr>
            <a:r>
              <a:rPr lang="en-US" sz="1700" b="1" dirty="0">
                <a:solidFill>
                  <a:srgbClr val="1A1636"/>
                </a:solidFill>
                <a:latin typeface="Meiryo" pitchFamily="34" charset="0"/>
                <a:ea typeface="Meiryo" pitchFamily="34" charset="-122"/>
                <a:cs typeface="Meiryo" pitchFamily="34" charset="-120"/>
              </a:rPr>
              <a:t>冷たい水（真水）</a:t>
            </a:r>
            <a:endParaRPr lang="en-US" sz="1700" dirty="0"/>
          </a:p>
        </p:txBody>
      </p:sp>
      <p:sp>
        <p:nvSpPr>
          <p:cNvPr id="18" name="Shape 16"/>
          <p:cNvSpPr/>
          <p:nvPr/>
        </p:nvSpPr>
        <p:spPr>
          <a:xfrm>
            <a:off x="868680" y="4187952"/>
            <a:ext cx="1554480" cy="475488"/>
          </a:xfrm>
          <a:prstGeom prst="roundRect">
            <a:avLst>
              <a:gd name="adj" fmla="val 19231"/>
            </a:avLst>
          </a:prstGeom>
          <a:solidFill>
            <a:srgbClr val="5B4BD6"/>
          </a:solidFill>
          <a:ln w="12700">
            <a:solidFill>
              <a:srgbClr val="5B4BD6"/>
            </a:solidFill>
            <a:prstDash val="solid"/>
          </a:ln>
        </p:spPr>
      </p:sp>
      <p:sp>
        <p:nvSpPr>
          <p:cNvPr id="19" name="Text 17"/>
          <p:cNvSpPr/>
          <p:nvPr/>
        </p:nvSpPr>
        <p:spPr>
          <a:xfrm>
            <a:off x="868680" y="4187952"/>
            <a:ext cx="155448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冷たい ON</a:t>
            </a:r>
            <a:endParaRPr lang="en-US" sz="1200" dirty="0"/>
          </a:p>
        </p:txBody>
      </p:sp>
      <p:sp>
        <p:nvSpPr>
          <p:cNvPr id="20" name="Shape 18"/>
          <p:cNvSpPr/>
          <p:nvPr/>
        </p:nvSpPr>
        <p:spPr>
          <a:xfrm>
            <a:off x="2560320" y="4187952"/>
            <a:ext cx="1554480" cy="475488"/>
          </a:xfrm>
          <a:prstGeom prst="roundRect">
            <a:avLst>
              <a:gd name="adj" fmla="val 19231"/>
            </a:avLst>
          </a:prstGeom>
          <a:solidFill>
            <a:srgbClr val="EFEDF7"/>
          </a:solidFill>
          <a:ln w="12700">
            <a:solidFill>
              <a:srgbClr val="E4E1F7"/>
            </a:solidFill>
            <a:prstDash val="solid"/>
          </a:ln>
        </p:spPr>
      </p:sp>
      <p:sp>
        <p:nvSpPr>
          <p:cNvPr id="21" name="Text 19"/>
          <p:cNvSpPr/>
          <p:nvPr/>
        </p:nvSpPr>
        <p:spPr>
          <a:xfrm>
            <a:off x="2560320" y="4187952"/>
            <a:ext cx="1554480" cy="475488"/>
          </a:xfrm>
          <a:prstGeom prst="rect">
            <a:avLst/>
          </a:prstGeom>
          <a:noFill/>
          <a:ln/>
        </p:spPr>
        <p:txBody>
          <a:bodyPr wrap="square" lIns="0" tIns="0" rIns="0" bIns="0" rtlCol="0" anchor="ctr"/>
          <a:lstStyle/>
          <a:p>
            <a:pPr algn="ctr" indent="0" marL="0">
              <a:buNone/>
            </a:pPr>
            <a:r>
              <a:rPr lang="en-US" sz="1200" b="1" dirty="0">
                <a:solidFill>
                  <a:srgbClr val="9B97AE"/>
                </a:solidFill>
                <a:latin typeface="Meiryo" pitchFamily="34" charset="0"/>
                <a:ea typeface="Meiryo" pitchFamily="34" charset="-122"/>
                <a:cs typeface="Meiryo" pitchFamily="34" charset="-120"/>
              </a:rPr>
              <a:t>熱い OFF</a:t>
            </a:r>
            <a:endParaRPr lang="en-US" sz="1200" dirty="0"/>
          </a:p>
        </p:txBody>
      </p:sp>
      <p:sp>
        <p:nvSpPr>
          <p:cNvPr id="22" name="Text 20"/>
          <p:cNvSpPr/>
          <p:nvPr/>
        </p:nvSpPr>
        <p:spPr>
          <a:xfrm>
            <a:off x="868680" y="4773168"/>
            <a:ext cx="4800600" cy="548640"/>
          </a:xfrm>
          <a:prstGeom prst="rect">
            <a:avLst/>
          </a:prstGeom>
          <a:noFill/>
          <a:ln/>
        </p:spPr>
        <p:txBody>
          <a:bodyPr wrap="square" lIns="0" tIns="0" rIns="0" bIns="0" rtlCol="0" anchor="t"/>
          <a:lstStyle/>
          <a:p>
            <a:pPr indent="0" marL="0">
              <a:lnSpc>
                <a:spcPts val="1800"/>
              </a:lnSpc>
              <a:buNone/>
            </a:pPr>
            <a:r>
              <a:rPr lang="en-US" sz="1250" b="1" dirty="0">
                <a:solidFill>
                  <a:srgbClr val="6E6A85"/>
                </a:solidFill>
                <a:latin typeface="Meiryo" pitchFamily="34" charset="0"/>
                <a:ea typeface="Meiryo" pitchFamily="34" charset="-122"/>
                <a:cs typeface="Meiryo" pitchFamily="34" charset="-120"/>
              </a:rPr>
              <a:t>刺激は「冷たい」だけ。</a:t>
            </a:r>
            <a:endParaRPr lang="en-US" sz="1250" dirty="0"/>
          </a:p>
        </p:txBody>
      </p:sp>
      <p:sp>
        <p:nvSpPr>
          <p:cNvPr id="23" name="Shape 21"/>
          <p:cNvSpPr/>
          <p:nvPr/>
        </p:nvSpPr>
        <p:spPr>
          <a:xfrm>
            <a:off x="6172200" y="3566160"/>
            <a:ext cx="5440680" cy="1874520"/>
          </a:xfrm>
          <a:prstGeom prst="roundRect">
            <a:avLst>
              <a:gd name="adj" fmla="val 5854"/>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24" name="Text 22"/>
          <p:cNvSpPr/>
          <p:nvPr/>
        </p:nvSpPr>
        <p:spPr>
          <a:xfrm>
            <a:off x="6492240" y="3749040"/>
            <a:ext cx="4800600" cy="320040"/>
          </a:xfrm>
          <a:prstGeom prst="rect">
            <a:avLst/>
          </a:prstGeom>
          <a:noFill/>
          <a:ln/>
        </p:spPr>
        <p:txBody>
          <a:bodyPr wrap="square" lIns="0" tIns="0" rIns="0" bIns="0" rtlCol="0" anchor="t"/>
          <a:lstStyle/>
          <a:p>
            <a:pPr indent="0" marL="0">
              <a:buNone/>
            </a:pPr>
            <a:r>
              <a:rPr lang="en-US" sz="1700" b="1" dirty="0">
                <a:solidFill>
                  <a:srgbClr val="1A1636"/>
                </a:solidFill>
                <a:latin typeface="Meiryo" pitchFamily="34" charset="0"/>
                <a:ea typeface="Meiryo" pitchFamily="34" charset="-122"/>
                <a:cs typeface="Meiryo" pitchFamily="34" charset="-120"/>
              </a:rPr>
              <a:t>冷たい炭酸水</a:t>
            </a:r>
            <a:endParaRPr lang="en-US" sz="1700" dirty="0"/>
          </a:p>
        </p:txBody>
      </p:sp>
      <p:sp>
        <p:nvSpPr>
          <p:cNvPr id="25" name="Shape 23"/>
          <p:cNvSpPr/>
          <p:nvPr/>
        </p:nvSpPr>
        <p:spPr>
          <a:xfrm>
            <a:off x="6492240" y="4187952"/>
            <a:ext cx="1554480" cy="475488"/>
          </a:xfrm>
          <a:prstGeom prst="roundRect">
            <a:avLst>
              <a:gd name="adj" fmla="val 19231"/>
            </a:avLst>
          </a:prstGeom>
          <a:solidFill>
            <a:srgbClr val="5B4BD6"/>
          </a:solidFill>
          <a:ln w="12700">
            <a:solidFill>
              <a:srgbClr val="5B4BD6"/>
            </a:solidFill>
            <a:prstDash val="solid"/>
          </a:ln>
        </p:spPr>
      </p:sp>
      <p:sp>
        <p:nvSpPr>
          <p:cNvPr id="26" name="Text 24"/>
          <p:cNvSpPr/>
          <p:nvPr/>
        </p:nvSpPr>
        <p:spPr>
          <a:xfrm>
            <a:off x="6492240" y="4187952"/>
            <a:ext cx="155448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冷たい ON</a:t>
            </a:r>
            <a:endParaRPr lang="en-US" sz="1200" dirty="0"/>
          </a:p>
        </p:txBody>
      </p:sp>
      <p:sp>
        <p:nvSpPr>
          <p:cNvPr id="27" name="Shape 25"/>
          <p:cNvSpPr/>
          <p:nvPr/>
        </p:nvSpPr>
        <p:spPr>
          <a:xfrm>
            <a:off x="8183880" y="4187952"/>
            <a:ext cx="1554480" cy="475488"/>
          </a:xfrm>
          <a:prstGeom prst="roundRect">
            <a:avLst>
              <a:gd name="adj" fmla="val 19231"/>
            </a:avLst>
          </a:prstGeom>
          <a:solidFill>
            <a:srgbClr val="FF6B5B"/>
          </a:solidFill>
          <a:ln w="12700">
            <a:solidFill>
              <a:srgbClr val="FF6B5B"/>
            </a:solidFill>
            <a:prstDash val="solid"/>
          </a:ln>
        </p:spPr>
      </p:sp>
      <p:sp>
        <p:nvSpPr>
          <p:cNvPr id="28" name="Text 26"/>
          <p:cNvSpPr/>
          <p:nvPr/>
        </p:nvSpPr>
        <p:spPr>
          <a:xfrm>
            <a:off x="8183880" y="4187952"/>
            <a:ext cx="155448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熱い ON</a:t>
            </a:r>
            <a:endParaRPr lang="en-US" sz="1200" dirty="0"/>
          </a:p>
        </p:txBody>
      </p:sp>
      <p:sp>
        <p:nvSpPr>
          <p:cNvPr id="29" name="Text 27"/>
          <p:cNvSpPr/>
          <p:nvPr/>
        </p:nvSpPr>
        <p:spPr>
          <a:xfrm>
            <a:off x="6492240" y="4773168"/>
            <a:ext cx="4800600" cy="548640"/>
          </a:xfrm>
          <a:prstGeom prst="rect">
            <a:avLst/>
          </a:prstGeom>
          <a:noFill/>
          <a:ln/>
        </p:spPr>
        <p:txBody>
          <a:bodyPr wrap="square" lIns="0" tIns="0" rIns="0" bIns="0" rtlCol="0" anchor="t"/>
          <a:lstStyle/>
          <a:p>
            <a:pPr indent="0" marL="0">
              <a:lnSpc>
                <a:spcPts val="1800"/>
              </a:lnSpc>
              <a:buNone/>
            </a:pPr>
            <a:r>
              <a:rPr lang="en-US" sz="1250" b="1" dirty="0">
                <a:solidFill>
                  <a:srgbClr val="3B2F8F"/>
                </a:solidFill>
                <a:latin typeface="Meiryo" pitchFamily="34" charset="0"/>
                <a:ea typeface="Meiryo" pitchFamily="34" charset="-122"/>
                <a:cs typeface="Meiryo" pitchFamily="34" charset="-120"/>
              </a:rPr>
              <a:t>冷たいのに、両方のセンサーが同時に反応する</a:t>
            </a:r>
            <a:endParaRPr lang="en-US" sz="1250" dirty="0"/>
          </a:p>
          <a:p>
            <a:pPr indent="0" marL="0">
              <a:lnSpc>
                <a:spcPts val="1800"/>
              </a:lnSpc>
              <a:buNone/>
            </a:pPr>
            <a:r>
              <a:rPr lang="en-US" sz="1250" b="1" dirty="0">
                <a:solidFill>
                  <a:srgbClr val="3B2F8F"/>
                </a:solidFill>
                <a:latin typeface="Meiryo" pitchFamily="34" charset="0"/>
                <a:ea typeface="Meiryo" pitchFamily="34" charset="-122"/>
                <a:cs typeface="Meiryo" pitchFamily="34" charset="-120"/>
              </a:rPr>
              <a:t>＝「冷たくて熱い飲み物」を飲んでいる状態。刺激が倍以上。</a:t>
            </a:r>
            <a:endParaRPr lang="en-US" sz="1250" dirty="0"/>
          </a:p>
        </p:txBody>
      </p:sp>
      <p:sp>
        <p:nvSpPr>
          <p:cNvPr id="30" name="Shape 28"/>
          <p:cNvSpPr/>
          <p:nvPr/>
        </p:nvSpPr>
        <p:spPr>
          <a:xfrm>
            <a:off x="548640" y="5623560"/>
            <a:ext cx="11064240" cy="777240"/>
          </a:xfrm>
          <a:prstGeom prst="roundRect">
            <a:avLst>
              <a:gd name="adj" fmla="val 14118"/>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31" name="Shape 29"/>
          <p:cNvSpPr/>
          <p:nvPr/>
        </p:nvSpPr>
        <p:spPr>
          <a:xfrm>
            <a:off x="868680" y="5815584"/>
            <a:ext cx="402336" cy="402336"/>
          </a:xfrm>
          <a:prstGeom prst="ellipse">
            <a:avLst/>
          </a:prstGeom>
          <a:solidFill>
            <a:srgbClr val="FF6B5B"/>
          </a:solidFill>
          <a:ln w="12700">
            <a:solidFill>
              <a:srgbClr val="FF6B5B"/>
            </a:solidFill>
            <a:prstDash val="solid"/>
          </a:ln>
        </p:spPr>
      </p:sp>
      <p:sp>
        <p:nvSpPr>
          <p:cNvPr id="32" name="Text 30"/>
          <p:cNvSpPr/>
          <p:nvPr/>
        </p:nvSpPr>
        <p:spPr>
          <a:xfrm>
            <a:off x="868680" y="58155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賞</a:t>
            </a:r>
            <a:endParaRPr lang="en-US" sz="1200" dirty="0"/>
          </a:p>
        </p:txBody>
      </p:sp>
      <p:sp>
        <p:nvSpPr>
          <p:cNvPr id="33" name="Text 31"/>
          <p:cNvSpPr/>
          <p:nvPr/>
        </p:nvSpPr>
        <p:spPr>
          <a:xfrm>
            <a:off x="1444752" y="5742432"/>
            <a:ext cx="10058400" cy="237744"/>
          </a:xfrm>
          <a:prstGeom prst="rect">
            <a:avLst/>
          </a:prstGeom>
          <a:noFill/>
          <a:ln/>
        </p:spPr>
        <p:txBody>
          <a:bodyPr wrap="square" lIns="0" tIns="0" rIns="0" bIns="0" rtlCol="0" anchor="t"/>
          <a:lstStyle/>
          <a:p>
            <a:pPr indent="0" marL="0">
              <a:buNone/>
            </a:pPr>
            <a:r>
              <a:rPr lang="en-US" sz="1200" b="1" dirty="0">
                <a:solidFill>
                  <a:srgbClr val="F5A524"/>
                </a:solidFill>
                <a:latin typeface="Meiryo" pitchFamily="34" charset="0"/>
                <a:ea typeface="Meiryo" pitchFamily="34" charset="-122"/>
                <a:cs typeface="Meiryo" pitchFamily="34" charset="-120"/>
              </a:rPr>
              <a:t>この2つのセンサーの正体は「TRPチャネル」——2021年のノーベル生理学・医学賞</a:t>
            </a:r>
            <a:endParaRPr lang="en-US" sz="1200" dirty="0"/>
          </a:p>
        </p:txBody>
      </p:sp>
      <p:sp>
        <p:nvSpPr>
          <p:cNvPr id="34" name="Text 32"/>
          <p:cNvSpPr/>
          <p:nvPr/>
        </p:nvSpPr>
        <p:spPr>
          <a:xfrm>
            <a:off x="1444752" y="6035040"/>
            <a:ext cx="10058400" cy="256032"/>
          </a:xfrm>
          <a:prstGeom prst="rect">
            <a:avLst/>
          </a:prstGeom>
          <a:noFill/>
          <a:ln/>
        </p:spPr>
        <p:txBody>
          <a:bodyPr wrap="square" lIns="0" tIns="0" rIns="0" bIns="0" rtlCol="0" anchor="t"/>
          <a:lstStyle/>
          <a:p>
            <a:pPr indent="0" marL="0">
              <a:buNone/>
            </a:pPr>
            <a:r>
              <a:rPr lang="en-US" sz="1000" dirty="0">
                <a:solidFill>
                  <a:srgbClr val="C9C2F2"/>
                </a:solidFill>
                <a:latin typeface="Meiryo" pitchFamily="34" charset="0"/>
                <a:ea typeface="Meiryo" pitchFamily="34" charset="-122"/>
                <a:cs typeface="Meiryo" pitchFamily="34" charset="-120"/>
              </a:rPr>
              <a:t>温度や痛みを感じ取る受容体の発見で、D.ジュリアス／A.パタプティアン両氏が受賞。「のど越し」もこの仕組みで説明できます。</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その刺激が、判断を担う脳まで届く</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のどで感じた強い刺激は、脳のなかを伝わっていく</a:t>
            </a:r>
            <a:endParaRPr lang="en-US" sz="1400" dirty="0"/>
          </a:p>
        </p:txBody>
      </p:sp>
      <p:sp>
        <p:nvSpPr>
          <p:cNvPr id="4" name="Shape 2"/>
          <p:cNvSpPr/>
          <p:nvPr/>
        </p:nvSpPr>
        <p:spPr>
          <a:xfrm>
            <a:off x="548640" y="1828800"/>
            <a:ext cx="3246120" cy="2514600"/>
          </a:xfrm>
          <a:prstGeom prst="roundRect">
            <a:avLst>
              <a:gd name="adj" fmla="val 4364"/>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841248" y="2103120"/>
            <a:ext cx="1371600" cy="402336"/>
          </a:xfrm>
          <a:prstGeom prst="roundRect">
            <a:avLst>
              <a:gd name="adj" fmla="val 50000"/>
            </a:avLst>
          </a:prstGeom>
          <a:solidFill>
            <a:srgbClr val="5B4BD6"/>
          </a:solidFill>
          <a:ln w="12700">
            <a:solidFill>
              <a:srgbClr val="5B4BD6"/>
            </a:solidFill>
            <a:prstDash val="solid"/>
          </a:ln>
        </p:spPr>
      </p:sp>
      <p:sp>
        <p:nvSpPr>
          <p:cNvPr id="6" name="Text 4"/>
          <p:cNvSpPr/>
          <p:nvPr/>
        </p:nvSpPr>
        <p:spPr>
          <a:xfrm>
            <a:off x="841248" y="2103120"/>
            <a:ext cx="137160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のど</a:t>
            </a:r>
            <a:endParaRPr lang="en-US" sz="1250" dirty="0"/>
          </a:p>
        </p:txBody>
      </p:sp>
      <p:sp>
        <p:nvSpPr>
          <p:cNvPr id="7" name="Text 5"/>
          <p:cNvSpPr/>
          <p:nvPr/>
        </p:nvSpPr>
        <p:spPr>
          <a:xfrm>
            <a:off x="841248" y="2697480"/>
            <a:ext cx="2697480" cy="640080"/>
          </a:xfrm>
          <a:prstGeom prst="rect">
            <a:avLst/>
          </a:prstGeom>
          <a:noFill/>
          <a:ln/>
        </p:spPr>
        <p:txBody>
          <a:bodyPr wrap="square" lIns="0" tIns="0" rIns="0" bIns="0" rtlCol="0" anchor="t"/>
          <a:lstStyle/>
          <a:p>
            <a:pPr indent="0" marL="0">
              <a:lnSpc>
                <a:spcPts val="2100"/>
              </a:lnSpc>
              <a:buNone/>
            </a:pPr>
            <a:r>
              <a:rPr lang="en-US" sz="1550" b="1" dirty="0">
                <a:solidFill>
                  <a:srgbClr val="1A1636"/>
                </a:solidFill>
                <a:latin typeface="Meiryo" pitchFamily="34" charset="0"/>
                <a:ea typeface="Meiryo" pitchFamily="34" charset="-122"/>
                <a:cs typeface="Meiryo" pitchFamily="34" charset="-120"/>
              </a:rPr>
              <a:t>強い刺激</a:t>
            </a:r>
            <a:endParaRPr lang="en-US" sz="1550" dirty="0"/>
          </a:p>
        </p:txBody>
      </p:sp>
      <p:sp>
        <p:nvSpPr>
          <p:cNvPr id="8" name="Text 6"/>
          <p:cNvSpPr/>
          <p:nvPr/>
        </p:nvSpPr>
        <p:spPr>
          <a:xfrm>
            <a:off x="841248" y="3401568"/>
            <a:ext cx="2697480" cy="777240"/>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冷たい＋熱いの二重の刺激を、のどが受け取る</a:t>
            </a:r>
            <a:endParaRPr lang="en-US" sz="1150" dirty="0"/>
          </a:p>
        </p:txBody>
      </p:sp>
      <p:sp>
        <p:nvSpPr>
          <p:cNvPr id="9" name="Shape 7"/>
          <p:cNvSpPr/>
          <p:nvPr/>
        </p:nvSpPr>
        <p:spPr>
          <a:xfrm>
            <a:off x="3913632" y="2926080"/>
            <a:ext cx="420624" cy="320040"/>
          </a:xfrm>
          <a:prstGeom prst="rightArrow">
            <a:avLst/>
          </a:prstGeom>
          <a:solidFill>
            <a:srgbClr val="D9D7E6"/>
          </a:solidFill>
          <a:ln w="12700">
            <a:solidFill>
              <a:srgbClr val="D9D7E6"/>
            </a:solidFill>
            <a:prstDash val="solid"/>
          </a:ln>
        </p:spPr>
      </p:sp>
      <p:sp>
        <p:nvSpPr>
          <p:cNvPr id="10" name="Shape 8"/>
          <p:cNvSpPr/>
          <p:nvPr/>
        </p:nvSpPr>
        <p:spPr>
          <a:xfrm>
            <a:off x="4453128" y="1828800"/>
            <a:ext cx="3246120" cy="2514600"/>
          </a:xfrm>
          <a:prstGeom prst="roundRect">
            <a:avLst>
              <a:gd name="adj" fmla="val 4364"/>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11" name="Shape 9"/>
          <p:cNvSpPr/>
          <p:nvPr/>
        </p:nvSpPr>
        <p:spPr>
          <a:xfrm>
            <a:off x="4745736" y="2103120"/>
            <a:ext cx="1371600" cy="402336"/>
          </a:xfrm>
          <a:prstGeom prst="roundRect">
            <a:avLst>
              <a:gd name="adj" fmla="val 50000"/>
            </a:avLst>
          </a:prstGeom>
          <a:solidFill>
            <a:srgbClr val="7A6BE0"/>
          </a:solidFill>
          <a:ln w="12700">
            <a:solidFill>
              <a:srgbClr val="7A6BE0"/>
            </a:solidFill>
            <a:prstDash val="solid"/>
          </a:ln>
        </p:spPr>
      </p:sp>
      <p:sp>
        <p:nvSpPr>
          <p:cNvPr id="12" name="Text 10"/>
          <p:cNvSpPr/>
          <p:nvPr/>
        </p:nvSpPr>
        <p:spPr>
          <a:xfrm>
            <a:off x="4745736" y="2103120"/>
            <a:ext cx="137160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脳幹</a:t>
            </a:r>
            <a:endParaRPr lang="en-US" sz="1250" dirty="0"/>
          </a:p>
        </p:txBody>
      </p:sp>
      <p:sp>
        <p:nvSpPr>
          <p:cNvPr id="13" name="Text 11"/>
          <p:cNvSpPr/>
          <p:nvPr/>
        </p:nvSpPr>
        <p:spPr>
          <a:xfrm>
            <a:off x="4745736" y="2697480"/>
            <a:ext cx="2697480" cy="640080"/>
          </a:xfrm>
          <a:prstGeom prst="rect">
            <a:avLst/>
          </a:prstGeom>
          <a:noFill/>
          <a:ln/>
        </p:spPr>
        <p:txBody>
          <a:bodyPr wrap="square" lIns="0" tIns="0" rIns="0" bIns="0" rtlCol="0" anchor="t"/>
          <a:lstStyle/>
          <a:p>
            <a:pPr indent="0" marL="0">
              <a:lnSpc>
                <a:spcPts val="2100"/>
              </a:lnSpc>
              <a:buNone/>
            </a:pPr>
            <a:r>
              <a:rPr lang="en-US" sz="1550" b="1" dirty="0">
                <a:solidFill>
                  <a:srgbClr val="1A1636"/>
                </a:solidFill>
                <a:latin typeface="Meiryo" pitchFamily="34" charset="0"/>
                <a:ea typeface="Meiryo" pitchFamily="34" charset="-122"/>
                <a:cs typeface="Meiryo" pitchFamily="34" charset="-120"/>
              </a:rPr>
              <a:t>飲み込む司令塔が活性化</a:t>
            </a:r>
            <a:endParaRPr lang="en-US" sz="1550" dirty="0"/>
          </a:p>
        </p:txBody>
      </p:sp>
      <p:sp>
        <p:nvSpPr>
          <p:cNvPr id="14" name="Text 12"/>
          <p:cNvSpPr/>
          <p:nvPr/>
        </p:nvSpPr>
        <p:spPr>
          <a:xfrm>
            <a:off x="4745736" y="3401568"/>
            <a:ext cx="2697480" cy="777240"/>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「飲み込む」動作を司る中枢が、より強く働く</a:t>
            </a:r>
            <a:endParaRPr lang="en-US" sz="1150" dirty="0"/>
          </a:p>
        </p:txBody>
      </p:sp>
      <p:sp>
        <p:nvSpPr>
          <p:cNvPr id="15" name="Shape 13"/>
          <p:cNvSpPr/>
          <p:nvPr/>
        </p:nvSpPr>
        <p:spPr>
          <a:xfrm>
            <a:off x="7818120" y="2926080"/>
            <a:ext cx="420624" cy="320040"/>
          </a:xfrm>
          <a:prstGeom prst="rightArrow">
            <a:avLst/>
          </a:prstGeom>
          <a:solidFill>
            <a:srgbClr val="D9D7E6"/>
          </a:solidFill>
          <a:ln w="12700">
            <a:solidFill>
              <a:srgbClr val="D9D7E6"/>
            </a:solidFill>
            <a:prstDash val="solid"/>
          </a:ln>
        </p:spPr>
      </p:sp>
      <p:sp>
        <p:nvSpPr>
          <p:cNvPr id="16" name="Shape 14"/>
          <p:cNvSpPr/>
          <p:nvPr/>
        </p:nvSpPr>
        <p:spPr>
          <a:xfrm>
            <a:off x="8357616" y="1828800"/>
            <a:ext cx="3246120" cy="2514600"/>
          </a:xfrm>
          <a:prstGeom prst="roundRect">
            <a:avLst>
              <a:gd name="adj" fmla="val 4364"/>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17" name="Shape 15"/>
          <p:cNvSpPr/>
          <p:nvPr/>
        </p:nvSpPr>
        <p:spPr>
          <a:xfrm>
            <a:off x="8650224" y="2103120"/>
            <a:ext cx="1371600" cy="402336"/>
          </a:xfrm>
          <a:prstGeom prst="roundRect">
            <a:avLst>
              <a:gd name="adj" fmla="val 50000"/>
            </a:avLst>
          </a:prstGeom>
          <a:solidFill>
            <a:srgbClr val="12B886"/>
          </a:solidFill>
          <a:ln w="12700">
            <a:solidFill>
              <a:srgbClr val="12B886"/>
            </a:solidFill>
            <a:prstDash val="solid"/>
          </a:ln>
        </p:spPr>
      </p:sp>
      <p:sp>
        <p:nvSpPr>
          <p:cNvPr id="18" name="Text 16"/>
          <p:cNvSpPr/>
          <p:nvPr/>
        </p:nvSpPr>
        <p:spPr>
          <a:xfrm>
            <a:off x="8650224" y="2103120"/>
            <a:ext cx="137160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前頭前野</a:t>
            </a:r>
            <a:endParaRPr lang="en-US" sz="1250" dirty="0"/>
          </a:p>
        </p:txBody>
      </p:sp>
      <p:sp>
        <p:nvSpPr>
          <p:cNvPr id="19" name="Text 17"/>
          <p:cNvSpPr/>
          <p:nvPr/>
        </p:nvSpPr>
        <p:spPr>
          <a:xfrm>
            <a:off x="8650224" y="2697480"/>
            <a:ext cx="2697480" cy="640080"/>
          </a:xfrm>
          <a:prstGeom prst="rect">
            <a:avLst/>
          </a:prstGeom>
          <a:noFill/>
          <a:ln/>
        </p:spPr>
        <p:txBody>
          <a:bodyPr wrap="square" lIns="0" tIns="0" rIns="0" bIns="0" rtlCol="0" anchor="t"/>
          <a:lstStyle/>
          <a:p>
            <a:pPr indent="0" marL="0">
              <a:lnSpc>
                <a:spcPts val="2100"/>
              </a:lnSpc>
              <a:buNone/>
            </a:pPr>
            <a:r>
              <a:rPr lang="en-US" sz="1550" b="1" dirty="0">
                <a:solidFill>
                  <a:srgbClr val="1A1636"/>
                </a:solidFill>
                <a:latin typeface="Meiryo" pitchFamily="34" charset="0"/>
                <a:ea typeface="Meiryo" pitchFamily="34" charset="-122"/>
                <a:cs typeface="Meiryo" pitchFamily="34" charset="-120"/>
              </a:rPr>
              <a:t>判断を担う脳へ</a:t>
            </a:r>
            <a:endParaRPr lang="en-US" sz="1550" dirty="0"/>
          </a:p>
        </p:txBody>
      </p:sp>
      <p:sp>
        <p:nvSpPr>
          <p:cNvPr id="20" name="Text 18"/>
          <p:cNvSpPr/>
          <p:nvPr/>
        </p:nvSpPr>
        <p:spPr>
          <a:xfrm>
            <a:off x="8650224" y="3401568"/>
            <a:ext cx="2697480" cy="777240"/>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飲み込む中枢はこの部位に神経がつながっている。</a:t>
            </a:r>
            <a:endParaRPr lang="en-US" sz="1150" dirty="0"/>
          </a:p>
          <a:p>
            <a:pPr indent="0" marL="0">
              <a:lnSpc>
                <a:spcPts val="1700"/>
              </a:lnSpc>
              <a:buNone/>
            </a:pPr>
            <a:r>
              <a:rPr lang="en-US" sz="1150" dirty="0">
                <a:solidFill>
                  <a:srgbClr val="6E6A85"/>
                </a:solidFill>
                <a:latin typeface="Meiryo" pitchFamily="34" charset="0"/>
                <a:ea typeface="Meiryo" pitchFamily="34" charset="-122"/>
                <a:cs typeface="Meiryo" pitchFamily="34" charset="-120"/>
              </a:rPr>
              <a:t>ここが活性化する可能性がある</a:t>
            </a:r>
            <a:endParaRPr lang="en-US" sz="1150" dirty="0"/>
          </a:p>
        </p:txBody>
      </p:sp>
      <p:sp>
        <p:nvSpPr>
          <p:cNvPr id="21" name="Shape 19"/>
          <p:cNvSpPr/>
          <p:nvPr/>
        </p:nvSpPr>
        <p:spPr>
          <a:xfrm>
            <a:off x="548640" y="4617720"/>
            <a:ext cx="6720840" cy="1463040"/>
          </a:xfrm>
          <a:prstGeom prst="roundRect">
            <a:avLst>
              <a:gd name="adj" fmla="val 7500"/>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22" name="Text 20"/>
          <p:cNvSpPr/>
          <p:nvPr/>
        </p:nvSpPr>
        <p:spPr>
          <a:xfrm>
            <a:off x="868680" y="4800600"/>
            <a:ext cx="6126480" cy="274320"/>
          </a:xfrm>
          <a:prstGeom prst="rect">
            <a:avLst/>
          </a:prstGeom>
          <a:noFill/>
          <a:ln/>
        </p:spPr>
        <p:txBody>
          <a:bodyPr wrap="square" lIns="0" tIns="0" rIns="0" bIns="0" rtlCol="0" anchor="t"/>
          <a:lstStyle/>
          <a:p>
            <a:pPr indent="0" marL="0">
              <a:buNone/>
            </a:pPr>
            <a:r>
              <a:rPr lang="en-US" sz="1300" b="1" dirty="0">
                <a:solidFill>
                  <a:srgbClr val="F5A524"/>
                </a:solidFill>
                <a:latin typeface="Meiryo" pitchFamily="34" charset="0"/>
                <a:ea typeface="Meiryo" pitchFamily="34" charset="-122"/>
                <a:cs typeface="Meiryo" pitchFamily="34" charset="-120"/>
              </a:rPr>
              <a:t>つまり、こういうこと</a:t>
            </a:r>
            <a:endParaRPr lang="en-US" sz="1300" dirty="0"/>
          </a:p>
        </p:txBody>
      </p:sp>
      <p:sp>
        <p:nvSpPr>
          <p:cNvPr id="23" name="Text 21"/>
          <p:cNvSpPr/>
          <p:nvPr/>
        </p:nvSpPr>
        <p:spPr>
          <a:xfrm>
            <a:off x="868680" y="5138928"/>
            <a:ext cx="6126480" cy="777240"/>
          </a:xfrm>
          <a:prstGeom prst="rect">
            <a:avLst/>
          </a:prstGeom>
          <a:noFill/>
          <a:ln/>
        </p:spPr>
        <p:txBody>
          <a:bodyPr wrap="square" lIns="0" tIns="0" rIns="0" bIns="0" rtlCol="0" anchor="t"/>
          <a:lstStyle/>
          <a:p>
            <a:pPr indent="0" marL="0">
              <a:lnSpc>
                <a:spcPts val="2100"/>
              </a:lnSpc>
              <a:buNone/>
            </a:pPr>
            <a:r>
              <a:rPr lang="en-US" sz="1400" b="1" dirty="0">
                <a:solidFill>
                  <a:srgbClr val="FFFFFF"/>
                </a:solidFill>
                <a:latin typeface="Meiryo" pitchFamily="34" charset="0"/>
                <a:ea typeface="Meiryo" pitchFamily="34" charset="-122"/>
                <a:cs typeface="Meiryo" pitchFamily="34" charset="-120"/>
              </a:rPr>
              <a:t>炭酸の強い刺激が、判断力を担う脳の活動を後押しする可能性がある。——では、本当にそうなるのか。実際に測った実験があります。</a:t>
            </a:r>
            <a:endParaRPr lang="en-US" sz="1400" dirty="0"/>
          </a:p>
        </p:txBody>
      </p:sp>
      <p:sp>
        <p:nvSpPr>
          <p:cNvPr id="24" name="Shape 22"/>
          <p:cNvSpPr/>
          <p:nvPr/>
        </p:nvSpPr>
        <p:spPr>
          <a:xfrm>
            <a:off x="7498080" y="4617720"/>
            <a:ext cx="4114800" cy="1463040"/>
          </a:xfrm>
          <a:prstGeom prst="roundRect">
            <a:avLst>
              <a:gd name="adj" fmla="val 7500"/>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25" name="Text 23"/>
          <p:cNvSpPr/>
          <p:nvPr/>
        </p:nvSpPr>
        <p:spPr>
          <a:xfrm>
            <a:off x="7818120" y="4800600"/>
            <a:ext cx="3520440" cy="274320"/>
          </a:xfrm>
          <a:prstGeom prst="rect">
            <a:avLst/>
          </a:prstGeom>
          <a:noFill/>
          <a:ln/>
        </p:spPr>
        <p:txBody>
          <a:bodyPr wrap="square" lIns="0" tIns="0" rIns="0" bIns="0" rtlCol="0" anchor="t"/>
          <a:lstStyle/>
          <a:p>
            <a:pPr indent="0" marL="0">
              <a:buNone/>
            </a:pPr>
            <a:r>
              <a:rPr lang="en-US" sz="1250" b="1" dirty="0">
                <a:solidFill>
                  <a:srgbClr val="3B2F8F"/>
                </a:solidFill>
                <a:latin typeface="Meiryo" pitchFamily="34" charset="0"/>
                <a:ea typeface="Meiryo" pitchFamily="34" charset="-122"/>
                <a:cs typeface="Meiryo" pitchFamily="34" charset="-120"/>
              </a:rPr>
              <a:t>ちなみに</a:t>
            </a:r>
            <a:endParaRPr lang="en-US" sz="1250" dirty="0"/>
          </a:p>
        </p:txBody>
      </p:sp>
      <p:sp>
        <p:nvSpPr>
          <p:cNvPr id="26" name="Text 24"/>
          <p:cNvSpPr/>
          <p:nvPr/>
        </p:nvSpPr>
        <p:spPr>
          <a:xfrm>
            <a:off x="7818120" y="5138928"/>
            <a:ext cx="3520440" cy="777240"/>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缶を開けた時の「プシュッ」という音も、良い音になるように研究されているそうです。</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無糖の炭酸水を飲むだけで、3時間もった</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eスポーツを3時間プレイ。「炭酸水を飲みながら」と「真水を飲みながら」で比較した実験</a:t>
            </a:r>
            <a:endParaRPr lang="en-US" sz="1400" dirty="0"/>
          </a:p>
        </p:txBody>
      </p:sp>
      <p:sp>
        <p:nvSpPr>
          <p:cNvPr id="4" name="Shape 2"/>
          <p:cNvSpPr/>
          <p:nvPr/>
        </p:nvSpPr>
        <p:spPr>
          <a:xfrm>
            <a:off x="548640" y="1783080"/>
            <a:ext cx="5577840" cy="3154680"/>
          </a:xfrm>
          <a:prstGeom prst="roundRect">
            <a:avLst>
              <a:gd name="adj" fmla="val 3478"/>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5" name="Text 3"/>
          <p:cNvSpPr/>
          <p:nvPr/>
        </p:nvSpPr>
        <p:spPr>
          <a:xfrm>
            <a:off x="868680" y="2084832"/>
            <a:ext cx="4937760" cy="868680"/>
          </a:xfrm>
          <a:prstGeom prst="rect">
            <a:avLst/>
          </a:prstGeom>
          <a:noFill/>
          <a:ln/>
        </p:spPr>
        <p:txBody>
          <a:bodyPr wrap="square" lIns="0" tIns="0" rIns="0" bIns="0" rtlCol="0" anchor="t"/>
          <a:lstStyle/>
          <a:p>
            <a:pPr indent="0" marL="0">
              <a:lnSpc>
                <a:spcPts val="3200"/>
              </a:lnSpc>
              <a:buNone/>
            </a:pPr>
            <a:r>
              <a:rPr lang="en-US" sz="2400" b="1" dirty="0">
                <a:solidFill>
                  <a:srgbClr val="FFFFFF"/>
                </a:solidFill>
                <a:latin typeface="Meiryo" pitchFamily="34" charset="0"/>
                <a:ea typeface="Meiryo" pitchFamily="34" charset="-122"/>
                <a:cs typeface="Meiryo" pitchFamily="34" charset="-120"/>
              </a:rPr>
              <a:t>疲労とは言えない状態を</a:t>
            </a:r>
            <a:endParaRPr lang="en-US" sz="2400" dirty="0"/>
          </a:p>
          <a:p>
            <a:pPr indent="0" marL="0">
              <a:lnSpc>
                <a:spcPts val="3200"/>
              </a:lnSpc>
              <a:buNone/>
            </a:pPr>
            <a:r>
              <a:rPr lang="en-US" sz="2400" b="1" dirty="0">
                <a:solidFill>
                  <a:srgbClr val="FFFFFF"/>
                </a:solidFill>
                <a:latin typeface="Meiryo" pitchFamily="34" charset="0"/>
                <a:ea typeface="Meiryo" pitchFamily="34" charset="-122"/>
                <a:cs typeface="Meiryo" pitchFamily="34" charset="-120"/>
              </a:rPr>
              <a:t>3時間キープできた</a:t>
            </a:r>
            <a:endParaRPr lang="en-US" sz="2400" dirty="0"/>
          </a:p>
        </p:txBody>
      </p:sp>
      <p:sp>
        <p:nvSpPr>
          <p:cNvPr id="6" name="Text 4"/>
          <p:cNvSpPr/>
          <p:nvPr/>
        </p:nvSpPr>
        <p:spPr>
          <a:xfrm>
            <a:off x="914400" y="3154680"/>
            <a:ext cx="4846320" cy="960120"/>
          </a:xfrm>
          <a:prstGeom prst="rect">
            <a:avLst/>
          </a:prstGeom>
          <a:noFill/>
          <a:ln/>
        </p:spPr>
        <p:txBody>
          <a:bodyPr wrap="square" lIns="0" tIns="0" rIns="0" bIns="0" rtlCol="0" anchor="t"/>
          <a:lstStyle/>
          <a:p>
            <a:pPr marL="342900" indent="-342900">
              <a:lnSpc>
                <a:spcPts val="1800"/>
              </a:lnSpc>
              <a:spcAft>
                <a:spcPts val="400"/>
              </a:spcAft>
              <a:buSzPct val="100000"/>
              <a:buChar char="•"/>
            </a:pPr>
            <a:r>
              <a:rPr lang="en-US" sz="1250" dirty="0">
                <a:solidFill>
                  <a:srgbClr val="C9C2F2"/>
                </a:solidFill>
                <a:latin typeface="Meiryo" pitchFamily="34" charset="0"/>
                <a:ea typeface="Meiryo" pitchFamily="34" charset="-122"/>
                <a:cs typeface="Meiryo" pitchFamily="34" charset="-120"/>
              </a:rPr>
              <a:t>疲労感が、明らかに上がりにくくなった</a:t>
            </a:r>
            <a:endParaRPr lang="en-US" sz="1250" dirty="0"/>
          </a:p>
          <a:p>
            <a:pPr marL="342900" indent="-342900">
              <a:lnSpc>
                <a:spcPts val="1800"/>
              </a:lnSpc>
              <a:spcAft>
                <a:spcPts val="400"/>
              </a:spcAft>
              <a:buSzPct val="100000"/>
              <a:buChar char="•"/>
            </a:pPr>
            <a:r>
              <a:rPr lang="en-US" sz="1250" dirty="0">
                <a:solidFill>
                  <a:srgbClr val="C9C2F2"/>
                </a:solidFill>
                <a:latin typeface="Meiryo" pitchFamily="34" charset="0"/>
                <a:ea typeface="Meiryo" pitchFamily="34" charset="-122"/>
                <a:cs typeface="Meiryo" pitchFamily="34" charset="-120"/>
              </a:rPr>
              <a:t>判断の速度も、開始前より遅くなることはなかった</a:t>
            </a:r>
            <a:endParaRPr lang="en-US" sz="1250" dirty="0"/>
          </a:p>
          <a:p>
            <a:pPr marL="342900" indent="-342900">
              <a:lnSpc>
                <a:spcPts val="1800"/>
              </a:lnSpc>
              <a:spcAft>
                <a:spcPts val="400"/>
              </a:spcAft>
              <a:buSzPct val="100000"/>
              <a:buChar char="•"/>
            </a:pPr>
            <a:r>
              <a:rPr lang="en-US" sz="1250" dirty="0">
                <a:solidFill>
                  <a:srgbClr val="C9C2F2"/>
                </a:solidFill>
                <a:latin typeface="Meiryo" pitchFamily="34" charset="0"/>
                <a:ea typeface="Meiryo" pitchFamily="34" charset="-122"/>
                <a:cs typeface="Meiryo" pitchFamily="34" charset="-120"/>
              </a:rPr>
              <a:t>（完全に維持できるわけではないが、悪化はしない）</a:t>
            </a:r>
            <a:endParaRPr lang="en-US" sz="1250" dirty="0"/>
          </a:p>
        </p:txBody>
      </p:sp>
      <p:sp>
        <p:nvSpPr>
          <p:cNvPr id="7" name="Shape 5"/>
          <p:cNvSpPr/>
          <p:nvPr/>
        </p:nvSpPr>
        <p:spPr>
          <a:xfrm>
            <a:off x="868680" y="4224528"/>
            <a:ext cx="4937760" cy="502920"/>
          </a:xfrm>
          <a:prstGeom prst="roundRect">
            <a:avLst>
              <a:gd name="adj" fmla="val 18182"/>
            </a:avLst>
          </a:prstGeom>
          <a:solidFill>
            <a:srgbClr val="3A3080"/>
          </a:solidFill>
          <a:ln w="12700">
            <a:solidFill>
              <a:srgbClr val="5346B8"/>
            </a:solidFill>
            <a:prstDash val="solid"/>
          </a:ln>
        </p:spPr>
      </p:sp>
      <p:sp>
        <p:nvSpPr>
          <p:cNvPr id="8" name="Text 6"/>
          <p:cNvSpPr/>
          <p:nvPr/>
        </p:nvSpPr>
        <p:spPr>
          <a:xfrm>
            <a:off x="1051560" y="4224528"/>
            <a:ext cx="4572000" cy="502920"/>
          </a:xfrm>
          <a:prstGeom prst="rect">
            <a:avLst/>
          </a:prstGeom>
          <a:noFill/>
          <a:ln/>
        </p:spPr>
        <p:txBody>
          <a:bodyPr wrap="square" lIns="0" tIns="0" rIns="0" bIns="0" rtlCol="0" anchor="ctr"/>
          <a:lstStyle/>
          <a:p>
            <a:pPr indent="0" marL="0">
              <a:buNone/>
            </a:pPr>
            <a:r>
              <a:rPr lang="en-US" sz="1150" b="1" dirty="0">
                <a:solidFill>
                  <a:srgbClr val="F5A524"/>
                </a:solidFill>
                <a:latin typeface="Meiryo" pitchFamily="34" charset="0"/>
                <a:ea typeface="Meiryo" pitchFamily="34" charset="-122"/>
                <a:cs typeface="Meiryo" pitchFamily="34" charset="-120"/>
              </a:rPr>
              <a:t>量は3時間で500ml 1本を、3回に分けた程度。無理のない量。</a:t>
            </a:r>
            <a:endParaRPr lang="en-US" sz="1150" dirty="0"/>
          </a:p>
        </p:txBody>
      </p:sp>
      <p:sp>
        <p:nvSpPr>
          <p:cNvPr id="9" name="Shape 7"/>
          <p:cNvSpPr/>
          <p:nvPr/>
        </p:nvSpPr>
        <p:spPr>
          <a:xfrm>
            <a:off x="6355080" y="1783080"/>
            <a:ext cx="5257800" cy="3154680"/>
          </a:xfrm>
          <a:prstGeom prst="roundRect">
            <a:avLst>
              <a:gd name="adj" fmla="val 3478"/>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10" name="Text 8"/>
          <p:cNvSpPr/>
          <p:nvPr/>
        </p:nvSpPr>
        <p:spPr>
          <a:xfrm>
            <a:off x="6675120" y="1938528"/>
            <a:ext cx="4617720" cy="274320"/>
          </a:xfrm>
          <a:prstGeom prst="rect">
            <a:avLst/>
          </a:prstGeom>
          <a:noFill/>
          <a:ln/>
        </p:spPr>
        <p:txBody>
          <a:bodyPr wrap="square" lIns="0" tIns="0" rIns="0" bIns="0" rtlCol="0" anchor="t"/>
          <a:lstStyle/>
          <a:p>
            <a:pPr indent="0" marL="0">
              <a:buNone/>
            </a:pPr>
            <a:r>
              <a:rPr lang="en-US" sz="1300" b="1" dirty="0">
                <a:solidFill>
                  <a:srgbClr val="1A1636"/>
                </a:solidFill>
                <a:latin typeface="Meiryo" pitchFamily="34" charset="0"/>
                <a:ea typeface="Meiryo" pitchFamily="34" charset="-122"/>
                <a:cs typeface="Meiryo" pitchFamily="34" charset="-120"/>
              </a:rPr>
              <a:t>認知機能（判断力）— 真水 FW vs 炭酸水 CW</a:t>
            </a:r>
            <a:endParaRPr lang="en-US" sz="1300" dirty="0"/>
          </a:p>
        </p:txBody>
      </p:sp>
      <p:pic>
        <p:nvPicPr>
          <p:cNvPr id="11" name="Image 0" descr="/home/claude/frames/carb.jpg">    </p:cNvPr>
          <p:cNvPicPr>
            <a:picLocks noChangeAspect="1"/>
          </p:cNvPicPr>
          <p:nvPr/>
        </p:nvPicPr>
        <p:blipFill>
          <a:blip r:embed="rId1"/>
          <a:srcRect l="0" r="0" t="0" b="0"/>
          <a:stretch/>
        </p:blipFill>
        <p:spPr>
          <a:xfrm>
            <a:off x="7891272" y="2267712"/>
            <a:ext cx="2468880" cy="2084832"/>
          </a:xfrm>
          <a:prstGeom prst="rect">
            <a:avLst/>
          </a:prstGeom>
        </p:spPr>
      </p:pic>
      <p:sp>
        <p:nvSpPr>
          <p:cNvPr id="12" name="Text 9"/>
          <p:cNvSpPr/>
          <p:nvPr/>
        </p:nvSpPr>
        <p:spPr>
          <a:xfrm>
            <a:off x="6675120" y="4443984"/>
            <a:ext cx="4617720" cy="256032"/>
          </a:xfrm>
          <a:prstGeom prst="rect">
            <a:avLst/>
          </a:prstGeom>
          <a:noFill/>
          <a:ln/>
        </p:spPr>
        <p:txBody>
          <a:bodyPr wrap="square" lIns="0" tIns="0" rIns="0" bIns="0" rtlCol="0" anchor="t"/>
          <a:lstStyle/>
          <a:p>
            <a:pPr algn="ctr" indent="0" marL="0">
              <a:buNone/>
            </a:pPr>
            <a:r>
              <a:rPr lang="en-US" sz="1000" dirty="0">
                <a:solidFill>
                  <a:srgbClr val="6E6A85"/>
                </a:solidFill>
                <a:latin typeface="Meiryo" pitchFamily="34" charset="0"/>
                <a:ea typeface="Meiryo" pitchFamily="34" charset="-122"/>
                <a:cs typeface="Meiryo" pitchFamily="34" charset="-120"/>
              </a:rPr>
              <a:t>数値が低いほど判断が良い。炭酸水（CW・赤）が終始うわまわる。</a:t>
            </a:r>
            <a:endParaRPr lang="en-US" sz="1000" dirty="0"/>
          </a:p>
        </p:txBody>
      </p:sp>
      <p:sp>
        <p:nvSpPr>
          <p:cNvPr id="13" name="Text 10"/>
          <p:cNvSpPr/>
          <p:nvPr/>
        </p:nvSpPr>
        <p:spPr>
          <a:xfrm>
            <a:off x="6675120" y="4681728"/>
            <a:ext cx="4617720" cy="201168"/>
          </a:xfrm>
          <a:prstGeom prst="rect">
            <a:avLst/>
          </a:prstGeom>
          <a:noFill/>
          <a:ln/>
        </p:spPr>
        <p:txBody>
          <a:bodyPr wrap="square" lIns="0" tIns="0" rIns="0" bIns="0" rtlCol="0" anchor="t"/>
          <a:lstStyle/>
          <a:p>
            <a:pPr algn="ctr" indent="0" marL="0">
              <a:buNone/>
            </a:pPr>
            <a:r>
              <a:rPr lang="en-US" sz="850" dirty="0">
                <a:solidFill>
                  <a:srgbClr val="9B97AE"/>
                </a:solidFill>
                <a:latin typeface="Meiryo" pitchFamily="34" charset="0"/>
                <a:ea typeface="Meiryo" pitchFamily="34" charset="-122"/>
                <a:cs typeface="Meiryo" pitchFamily="34" charset="-120"/>
              </a:rPr>
              <a:t>(Takahashi &amp; Matsui et al., 2022)</a:t>
            </a:r>
            <a:endParaRPr lang="en-US" sz="850" dirty="0"/>
          </a:p>
        </p:txBody>
      </p:sp>
      <p:sp>
        <p:nvSpPr>
          <p:cNvPr id="14" name="Shape 11"/>
          <p:cNvSpPr/>
          <p:nvPr/>
        </p:nvSpPr>
        <p:spPr>
          <a:xfrm>
            <a:off x="548640" y="5166360"/>
            <a:ext cx="11064240" cy="1143000"/>
          </a:xfrm>
          <a:prstGeom prst="roundRect">
            <a:avLst>
              <a:gd name="adj" fmla="val 9600"/>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15" name="Shape 12"/>
          <p:cNvSpPr/>
          <p:nvPr/>
        </p:nvSpPr>
        <p:spPr>
          <a:xfrm>
            <a:off x="914400" y="5449824"/>
            <a:ext cx="566928" cy="566928"/>
          </a:xfrm>
          <a:prstGeom prst="ellipse">
            <a:avLst/>
          </a:prstGeom>
          <a:solidFill>
            <a:srgbClr val="FF6B5B"/>
          </a:solidFill>
          <a:ln w="12700">
            <a:solidFill>
              <a:srgbClr val="FF6B5B"/>
            </a:solidFill>
            <a:prstDash val="solid"/>
          </a:ln>
        </p:spPr>
      </p:sp>
      <p:sp>
        <p:nvSpPr>
          <p:cNvPr id="16" name="Text 13"/>
          <p:cNvSpPr/>
          <p:nvPr/>
        </p:nvSpPr>
        <p:spPr>
          <a:xfrm>
            <a:off x="914400" y="5449824"/>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a:t>
            </a:r>
            <a:endParaRPr lang="en-US" sz="1800" dirty="0"/>
          </a:p>
        </p:txBody>
      </p:sp>
      <p:sp>
        <p:nvSpPr>
          <p:cNvPr id="17" name="Text 14"/>
          <p:cNvSpPr/>
          <p:nvPr/>
        </p:nvSpPr>
        <p:spPr>
          <a:xfrm>
            <a:off x="1691640" y="5166360"/>
            <a:ext cx="9601200" cy="1143000"/>
          </a:xfrm>
          <a:prstGeom prst="rect">
            <a:avLst/>
          </a:prstGeom>
          <a:noFill/>
          <a:ln/>
        </p:spPr>
        <p:txBody>
          <a:bodyPr wrap="square" lIns="0" tIns="0" rIns="0" bIns="0" rtlCol="0" anchor="ctr"/>
          <a:lstStyle/>
          <a:p>
            <a:pPr indent="0" marL="0">
              <a:buNone/>
            </a:pPr>
            <a:r>
              <a:rPr lang="en-US" sz="1600" b="1" dirty="0">
                <a:solidFill>
                  <a:srgbClr val="1A1636"/>
                </a:solidFill>
                <a:latin typeface="Meiryo" pitchFamily="34" charset="0"/>
                <a:ea typeface="Meiryo" pitchFamily="34" charset="-122"/>
                <a:cs typeface="Meiryo" pitchFamily="34" charset="-120"/>
              </a:rPr>
              <a:t>しかも、一緒に飲むともっと効く——という話が、この先にあります。</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そして、みんなで飲むと もっと効く</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疲労と楽しさはトレードオフ。疲れると面白くなくなり、面白いと疲れを感じにくい</a:t>
            </a:r>
            <a:endParaRPr lang="en-US" sz="1400" dirty="0"/>
          </a:p>
        </p:txBody>
      </p:sp>
      <p:sp>
        <p:nvSpPr>
          <p:cNvPr id="4" name="Shape 2"/>
          <p:cNvSpPr/>
          <p:nvPr/>
        </p:nvSpPr>
        <p:spPr>
          <a:xfrm>
            <a:off x="548640" y="1828800"/>
            <a:ext cx="3538728" cy="2606040"/>
          </a:xfrm>
          <a:prstGeom prst="roundRect">
            <a:avLst>
              <a:gd name="adj" fmla="val 4211"/>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841248" y="2103120"/>
            <a:ext cx="566928" cy="566928"/>
          </a:xfrm>
          <a:prstGeom prst="ellipse">
            <a:avLst/>
          </a:prstGeom>
          <a:solidFill>
            <a:srgbClr val="5B4BD6"/>
          </a:solidFill>
          <a:ln w="12700">
            <a:solidFill>
              <a:srgbClr val="5B4BD6"/>
            </a:solidFill>
            <a:prstDash val="solid"/>
          </a:ln>
        </p:spPr>
      </p:sp>
      <p:sp>
        <p:nvSpPr>
          <p:cNvPr id="6" name="Text 4"/>
          <p:cNvSpPr/>
          <p:nvPr/>
        </p:nvSpPr>
        <p:spPr>
          <a:xfrm>
            <a:off x="841248" y="210312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楽</a:t>
            </a:r>
            <a:endParaRPr lang="en-US" sz="1800" dirty="0"/>
          </a:p>
        </p:txBody>
      </p:sp>
      <p:sp>
        <p:nvSpPr>
          <p:cNvPr id="7" name="Text 5"/>
          <p:cNvSpPr/>
          <p:nvPr/>
        </p:nvSpPr>
        <p:spPr>
          <a:xfrm>
            <a:off x="841248" y="2852928"/>
            <a:ext cx="2971800" cy="685800"/>
          </a:xfrm>
          <a:prstGeom prst="rect">
            <a:avLst/>
          </a:prstGeom>
          <a:noFill/>
          <a:ln/>
        </p:spPr>
        <p:txBody>
          <a:bodyPr wrap="square" lIns="0" tIns="0" rIns="0" bIns="0" rtlCol="0" anchor="t"/>
          <a:lstStyle/>
          <a:p>
            <a:pPr indent="0" marL="0">
              <a:lnSpc>
                <a:spcPts val="2200"/>
              </a:lnSpc>
              <a:buNone/>
            </a:pPr>
            <a:r>
              <a:rPr lang="en-US" sz="1600" b="1" dirty="0">
                <a:solidFill>
                  <a:srgbClr val="1A1636"/>
                </a:solidFill>
                <a:latin typeface="Meiryo" pitchFamily="34" charset="0"/>
                <a:ea typeface="Meiryo" pitchFamily="34" charset="-122"/>
                <a:cs typeface="Meiryo" pitchFamily="34" charset="-120"/>
              </a:rPr>
              <a:t>疲労感が上がらない</a:t>
            </a:r>
            <a:endParaRPr lang="en-US" sz="1600" dirty="0"/>
          </a:p>
          <a:p>
            <a:pPr indent="0" marL="0">
              <a:lnSpc>
                <a:spcPts val="2200"/>
              </a:lnSpc>
              <a:buNone/>
            </a:pPr>
            <a:r>
              <a:rPr lang="en-US" sz="1600" b="1" dirty="0">
                <a:solidFill>
                  <a:srgbClr val="1A1636"/>
                </a:solidFill>
                <a:latin typeface="Meiryo" pitchFamily="34" charset="0"/>
                <a:ea typeface="Meiryo" pitchFamily="34" charset="-122"/>
                <a:cs typeface="Meiryo" pitchFamily="34" charset="-120"/>
              </a:rPr>
              <a:t>＝ 楽しみやすい</a:t>
            </a:r>
            <a:endParaRPr lang="en-US" sz="1600" dirty="0"/>
          </a:p>
        </p:txBody>
      </p:sp>
      <p:sp>
        <p:nvSpPr>
          <p:cNvPr id="8" name="Text 6"/>
          <p:cNvSpPr/>
          <p:nvPr/>
        </p:nvSpPr>
        <p:spPr>
          <a:xfrm>
            <a:off x="841248" y="3611880"/>
            <a:ext cx="2971800" cy="731520"/>
          </a:xfrm>
          <a:prstGeom prst="rect">
            <a:avLst/>
          </a:prstGeom>
          <a:noFill/>
          <a:ln/>
        </p:spPr>
        <p:txBody>
          <a:bodyPr wrap="square" lIns="0" tIns="0" rIns="0" bIns="0" rtlCol="0" anchor="t"/>
          <a:lstStyle/>
          <a:p>
            <a:pPr indent="0" marL="0">
              <a:lnSpc>
                <a:spcPts val="1800"/>
              </a:lnSpc>
              <a:buNone/>
            </a:pPr>
            <a:r>
              <a:rPr lang="en-US" sz="1200" dirty="0">
                <a:solidFill>
                  <a:srgbClr val="6E6A85"/>
                </a:solidFill>
                <a:latin typeface="Meiryo" pitchFamily="34" charset="0"/>
                <a:ea typeface="Meiryo" pitchFamily="34" charset="-122"/>
                <a:cs typeface="Meiryo" pitchFamily="34" charset="-120"/>
              </a:rPr>
              <a:t>疲れを感じにくいぶん、ゲームも会話も楽しめる。一緒に飲むと仲良くなりやすい、という研究も。</a:t>
            </a:r>
            <a:endParaRPr lang="en-US" sz="1200" dirty="0"/>
          </a:p>
        </p:txBody>
      </p:sp>
      <p:sp>
        <p:nvSpPr>
          <p:cNvPr id="9" name="Shape 7"/>
          <p:cNvSpPr/>
          <p:nvPr/>
        </p:nvSpPr>
        <p:spPr>
          <a:xfrm>
            <a:off x="4315968" y="1828800"/>
            <a:ext cx="3538728" cy="2606040"/>
          </a:xfrm>
          <a:prstGeom prst="roundRect">
            <a:avLst>
              <a:gd name="adj" fmla="val 4211"/>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10" name="Shape 8"/>
          <p:cNvSpPr/>
          <p:nvPr/>
        </p:nvSpPr>
        <p:spPr>
          <a:xfrm>
            <a:off x="4608576" y="2103120"/>
            <a:ext cx="566928" cy="566928"/>
          </a:xfrm>
          <a:prstGeom prst="ellipse">
            <a:avLst/>
          </a:prstGeom>
          <a:solidFill>
            <a:srgbClr val="FF6B5B"/>
          </a:solidFill>
          <a:ln w="12700">
            <a:solidFill>
              <a:srgbClr val="FF6B5B"/>
            </a:solidFill>
            <a:prstDash val="solid"/>
          </a:ln>
        </p:spPr>
      </p:sp>
      <p:sp>
        <p:nvSpPr>
          <p:cNvPr id="11" name="Text 9"/>
          <p:cNvSpPr/>
          <p:nvPr/>
        </p:nvSpPr>
        <p:spPr>
          <a:xfrm>
            <a:off x="4608576" y="210312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杯</a:t>
            </a:r>
            <a:endParaRPr lang="en-US" sz="1800" dirty="0"/>
          </a:p>
        </p:txBody>
      </p:sp>
      <p:sp>
        <p:nvSpPr>
          <p:cNvPr id="12" name="Text 10"/>
          <p:cNvSpPr/>
          <p:nvPr/>
        </p:nvSpPr>
        <p:spPr>
          <a:xfrm>
            <a:off x="4608576" y="2852928"/>
            <a:ext cx="2971800" cy="685800"/>
          </a:xfrm>
          <a:prstGeom prst="rect">
            <a:avLst/>
          </a:prstGeom>
          <a:noFill/>
          <a:ln/>
        </p:spPr>
        <p:txBody>
          <a:bodyPr wrap="square" lIns="0" tIns="0" rIns="0" bIns="0" rtlCol="0" anchor="t"/>
          <a:lstStyle/>
          <a:p>
            <a:pPr indent="0" marL="0">
              <a:lnSpc>
                <a:spcPts val="2200"/>
              </a:lnSpc>
              <a:buNone/>
            </a:pPr>
            <a:r>
              <a:rPr lang="en-US" sz="1600" b="1" dirty="0">
                <a:solidFill>
                  <a:srgbClr val="1A1636"/>
                </a:solidFill>
                <a:latin typeface="Meiryo" pitchFamily="34" charset="0"/>
                <a:ea typeface="Meiryo" pitchFamily="34" charset="-122"/>
                <a:cs typeface="Meiryo" pitchFamily="34" charset="-120"/>
              </a:rPr>
              <a:t>乾杯が盛り上がるのは</a:t>
            </a:r>
            <a:endParaRPr lang="en-US" sz="1600" dirty="0"/>
          </a:p>
          <a:p>
            <a:pPr indent="0" marL="0">
              <a:lnSpc>
                <a:spcPts val="2200"/>
              </a:lnSpc>
              <a:buNone/>
            </a:pPr>
            <a:r>
              <a:rPr lang="en-US" sz="1600" b="1" dirty="0">
                <a:solidFill>
                  <a:srgbClr val="1A1636"/>
                </a:solidFill>
                <a:latin typeface="Meiryo" pitchFamily="34" charset="0"/>
                <a:ea typeface="Meiryo" pitchFamily="34" charset="-122"/>
                <a:cs typeface="Meiryo" pitchFamily="34" charset="-120"/>
              </a:rPr>
              <a:t>アルコールではない</a:t>
            </a:r>
            <a:endParaRPr lang="en-US" sz="1600" dirty="0"/>
          </a:p>
        </p:txBody>
      </p:sp>
      <p:sp>
        <p:nvSpPr>
          <p:cNvPr id="13" name="Text 11"/>
          <p:cNvSpPr/>
          <p:nvPr/>
        </p:nvSpPr>
        <p:spPr>
          <a:xfrm>
            <a:off x="4608576" y="3611880"/>
            <a:ext cx="2971800" cy="731520"/>
          </a:xfrm>
          <a:prstGeom prst="rect">
            <a:avLst/>
          </a:prstGeom>
          <a:noFill/>
          <a:ln/>
        </p:spPr>
        <p:txBody>
          <a:bodyPr wrap="square" lIns="0" tIns="0" rIns="0" bIns="0" rtlCol="0" anchor="t"/>
          <a:lstStyle/>
          <a:p>
            <a:pPr indent="0" marL="0">
              <a:lnSpc>
                <a:spcPts val="1800"/>
              </a:lnSpc>
              <a:buNone/>
            </a:pPr>
            <a:r>
              <a:rPr lang="en-US" sz="1200" dirty="0">
                <a:solidFill>
                  <a:srgbClr val="6E6A85"/>
                </a:solidFill>
                <a:latin typeface="Meiryo" pitchFamily="34" charset="0"/>
                <a:ea typeface="Meiryo" pitchFamily="34" charset="-122"/>
                <a:cs typeface="Meiryo" pitchFamily="34" charset="-120"/>
              </a:rPr>
              <a:t>アルコールが回るのは20〜30分後。乾杯した瞬間の高揚は、ビールやシャンパンの「炭酸」によるもの。</a:t>
            </a:r>
            <a:endParaRPr lang="en-US" sz="1200" dirty="0"/>
          </a:p>
        </p:txBody>
      </p:sp>
      <p:sp>
        <p:nvSpPr>
          <p:cNvPr id="14" name="Shape 12"/>
          <p:cNvSpPr/>
          <p:nvPr/>
        </p:nvSpPr>
        <p:spPr>
          <a:xfrm>
            <a:off x="8074152" y="1828800"/>
            <a:ext cx="3538728" cy="2606040"/>
          </a:xfrm>
          <a:prstGeom prst="roundRect">
            <a:avLst>
              <a:gd name="adj" fmla="val 4211"/>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15" name="Shape 13"/>
          <p:cNvSpPr/>
          <p:nvPr/>
        </p:nvSpPr>
        <p:spPr>
          <a:xfrm>
            <a:off x="8366760" y="2103120"/>
            <a:ext cx="566928" cy="566928"/>
          </a:xfrm>
          <a:prstGeom prst="ellipse">
            <a:avLst/>
          </a:prstGeom>
          <a:solidFill>
            <a:srgbClr val="12B886"/>
          </a:solidFill>
          <a:ln w="12700">
            <a:solidFill>
              <a:srgbClr val="12B886"/>
            </a:solidFill>
            <a:prstDash val="solid"/>
          </a:ln>
        </p:spPr>
      </p:sp>
      <p:sp>
        <p:nvSpPr>
          <p:cNvPr id="16" name="Text 14"/>
          <p:cNvSpPr/>
          <p:nvPr/>
        </p:nvSpPr>
        <p:spPr>
          <a:xfrm>
            <a:off x="8366760" y="210312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議</a:t>
            </a:r>
            <a:endParaRPr lang="en-US" sz="1800" dirty="0"/>
          </a:p>
        </p:txBody>
      </p:sp>
      <p:sp>
        <p:nvSpPr>
          <p:cNvPr id="17" name="Text 15"/>
          <p:cNvSpPr/>
          <p:nvPr/>
        </p:nvSpPr>
        <p:spPr>
          <a:xfrm>
            <a:off x="8366760" y="2852928"/>
            <a:ext cx="2971800" cy="685800"/>
          </a:xfrm>
          <a:prstGeom prst="rect">
            <a:avLst/>
          </a:prstGeom>
          <a:noFill/>
          <a:ln/>
        </p:spPr>
        <p:txBody>
          <a:bodyPr wrap="square" lIns="0" tIns="0" rIns="0" bIns="0" rtlCol="0" anchor="t"/>
          <a:lstStyle/>
          <a:p>
            <a:pPr indent="0" marL="0">
              <a:lnSpc>
                <a:spcPts val="2200"/>
              </a:lnSpc>
              <a:buNone/>
            </a:pPr>
            <a:r>
              <a:rPr lang="en-US" sz="1600" b="1" dirty="0">
                <a:solidFill>
                  <a:srgbClr val="1A1636"/>
                </a:solidFill>
                <a:latin typeface="Meiryo" pitchFamily="34" charset="0"/>
                <a:ea typeface="Meiryo" pitchFamily="34" charset="-122"/>
                <a:cs typeface="Meiryo" pitchFamily="34" charset="-120"/>
              </a:rPr>
              <a:t>昼の会議でも</a:t>
            </a:r>
            <a:endParaRPr lang="en-US" sz="1600" dirty="0"/>
          </a:p>
          <a:p>
            <a:pPr indent="0" marL="0">
              <a:lnSpc>
                <a:spcPts val="2200"/>
              </a:lnSpc>
              <a:buNone/>
            </a:pPr>
            <a:r>
              <a:rPr lang="en-US" sz="1600" b="1" dirty="0">
                <a:solidFill>
                  <a:srgbClr val="1A1636"/>
                </a:solidFill>
                <a:latin typeface="Meiryo" pitchFamily="34" charset="0"/>
                <a:ea typeface="Meiryo" pitchFamily="34" charset="-122"/>
                <a:cs typeface="Meiryo" pitchFamily="34" charset="-120"/>
              </a:rPr>
              <a:t>配りやすい</a:t>
            </a:r>
            <a:endParaRPr lang="en-US" sz="1600" dirty="0"/>
          </a:p>
        </p:txBody>
      </p:sp>
      <p:sp>
        <p:nvSpPr>
          <p:cNvPr id="18" name="Text 16"/>
          <p:cNvSpPr/>
          <p:nvPr/>
        </p:nvSpPr>
        <p:spPr>
          <a:xfrm>
            <a:off x="8366760" y="3611880"/>
            <a:ext cx="2971800" cy="731520"/>
          </a:xfrm>
          <a:prstGeom prst="rect">
            <a:avLst/>
          </a:prstGeom>
          <a:noFill/>
          <a:ln/>
        </p:spPr>
        <p:txBody>
          <a:bodyPr wrap="square" lIns="0" tIns="0" rIns="0" bIns="0" rtlCol="0" anchor="t"/>
          <a:lstStyle/>
          <a:p>
            <a:pPr indent="0" marL="0">
              <a:lnSpc>
                <a:spcPts val="1800"/>
              </a:lnSpc>
              <a:buNone/>
            </a:pPr>
            <a:r>
              <a:rPr lang="en-US" sz="1200" dirty="0">
                <a:solidFill>
                  <a:srgbClr val="6E6A85"/>
                </a:solidFill>
                <a:latin typeface="Meiryo" pitchFamily="34" charset="0"/>
                <a:ea typeface="Meiryo" pitchFamily="34" charset="-122"/>
                <a:cs typeface="Meiryo" pitchFamily="34" charset="-120"/>
              </a:rPr>
              <a:t>ノンアルビールは配りにくいが、無糖の炭酸水なら自然。効能を説明しながら配ればアイスブレイクにもなる。</a:t>
            </a:r>
            <a:endParaRPr lang="en-US" sz="1200" dirty="0"/>
          </a:p>
        </p:txBody>
      </p:sp>
      <p:sp>
        <p:nvSpPr>
          <p:cNvPr id="19" name="Shape 17"/>
          <p:cNvSpPr/>
          <p:nvPr/>
        </p:nvSpPr>
        <p:spPr>
          <a:xfrm>
            <a:off x="548640" y="4754880"/>
            <a:ext cx="11064240" cy="1234440"/>
          </a:xfrm>
          <a:prstGeom prst="roundRect">
            <a:avLst>
              <a:gd name="adj" fmla="val 8889"/>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20" name="Text 18"/>
          <p:cNvSpPr/>
          <p:nvPr/>
        </p:nvSpPr>
        <p:spPr>
          <a:xfrm>
            <a:off x="914400" y="4754880"/>
            <a:ext cx="10332720" cy="123444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「なんで炭酸なの？」から会話が始まる。部会や近況報告のような場ほど、和やかに進む。</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01A4C"/>
        </a:solidFill>
      </p:bgPr>
    </p:bg>
    <p:spTree>
      <p:nvGrpSpPr>
        <p:cNvPr id="1" name=""/>
        <p:cNvGrpSpPr/>
        <p:nvPr/>
      </p:nvGrpSpPr>
      <p:grpSpPr>
        <a:xfrm>
          <a:off x="0" y="0"/>
          <a:ext cx="0" cy="0"/>
          <a:chOff x="0" y="0"/>
          <a:chExt cx="0" cy="0"/>
        </a:xfrm>
      </p:grpSpPr>
      <p:sp>
        <p:nvSpPr>
          <p:cNvPr id="2" name="Shape 0"/>
          <p:cNvSpPr/>
          <p:nvPr/>
        </p:nvSpPr>
        <p:spPr>
          <a:xfrm>
            <a:off x="7680960" y="1645920"/>
            <a:ext cx="3566160" cy="3566160"/>
          </a:xfrm>
          <a:prstGeom prst="ellipse">
            <a:avLst/>
          </a:prstGeom>
          <a:solidFill>
            <a:srgbClr val="201A4C"/>
          </a:solidFill>
          <a:ln w="25400">
            <a:solidFill>
              <a:srgbClr val="3A3080"/>
            </a:solidFill>
            <a:prstDash val="solid"/>
          </a:ln>
        </p:spPr>
      </p:sp>
      <p:sp>
        <p:nvSpPr>
          <p:cNvPr id="3" name="Shape 1"/>
          <p:cNvSpPr/>
          <p:nvPr/>
        </p:nvSpPr>
        <p:spPr>
          <a:xfrm>
            <a:off x="8092440" y="2057400"/>
            <a:ext cx="2743200" cy="2743200"/>
          </a:xfrm>
          <a:prstGeom prst="ellipse">
            <a:avLst/>
          </a:prstGeom>
          <a:solidFill>
            <a:srgbClr val="201A4C"/>
          </a:solidFill>
          <a:ln w="25400">
            <a:solidFill>
              <a:srgbClr val="45399A"/>
            </a:solidFill>
            <a:prstDash val="solid"/>
          </a:ln>
        </p:spPr>
      </p:sp>
      <p:sp>
        <p:nvSpPr>
          <p:cNvPr id="4" name="Shape 2"/>
          <p:cNvSpPr/>
          <p:nvPr/>
        </p:nvSpPr>
        <p:spPr>
          <a:xfrm>
            <a:off x="8503920" y="2468880"/>
            <a:ext cx="1920240" cy="1920240"/>
          </a:xfrm>
          <a:prstGeom prst="ellipse">
            <a:avLst/>
          </a:prstGeom>
          <a:solidFill>
            <a:srgbClr val="201A4C"/>
          </a:solidFill>
          <a:ln w="25400">
            <a:solidFill>
              <a:srgbClr val="5346B8"/>
            </a:solidFill>
            <a:prstDash val="solid"/>
          </a:ln>
        </p:spPr>
      </p:sp>
      <p:sp>
        <p:nvSpPr>
          <p:cNvPr id="5" name="Shape 3"/>
          <p:cNvSpPr/>
          <p:nvPr/>
        </p:nvSpPr>
        <p:spPr>
          <a:xfrm>
            <a:off x="8897112" y="2862072"/>
            <a:ext cx="1133856" cy="1133856"/>
          </a:xfrm>
          <a:prstGeom prst="ellipse">
            <a:avLst/>
          </a:prstGeom>
          <a:solidFill>
            <a:srgbClr val="FF6B5B"/>
          </a:solidFill>
          <a:ln w="12700">
            <a:solidFill>
              <a:srgbClr val="FF6B5B"/>
            </a:solidFill>
            <a:prstDash val="solid"/>
          </a:ln>
        </p:spPr>
      </p:sp>
      <p:sp>
        <p:nvSpPr>
          <p:cNvPr id="6" name="Text 4"/>
          <p:cNvSpPr/>
          <p:nvPr/>
        </p:nvSpPr>
        <p:spPr>
          <a:xfrm>
            <a:off x="8897112" y="2862072"/>
            <a:ext cx="1133856" cy="1133856"/>
          </a:xfrm>
          <a:prstGeom prst="rect">
            <a:avLst/>
          </a:prstGeom>
          <a:noFill/>
          <a:ln/>
        </p:spPr>
        <p:txBody>
          <a:bodyPr wrap="square" lIns="0" tIns="0" rIns="0" bIns="0" rtlCol="0" anchor="ctr"/>
          <a:lstStyle/>
          <a:p>
            <a:pPr algn="ctr" indent="0" marL="0">
              <a:buNone/>
            </a:pPr>
            <a:r>
              <a:rPr lang="en-US" sz="3000" b="1" dirty="0">
                <a:solidFill>
                  <a:srgbClr val="FFFFFF"/>
                </a:solidFill>
                <a:latin typeface="Meiryo" pitchFamily="34" charset="0"/>
                <a:ea typeface="Meiryo" pitchFamily="34" charset="-122"/>
                <a:cs typeface="Meiryo" pitchFamily="34" charset="-120"/>
              </a:rPr>
              <a:t>＋</a:t>
            </a:r>
            <a:endParaRPr lang="en-US" sz="3000" dirty="0"/>
          </a:p>
        </p:txBody>
      </p:sp>
      <p:sp>
        <p:nvSpPr>
          <p:cNvPr id="7" name="Text 5"/>
          <p:cNvSpPr/>
          <p:nvPr/>
        </p:nvSpPr>
        <p:spPr>
          <a:xfrm>
            <a:off x="777240" y="1737360"/>
            <a:ext cx="6858000" cy="320040"/>
          </a:xfrm>
          <a:prstGeom prst="rect">
            <a:avLst/>
          </a:prstGeom>
          <a:noFill/>
          <a:ln/>
        </p:spPr>
        <p:txBody>
          <a:bodyPr wrap="square" lIns="0" tIns="0" rIns="0" bIns="0" rtlCol="0" anchor="t"/>
          <a:lstStyle/>
          <a:p>
            <a:pPr indent="0" marL="0">
              <a:buNone/>
            </a:pPr>
            <a:r>
              <a:rPr lang="en-US" sz="1300" spc="100" kern="0" dirty="0">
                <a:solidFill>
                  <a:srgbClr val="9A8FF2"/>
                </a:solidFill>
                <a:latin typeface="Meiryo" pitchFamily="34" charset="0"/>
                <a:ea typeface="Meiryo" pitchFamily="34" charset="-122"/>
                <a:cs typeface="Meiryo" pitchFamily="34" charset="-120"/>
              </a:rPr>
              <a:t>補足資料</a:t>
            </a:r>
            <a:endParaRPr lang="en-US" sz="1300" dirty="0"/>
          </a:p>
        </p:txBody>
      </p:sp>
      <p:sp>
        <p:nvSpPr>
          <p:cNvPr id="8" name="Text 6"/>
          <p:cNvSpPr/>
          <p:nvPr/>
        </p:nvSpPr>
        <p:spPr>
          <a:xfrm>
            <a:off x="777240" y="2148840"/>
            <a:ext cx="7315200" cy="914400"/>
          </a:xfrm>
          <a:prstGeom prst="rect">
            <a:avLst/>
          </a:prstGeom>
          <a:noFill/>
          <a:ln/>
        </p:spPr>
        <p:txBody>
          <a:bodyPr wrap="square" lIns="0" tIns="0" rIns="0" bIns="0" rtlCol="0" anchor="t"/>
          <a:lstStyle/>
          <a:p>
            <a:pPr indent="0" marL="0">
              <a:buNone/>
            </a:pPr>
            <a:r>
              <a:rPr lang="en-US" sz="4600" b="1" dirty="0">
                <a:solidFill>
                  <a:srgbClr val="FFFFFF"/>
                </a:solidFill>
                <a:latin typeface="Meiryo" pitchFamily="34" charset="0"/>
                <a:ea typeface="Meiryo" pitchFamily="34" charset="-122"/>
                <a:cs typeface="Meiryo" pitchFamily="34" charset="-120"/>
              </a:rPr>
              <a:t>Appendix</a:t>
            </a:r>
            <a:endParaRPr lang="en-US" sz="4600" dirty="0"/>
          </a:p>
        </p:txBody>
      </p:sp>
      <p:sp>
        <p:nvSpPr>
          <p:cNvPr id="9" name="Text 7"/>
          <p:cNvSpPr/>
          <p:nvPr/>
        </p:nvSpPr>
        <p:spPr>
          <a:xfrm>
            <a:off x="804672" y="3200400"/>
            <a:ext cx="7315200" cy="365760"/>
          </a:xfrm>
          <a:prstGeom prst="rect">
            <a:avLst/>
          </a:prstGeom>
          <a:noFill/>
          <a:ln/>
        </p:spPr>
        <p:txBody>
          <a:bodyPr wrap="square" lIns="0" tIns="0" rIns="0" bIns="0" rtlCol="0" anchor="t"/>
          <a:lstStyle/>
          <a:p>
            <a:pPr indent="0" marL="0">
              <a:buNone/>
            </a:pPr>
            <a:r>
              <a:rPr lang="en-US" sz="1500" dirty="0">
                <a:solidFill>
                  <a:srgbClr val="CFC9F5"/>
                </a:solidFill>
                <a:latin typeface="Meiryo" pitchFamily="34" charset="0"/>
                <a:ea typeface="Meiryo" pitchFamily="34" charset="-122"/>
                <a:cs typeface="Meiryo" pitchFamily="34" charset="-120"/>
              </a:rPr>
              <a:t>本編では触れなかった、4要素のうち「運動」と「栄養」の補足です</a:t>
            </a:r>
            <a:endParaRPr lang="en-US" sz="1500" dirty="0"/>
          </a:p>
        </p:txBody>
      </p:sp>
      <p:sp>
        <p:nvSpPr>
          <p:cNvPr id="10" name="Shape 8"/>
          <p:cNvSpPr/>
          <p:nvPr/>
        </p:nvSpPr>
        <p:spPr>
          <a:xfrm>
            <a:off x="777240" y="3931920"/>
            <a:ext cx="7315200" cy="777240"/>
          </a:xfrm>
          <a:prstGeom prst="roundRect">
            <a:avLst>
              <a:gd name="adj" fmla="val 14118"/>
            </a:avLst>
          </a:prstGeom>
          <a:solidFill>
            <a:srgbClr val="2E2668"/>
          </a:solidFill>
          <a:ln w="12700">
            <a:solidFill>
              <a:srgbClr val="40368C"/>
            </a:solidFill>
            <a:prstDash val="solid"/>
          </a:ln>
        </p:spPr>
      </p:sp>
      <p:sp>
        <p:nvSpPr>
          <p:cNvPr id="11" name="Shape 9"/>
          <p:cNvSpPr/>
          <p:nvPr/>
        </p:nvSpPr>
        <p:spPr>
          <a:xfrm>
            <a:off x="1024128" y="4105656"/>
            <a:ext cx="438912" cy="438912"/>
          </a:xfrm>
          <a:prstGeom prst="ellipse">
            <a:avLst/>
          </a:prstGeom>
          <a:solidFill>
            <a:srgbClr val="5B4BD6"/>
          </a:solidFill>
          <a:ln w="12700">
            <a:solidFill>
              <a:srgbClr val="5B4BD6"/>
            </a:solidFill>
            <a:prstDash val="solid"/>
          </a:ln>
        </p:spPr>
      </p:sp>
      <p:sp>
        <p:nvSpPr>
          <p:cNvPr id="12" name="Text 10"/>
          <p:cNvSpPr/>
          <p:nvPr/>
        </p:nvSpPr>
        <p:spPr>
          <a:xfrm>
            <a:off x="1024128" y="4105656"/>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13" name="Text 11"/>
          <p:cNvSpPr/>
          <p:nvPr/>
        </p:nvSpPr>
        <p:spPr>
          <a:xfrm>
            <a:off x="1627632" y="3931920"/>
            <a:ext cx="1463040" cy="77724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運　動</a:t>
            </a:r>
            <a:endParaRPr lang="en-US" sz="1400" dirty="0"/>
          </a:p>
        </p:txBody>
      </p:sp>
      <p:sp>
        <p:nvSpPr>
          <p:cNvPr id="14" name="Text 12"/>
          <p:cNvSpPr/>
          <p:nvPr/>
        </p:nvSpPr>
        <p:spPr>
          <a:xfrm>
            <a:off x="3108960" y="3931920"/>
            <a:ext cx="4800600" cy="777240"/>
          </a:xfrm>
          <a:prstGeom prst="rect">
            <a:avLst/>
          </a:prstGeom>
          <a:noFill/>
          <a:ln/>
        </p:spPr>
        <p:txBody>
          <a:bodyPr wrap="square" lIns="0" tIns="0" rIns="0" bIns="0" rtlCol="0" anchor="ctr"/>
          <a:lstStyle/>
          <a:p>
            <a:pPr indent="0" marL="0">
              <a:buNone/>
            </a:pPr>
            <a:r>
              <a:rPr lang="en-US" sz="1150" dirty="0">
                <a:solidFill>
                  <a:srgbClr val="C9C2F2"/>
                </a:solidFill>
                <a:latin typeface="Meiryo" pitchFamily="34" charset="0"/>
                <a:ea typeface="Meiryo" pitchFamily="34" charset="-122"/>
                <a:cs typeface="Meiryo" pitchFamily="34" charset="-120"/>
              </a:rPr>
              <a:t>1分エクササイズ（7秒ダッシュ×3セット）</a:t>
            </a:r>
            <a:endParaRPr lang="en-US" sz="1150" dirty="0"/>
          </a:p>
        </p:txBody>
      </p:sp>
      <p:sp>
        <p:nvSpPr>
          <p:cNvPr id="15" name="Shape 13"/>
          <p:cNvSpPr/>
          <p:nvPr/>
        </p:nvSpPr>
        <p:spPr>
          <a:xfrm>
            <a:off x="777240" y="4846320"/>
            <a:ext cx="7315200" cy="777240"/>
          </a:xfrm>
          <a:prstGeom prst="roundRect">
            <a:avLst>
              <a:gd name="adj" fmla="val 14118"/>
            </a:avLst>
          </a:prstGeom>
          <a:solidFill>
            <a:srgbClr val="2E2668"/>
          </a:solidFill>
          <a:ln w="12700">
            <a:solidFill>
              <a:srgbClr val="40368C"/>
            </a:solidFill>
            <a:prstDash val="solid"/>
          </a:ln>
        </p:spPr>
      </p:sp>
      <p:sp>
        <p:nvSpPr>
          <p:cNvPr id="16" name="Shape 14"/>
          <p:cNvSpPr/>
          <p:nvPr/>
        </p:nvSpPr>
        <p:spPr>
          <a:xfrm>
            <a:off x="1024128" y="5020056"/>
            <a:ext cx="438912" cy="438912"/>
          </a:xfrm>
          <a:prstGeom prst="ellipse">
            <a:avLst/>
          </a:prstGeom>
          <a:solidFill>
            <a:srgbClr val="5B4BD6"/>
          </a:solidFill>
          <a:ln w="12700">
            <a:solidFill>
              <a:srgbClr val="5B4BD6"/>
            </a:solidFill>
            <a:prstDash val="solid"/>
          </a:ln>
        </p:spPr>
      </p:sp>
      <p:sp>
        <p:nvSpPr>
          <p:cNvPr id="17" name="Text 15"/>
          <p:cNvSpPr/>
          <p:nvPr/>
        </p:nvSpPr>
        <p:spPr>
          <a:xfrm>
            <a:off x="1024128" y="5020056"/>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8" name="Text 16"/>
          <p:cNvSpPr/>
          <p:nvPr/>
        </p:nvSpPr>
        <p:spPr>
          <a:xfrm>
            <a:off x="1627632" y="4846320"/>
            <a:ext cx="1463040" cy="77724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栄　養</a:t>
            </a:r>
            <a:endParaRPr lang="en-US" sz="1400" dirty="0"/>
          </a:p>
        </p:txBody>
      </p:sp>
      <p:sp>
        <p:nvSpPr>
          <p:cNvPr id="19" name="Text 17"/>
          <p:cNvSpPr/>
          <p:nvPr/>
        </p:nvSpPr>
        <p:spPr>
          <a:xfrm>
            <a:off x="3108960" y="4846320"/>
            <a:ext cx="4800600" cy="777240"/>
          </a:xfrm>
          <a:prstGeom prst="rect">
            <a:avLst/>
          </a:prstGeom>
          <a:noFill/>
          <a:ln/>
        </p:spPr>
        <p:txBody>
          <a:bodyPr wrap="square" lIns="0" tIns="0" rIns="0" bIns="0" rtlCol="0" anchor="ctr"/>
          <a:lstStyle/>
          <a:p>
            <a:pPr indent="0" marL="0">
              <a:buNone/>
            </a:pPr>
            <a:r>
              <a:rPr lang="en-US" sz="1150" dirty="0">
                <a:solidFill>
                  <a:srgbClr val="C9C2F2"/>
                </a:solidFill>
                <a:latin typeface="Meiryo" pitchFamily="34" charset="0"/>
                <a:ea typeface="Meiryo" pitchFamily="34" charset="-122"/>
                <a:cs typeface="Meiryo" pitchFamily="34" charset="-120"/>
              </a:rPr>
              <a:t>朝のプロテイン／カフェイン・砂糖との付き合い方</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Appendix ① 運動 —「1分エクササイズ」</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「定期的に30分の運動を」は続かない。合計61秒なら、始業前でも休憩中でも入る</a:t>
            </a:r>
            <a:endParaRPr lang="en-US" sz="1400" dirty="0"/>
          </a:p>
        </p:txBody>
      </p:sp>
      <p:sp>
        <p:nvSpPr>
          <p:cNvPr id="4" name="Shape 2"/>
          <p:cNvSpPr/>
          <p:nvPr/>
        </p:nvSpPr>
        <p:spPr>
          <a:xfrm>
            <a:off x="548640" y="1691640"/>
            <a:ext cx="11064240" cy="1783080"/>
          </a:xfrm>
          <a:prstGeom prst="roundRect">
            <a:avLst>
              <a:gd name="adj" fmla="val 6154"/>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5" name="Shape 3"/>
          <p:cNvSpPr/>
          <p:nvPr/>
        </p:nvSpPr>
        <p:spPr>
          <a:xfrm>
            <a:off x="868680" y="2240280"/>
            <a:ext cx="1280160" cy="777240"/>
          </a:xfrm>
          <a:prstGeom prst="roundRect">
            <a:avLst>
              <a:gd name="adj" fmla="val 11765"/>
            </a:avLst>
          </a:prstGeom>
          <a:solidFill>
            <a:srgbClr val="FF6B5B"/>
          </a:solidFill>
          <a:ln w="12700">
            <a:solidFill>
              <a:srgbClr val="FF6B5B"/>
            </a:solidFill>
            <a:prstDash val="solid"/>
          </a:ln>
        </p:spPr>
      </p:sp>
      <p:sp>
        <p:nvSpPr>
          <p:cNvPr id="6" name="Text 4"/>
          <p:cNvSpPr/>
          <p:nvPr/>
        </p:nvSpPr>
        <p:spPr>
          <a:xfrm>
            <a:off x="868680" y="2240280"/>
            <a:ext cx="128016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7秒</a:t>
            </a:r>
            <a:endParaRPr lang="en-US" sz="1700" dirty="0"/>
          </a:p>
        </p:txBody>
      </p:sp>
      <p:sp>
        <p:nvSpPr>
          <p:cNvPr id="7" name="Text 5"/>
          <p:cNvSpPr/>
          <p:nvPr/>
        </p:nvSpPr>
        <p:spPr>
          <a:xfrm>
            <a:off x="868680" y="3090672"/>
            <a:ext cx="1280160" cy="274320"/>
          </a:xfrm>
          <a:prstGeom prst="rect">
            <a:avLst/>
          </a:prstGeom>
          <a:noFill/>
          <a:ln/>
        </p:spPr>
        <p:txBody>
          <a:bodyPr wrap="square" lIns="0" tIns="0" rIns="0" bIns="0" rtlCol="0" anchor="t"/>
          <a:lstStyle/>
          <a:p>
            <a:pPr algn="ctr" indent="0" marL="0">
              <a:buNone/>
            </a:pPr>
            <a:r>
              <a:rPr lang="en-US" sz="1050" dirty="0">
                <a:solidFill>
                  <a:srgbClr val="6E6A85"/>
                </a:solidFill>
                <a:latin typeface="Meiryo" pitchFamily="34" charset="0"/>
                <a:ea typeface="Meiryo" pitchFamily="34" charset="-122"/>
                <a:cs typeface="Meiryo" pitchFamily="34" charset="-120"/>
              </a:rPr>
              <a:t>もも上げダッシュ</a:t>
            </a:r>
            <a:endParaRPr lang="en-US" sz="1050" dirty="0"/>
          </a:p>
        </p:txBody>
      </p:sp>
      <p:sp>
        <p:nvSpPr>
          <p:cNvPr id="8" name="Shape 6"/>
          <p:cNvSpPr/>
          <p:nvPr/>
        </p:nvSpPr>
        <p:spPr>
          <a:xfrm>
            <a:off x="2258568" y="2240280"/>
            <a:ext cx="2468880" cy="777240"/>
          </a:xfrm>
          <a:prstGeom prst="roundRect">
            <a:avLst>
              <a:gd name="adj" fmla="val 11765"/>
            </a:avLst>
          </a:prstGeom>
          <a:solidFill>
            <a:srgbClr val="EFEDF7"/>
          </a:solidFill>
          <a:ln w="12700">
            <a:solidFill>
              <a:srgbClr val="EFEDF7"/>
            </a:solidFill>
            <a:prstDash val="solid"/>
          </a:ln>
        </p:spPr>
      </p:sp>
      <p:sp>
        <p:nvSpPr>
          <p:cNvPr id="9" name="Text 7"/>
          <p:cNvSpPr/>
          <p:nvPr/>
        </p:nvSpPr>
        <p:spPr>
          <a:xfrm>
            <a:off x="2258568" y="2240280"/>
            <a:ext cx="2468880" cy="777240"/>
          </a:xfrm>
          <a:prstGeom prst="rect">
            <a:avLst/>
          </a:prstGeom>
          <a:noFill/>
          <a:ln/>
        </p:spPr>
        <p:txBody>
          <a:bodyPr wrap="square" lIns="0" tIns="0" rIns="0" bIns="0" rtlCol="0" anchor="ctr"/>
          <a:lstStyle/>
          <a:p>
            <a:pPr algn="ctr" indent="0" marL="0">
              <a:buNone/>
            </a:pPr>
            <a:r>
              <a:rPr lang="en-US" sz="1700" b="1" dirty="0">
                <a:solidFill>
                  <a:srgbClr val="6E6A85"/>
                </a:solidFill>
                <a:latin typeface="Meiryo" pitchFamily="34" charset="0"/>
                <a:ea typeface="Meiryo" pitchFamily="34" charset="-122"/>
                <a:cs typeface="Meiryo" pitchFamily="34" charset="-120"/>
              </a:rPr>
              <a:t>20秒</a:t>
            </a:r>
            <a:endParaRPr lang="en-US" sz="1700" dirty="0"/>
          </a:p>
        </p:txBody>
      </p:sp>
      <p:sp>
        <p:nvSpPr>
          <p:cNvPr id="10" name="Text 8"/>
          <p:cNvSpPr/>
          <p:nvPr/>
        </p:nvSpPr>
        <p:spPr>
          <a:xfrm>
            <a:off x="2258568" y="3090672"/>
            <a:ext cx="2468880" cy="274320"/>
          </a:xfrm>
          <a:prstGeom prst="rect">
            <a:avLst/>
          </a:prstGeom>
          <a:noFill/>
          <a:ln/>
        </p:spPr>
        <p:txBody>
          <a:bodyPr wrap="square" lIns="0" tIns="0" rIns="0" bIns="0" rtlCol="0" anchor="t"/>
          <a:lstStyle/>
          <a:p>
            <a:pPr algn="ctr" indent="0" marL="0">
              <a:buNone/>
            </a:pPr>
            <a:r>
              <a:rPr lang="en-US" sz="1050" dirty="0">
                <a:solidFill>
                  <a:srgbClr val="6E6A85"/>
                </a:solidFill>
                <a:latin typeface="Meiryo" pitchFamily="34" charset="0"/>
                <a:ea typeface="Meiryo" pitchFamily="34" charset="-122"/>
                <a:cs typeface="Meiryo" pitchFamily="34" charset="-120"/>
              </a:rPr>
              <a:t>休む</a:t>
            </a:r>
            <a:endParaRPr lang="en-US" sz="1050" dirty="0"/>
          </a:p>
        </p:txBody>
      </p:sp>
      <p:sp>
        <p:nvSpPr>
          <p:cNvPr id="11" name="Shape 9"/>
          <p:cNvSpPr/>
          <p:nvPr/>
        </p:nvSpPr>
        <p:spPr>
          <a:xfrm>
            <a:off x="4837176" y="2240280"/>
            <a:ext cx="1280160" cy="777240"/>
          </a:xfrm>
          <a:prstGeom prst="roundRect">
            <a:avLst>
              <a:gd name="adj" fmla="val 11765"/>
            </a:avLst>
          </a:prstGeom>
          <a:solidFill>
            <a:srgbClr val="FF6B5B"/>
          </a:solidFill>
          <a:ln w="12700">
            <a:solidFill>
              <a:srgbClr val="FF6B5B"/>
            </a:solidFill>
            <a:prstDash val="solid"/>
          </a:ln>
        </p:spPr>
      </p:sp>
      <p:sp>
        <p:nvSpPr>
          <p:cNvPr id="12" name="Text 10"/>
          <p:cNvSpPr/>
          <p:nvPr/>
        </p:nvSpPr>
        <p:spPr>
          <a:xfrm>
            <a:off x="4837176" y="2240280"/>
            <a:ext cx="128016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7秒</a:t>
            </a:r>
            <a:endParaRPr lang="en-US" sz="1700" dirty="0"/>
          </a:p>
        </p:txBody>
      </p:sp>
      <p:sp>
        <p:nvSpPr>
          <p:cNvPr id="13" name="Text 11"/>
          <p:cNvSpPr/>
          <p:nvPr/>
        </p:nvSpPr>
        <p:spPr>
          <a:xfrm>
            <a:off x="4837176" y="3090672"/>
            <a:ext cx="1280160" cy="274320"/>
          </a:xfrm>
          <a:prstGeom prst="rect">
            <a:avLst/>
          </a:prstGeom>
          <a:noFill/>
          <a:ln/>
        </p:spPr>
        <p:txBody>
          <a:bodyPr wrap="square" lIns="0" tIns="0" rIns="0" bIns="0" rtlCol="0" anchor="t"/>
          <a:lstStyle/>
          <a:p>
            <a:pPr algn="ctr" indent="0" marL="0">
              <a:buNone/>
            </a:pPr>
            <a:r>
              <a:rPr lang="en-US" sz="1050" dirty="0">
                <a:solidFill>
                  <a:srgbClr val="6E6A85"/>
                </a:solidFill>
                <a:latin typeface="Meiryo" pitchFamily="34" charset="0"/>
                <a:ea typeface="Meiryo" pitchFamily="34" charset="-122"/>
                <a:cs typeface="Meiryo" pitchFamily="34" charset="-120"/>
              </a:rPr>
              <a:t>もも上げダッシュ</a:t>
            </a:r>
            <a:endParaRPr lang="en-US" sz="1050" dirty="0"/>
          </a:p>
        </p:txBody>
      </p:sp>
      <p:sp>
        <p:nvSpPr>
          <p:cNvPr id="14" name="Shape 12"/>
          <p:cNvSpPr/>
          <p:nvPr/>
        </p:nvSpPr>
        <p:spPr>
          <a:xfrm>
            <a:off x="6227064" y="2240280"/>
            <a:ext cx="2468880" cy="777240"/>
          </a:xfrm>
          <a:prstGeom prst="roundRect">
            <a:avLst>
              <a:gd name="adj" fmla="val 11765"/>
            </a:avLst>
          </a:prstGeom>
          <a:solidFill>
            <a:srgbClr val="EFEDF7"/>
          </a:solidFill>
          <a:ln w="12700">
            <a:solidFill>
              <a:srgbClr val="EFEDF7"/>
            </a:solidFill>
            <a:prstDash val="solid"/>
          </a:ln>
        </p:spPr>
      </p:sp>
      <p:sp>
        <p:nvSpPr>
          <p:cNvPr id="15" name="Text 13"/>
          <p:cNvSpPr/>
          <p:nvPr/>
        </p:nvSpPr>
        <p:spPr>
          <a:xfrm>
            <a:off x="6227064" y="2240280"/>
            <a:ext cx="2468880" cy="777240"/>
          </a:xfrm>
          <a:prstGeom prst="rect">
            <a:avLst/>
          </a:prstGeom>
          <a:noFill/>
          <a:ln/>
        </p:spPr>
        <p:txBody>
          <a:bodyPr wrap="square" lIns="0" tIns="0" rIns="0" bIns="0" rtlCol="0" anchor="ctr"/>
          <a:lstStyle/>
          <a:p>
            <a:pPr algn="ctr" indent="0" marL="0">
              <a:buNone/>
            </a:pPr>
            <a:r>
              <a:rPr lang="en-US" sz="1700" b="1" dirty="0">
                <a:solidFill>
                  <a:srgbClr val="6E6A85"/>
                </a:solidFill>
                <a:latin typeface="Meiryo" pitchFamily="34" charset="0"/>
                <a:ea typeface="Meiryo" pitchFamily="34" charset="-122"/>
                <a:cs typeface="Meiryo" pitchFamily="34" charset="-120"/>
              </a:rPr>
              <a:t>20秒</a:t>
            </a:r>
            <a:endParaRPr lang="en-US" sz="1700" dirty="0"/>
          </a:p>
        </p:txBody>
      </p:sp>
      <p:sp>
        <p:nvSpPr>
          <p:cNvPr id="16" name="Text 14"/>
          <p:cNvSpPr/>
          <p:nvPr/>
        </p:nvSpPr>
        <p:spPr>
          <a:xfrm>
            <a:off x="6227064" y="3090672"/>
            <a:ext cx="2468880" cy="274320"/>
          </a:xfrm>
          <a:prstGeom prst="rect">
            <a:avLst/>
          </a:prstGeom>
          <a:noFill/>
          <a:ln/>
        </p:spPr>
        <p:txBody>
          <a:bodyPr wrap="square" lIns="0" tIns="0" rIns="0" bIns="0" rtlCol="0" anchor="t"/>
          <a:lstStyle/>
          <a:p>
            <a:pPr algn="ctr" indent="0" marL="0">
              <a:buNone/>
            </a:pPr>
            <a:r>
              <a:rPr lang="en-US" sz="1050" dirty="0">
                <a:solidFill>
                  <a:srgbClr val="6E6A85"/>
                </a:solidFill>
                <a:latin typeface="Meiryo" pitchFamily="34" charset="0"/>
                <a:ea typeface="Meiryo" pitchFamily="34" charset="-122"/>
                <a:cs typeface="Meiryo" pitchFamily="34" charset="-120"/>
              </a:rPr>
              <a:t>休む</a:t>
            </a:r>
            <a:endParaRPr lang="en-US" sz="1050" dirty="0"/>
          </a:p>
        </p:txBody>
      </p:sp>
      <p:sp>
        <p:nvSpPr>
          <p:cNvPr id="17" name="Shape 15"/>
          <p:cNvSpPr/>
          <p:nvPr/>
        </p:nvSpPr>
        <p:spPr>
          <a:xfrm>
            <a:off x="8805672" y="2240280"/>
            <a:ext cx="1280160" cy="777240"/>
          </a:xfrm>
          <a:prstGeom prst="roundRect">
            <a:avLst>
              <a:gd name="adj" fmla="val 11765"/>
            </a:avLst>
          </a:prstGeom>
          <a:solidFill>
            <a:srgbClr val="FF6B5B"/>
          </a:solidFill>
          <a:ln w="12700">
            <a:solidFill>
              <a:srgbClr val="FF6B5B"/>
            </a:solidFill>
            <a:prstDash val="solid"/>
          </a:ln>
        </p:spPr>
      </p:sp>
      <p:sp>
        <p:nvSpPr>
          <p:cNvPr id="18" name="Text 16"/>
          <p:cNvSpPr/>
          <p:nvPr/>
        </p:nvSpPr>
        <p:spPr>
          <a:xfrm>
            <a:off x="8805672" y="2240280"/>
            <a:ext cx="128016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7秒</a:t>
            </a:r>
            <a:endParaRPr lang="en-US" sz="1700" dirty="0"/>
          </a:p>
        </p:txBody>
      </p:sp>
      <p:sp>
        <p:nvSpPr>
          <p:cNvPr id="19" name="Text 17"/>
          <p:cNvSpPr/>
          <p:nvPr/>
        </p:nvSpPr>
        <p:spPr>
          <a:xfrm>
            <a:off x="8805672" y="3090672"/>
            <a:ext cx="1280160" cy="274320"/>
          </a:xfrm>
          <a:prstGeom prst="rect">
            <a:avLst/>
          </a:prstGeom>
          <a:noFill/>
          <a:ln/>
        </p:spPr>
        <p:txBody>
          <a:bodyPr wrap="square" lIns="0" tIns="0" rIns="0" bIns="0" rtlCol="0" anchor="t"/>
          <a:lstStyle/>
          <a:p>
            <a:pPr algn="ctr" indent="0" marL="0">
              <a:buNone/>
            </a:pPr>
            <a:r>
              <a:rPr lang="en-US" sz="1050" dirty="0">
                <a:solidFill>
                  <a:srgbClr val="6E6A85"/>
                </a:solidFill>
                <a:latin typeface="Meiryo" pitchFamily="34" charset="0"/>
                <a:ea typeface="Meiryo" pitchFamily="34" charset="-122"/>
                <a:cs typeface="Meiryo" pitchFamily="34" charset="-120"/>
              </a:rPr>
              <a:t>もも上げダッシュ</a:t>
            </a:r>
            <a:endParaRPr lang="en-US" sz="1050" dirty="0"/>
          </a:p>
        </p:txBody>
      </p:sp>
      <p:sp>
        <p:nvSpPr>
          <p:cNvPr id="20" name="Text 18"/>
          <p:cNvSpPr/>
          <p:nvPr/>
        </p:nvSpPr>
        <p:spPr>
          <a:xfrm>
            <a:off x="10195560" y="2240280"/>
            <a:ext cx="1280160" cy="777240"/>
          </a:xfrm>
          <a:prstGeom prst="rect">
            <a:avLst/>
          </a:prstGeom>
          <a:noFill/>
          <a:ln/>
        </p:spPr>
        <p:txBody>
          <a:bodyPr wrap="square" lIns="0" tIns="0" rIns="0" bIns="0" rtlCol="0" anchor="ctr"/>
          <a:lstStyle/>
          <a:p>
            <a:pPr algn="ctr" indent="0" marL="0">
              <a:lnSpc>
                <a:spcPts val="2200"/>
              </a:lnSpc>
              <a:buNone/>
            </a:pPr>
            <a:r>
              <a:rPr lang="en-US" sz="1800" b="1" dirty="0">
                <a:solidFill>
                  <a:srgbClr val="1A1636"/>
                </a:solidFill>
                <a:latin typeface="Meiryo" pitchFamily="34" charset="0"/>
                <a:ea typeface="Meiryo" pitchFamily="34" charset="-122"/>
                <a:cs typeface="Meiryo" pitchFamily="34" charset="-120"/>
              </a:rPr>
              <a:t>合計</a:t>
            </a:r>
            <a:endParaRPr lang="en-US" sz="1800" dirty="0"/>
          </a:p>
          <a:p>
            <a:pPr algn="ctr" indent="0" marL="0">
              <a:lnSpc>
                <a:spcPts val="2200"/>
              </a:lnSpc>
              <a:buNone/>
            </a:pPr>
            <a:r>
              <a:rPr lang="en-US" sz="1800" b="1" dirty="0">
                <a:solidFill>
                  <a:srgbClr val="1A1636"/>
                </a:solidFill>
                <a:latin typeface="Meiryo" pitchFamily="34" charset="0"/>
                <a:ea typeface="Meiryo" pitchFamily="34" charset="-122"/>
                <a:cs typeface="Meiryo" pitchFamily="34" charset="-120"/>
              </a:rPr>
              <a:t>61秒</a:t>
            </a:r>
            <a:endParaRPr lang="en-US" sz="1800" dirty="0"/>
          </a:p>
        </p:txBody>
      </p:sp>
      <p:sp>
        <p:nvSpPr>
          <p:cNvPr id="21" name="Text 19"/>
          <p:cNvSpPr/>
          <p:nvPr/>
        </p:nvSpPr>
        <p:spPr>
          <a:xfrm>
            <a:off x="10195560" y="3090672"/>
            <a:ext cx="1280160" cy="274320"/>
          </a:xfrm>
          <a:prstGeom prst="rect">
            <a:avLst/>
          </a:prstGeom>
          <a:noFill/>
          <a:ln/>
        </p:spPr>
        <p:txBody>
          <a:bodyPr wrap="square" lIns="0" tIns="0" rIns="0" bIns="0" rtlCol="0" anchor="t"/>
          <a:lstStyle/>
          <a:p>
            <a:pPr algn="ctr" indent="0" marL="0">
              <a:buNone/>
            </a:pPr>
            <a:r>
              <a:rPr lang="en-US" sz="900" dirty="0">
                <a:solidFill>
                  <a:srgbClr val="6E6A85"/>
                </a:solidFill>
                <a:latin typeface="Meiryo" pitchFamily="34" charset="0"/>
                <a:ea typeface="Meiryo" pitchFamily="34" charset="-122"/>
                <a:cs typeface="Meiryo" pitchFamily="34" charset="-120"/>
              </a:rPr>
              <a:t>7秒×3＋20秒×2</a:t>
            </a:r>
            <a:endParaRPr lang="en-US" sz="900" dirty="0"/>
          </a:p>
        </p:txBody>
      </p:sp>
      <p:sp>
        <p:nvSpPr>
          <p:cNvPr id="22" name="Shape 20"/>
          <p:cNvSpPr/>
          <p:nvPr/>
        </p:nvSpPr>
        <p:spPr>
          <a:xfrm>
            <a:off x="548640" y="3703320"/>
            <a:ext cx="3538728" cy="1371600"/>
          </a:xfrm>
          <a:prstGeom prst="roundRect">
            <a:avLst>
              <a:gd name="adj" fmla="val 8000"/>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23" name="Text 21"/>
          <p:cNvSpPr/>
          <p:nvPr/>
        </p:nvSpPr>
        <p:spPr>
          <a:xfrm>
            <a:off x="822960" y="3913632"/>
            <a:ext cx="3017520" cy="292608"/>
          </a:xfrm>
          <a:prstGeom prst="rect">
            <a:avLst/>
          </a:prstGeom>
          <a:noFill/>
          <a:ln/>
        </p:spPr>
        <p:txBody>
          <a:bodyPr wrap="square" lIns="0" tIns="0" rIns="0" bIns="0" rtlCol="0" anchor="t"/>
          <a:lstStyle/>
          <a:p>
            <a:pPr indent="0" marL="0">
              <a:buNone/>
            </a:pPr>
            <a:r>
              <a:rPr lang="en-US" sz="1400" b="1" dirty="0">
                <a:solidFill>
                  <a:srgbClr val="3B2F8F"/>
                </a:solidFill>
                <a:latin typeface="Meiryo" pitchFamily="34" charset="0"/>
                <a:ea typeface="Meiryo" pitchFamily="34" charset="-122"/>
                <a:cs typeface="Meiryo" pitchFamily="34" charset="-120"/>
              </a:rPr>
              <a:t>心拍数は150くらいまで</a:t>
            </a:r>
            <a:endParaRPr lang="en-US" sz="1400" dirty="0"/>
          </a:p>
        </p:txBody>
      </p:sp>
      <p:sp>
        <p:nvSpPr>
          <p:cNvPr id="24" name="Text 22"/>
          <p:cNvSpPr/>
          <p:nvPr/>
        </p:nvSpPr>
        <p:spPr>
          <a:xfrm>
            <a:off x="822960" y="4261104"/>
            <a:ext cx="3017520" cy="685800"/>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たった1分でも、脳の活動を押し上げるには十分な強度になる。</a:t>
            </a:r>
            <a:endParaRPr lang="en-US" sz="1150" dirty="0"/>
          </a:p>
        </p:txBody>
      </p:sp>
      <p:sp>
        <p:nvSpPr>
          <p:cNvPr id="25" name="Shape 23"/>
          <p:cNvSpPr/>
          <p:nvPr/>
        </p:nvSpPr>
        <p:spPr>
          <a:xfrm>
            <a:off x="4315968" y="3703320"/>
            <a:ext cx="3538728" cy="1371600"/>
          </a:xfrm>
          <a:prstGeom prst="roundRect">
            <a:avLst>
              <a:gd name="adj" fmla="val 8000"/>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26" name="Text 24"/>
          <p:cNvSpPr/>
          <p:nvPr/>
        </p:nvSpPr>
        <p:spPr>
          <a:xfrm>
            <a:off x="4590288" y="3913632"/>
            <a:ext cx="3017520" cy="292608"/>
          </a:xfrm>
          <a:prstGeom prst="rect">
            <a:avLst/>
          </a:prstGeom>
          <a:noFill/>
          <a:ln/>
        </p:spPr>
        <p:txBody>
          <a:bodyPr wrap="square" lIns="0" tIns="0" rIns="0" bIns="0" rtlCol="0" anchor="t"/>
          <a:lstStyle/>
          <a:p>
            <a:pPr indent="0" marL="0">
              <a:buNone/>
            </a:pPr>
            <a:r>
              <a:rPr lang="en-US" sz="1400" b="1" dirty="0">
                <a:solidFill>
                  <a:srgbClr val="0B7A5C"/>
                </a:solidFill>
                <a:latin typeface="Meiryo" pitchFamily="34" charset="0"/>
                <a:ea typeface="Meiryo" pitchFamily="34" charset="-122"/>
                <a:cs typeface="Meiryo" pitchFamily="34" charset="-120"/>
              </a:rPr>
              <a:t>効いてくるのは15分後から</a:t>
            </a:r>
            <a:endParaRPr lang="en-US" sz="1400" dirty="0"/>
          </a:p>
        </p:txBody>
      </p:sp>
      <p:sp>
        <p:nvSpPr>
          <p:cNvPr id="27" name="Text 25"/>
          <p:cNvSpPr/>
          <p:nvPr/>
        </p:nvSpPr>
        <p:spPr>
          <a:xfrm>
            <a:off x="4590288" y="4261104"/>
            <a:ext cx="3017520" cy="685800"/>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eスポーツの大会で、試合の15分前に実施。試合中に疲労しにくく、チームワークも良いという結果。</a:t>
            </a:r>
            <a:endParaRPr lang="en-US" sz="1150" dirty="0"/>
          </a:p>
        </p:txBody>
      </p:sp>
      <p:sp>
        <p:nvSpPr>
          <p:cNvPr id="28" name="Shape 26"/>
          <p:cNvSpPr/>
          <p:nvPr/>
        </p:nvSpPr>
        <p:spPr>
          <a:xfrm>
            <a:off x="8074152" y="3703320"/>
            <a:ext cx="3538728" cy="1371600"/>
          </a:xfrm>
          <a:prstGeom prst="roundRect">
            <a:avLst>
              <a:gd name="adj" fmla="val 8000"/>
            </a:avLst>
          </a:prstGeom>
          <a:solidFill>
            <a:srgbClr val="F3F2FC"/>
          </a:solidFill>
          <a:ln w="12700">
            <a:solidFill>
              <a:srgbClr val="E4E1F7"/>
            </a:solidFill>
            <a:prstDash val="solid"/>
          </a:ln>
          <a:effectLst>
            <a:outerShdw sx="100000" sy="100000" kx="0" ky="0" algn="bl" rotWithShape="0" blurRad="152400" dist="25400" dir="5400000">
              <a:srgbClr val="1A1636">
                <a:alpha val="12000"/>
              </a:srgbClr>
            </a:outerShdw>
          </a:effectLst>
        </p:spPr>
      </p:sp>
      <p:sp>
        <p:nvSpPr>
          <p:cNvPr id="29" name="Text 27"/>
          <p:cNvSpPr/>
          <p:nvPr/>
        </p:nvSpPr>
        <p:spPr>
          <a:xfrm>
            <a:off x="8348472" y="3913632"/>
            <a:ext cx="3017520" cy="292608"/>
          </a:xfrm>
          <a:prstGeom prst="rect">
            <a:avLst/>
          </a:prstGeom>
          <a:noFill/>
          <a:ln/>
        </p:spPr>
        <p:txBody>
          <a:bodyPr wrap="square" lIns="0" tIns="0" rIns="0" bIns="0" rtlCol="0" anchor="t"/>
          <a:lstStyle/>
          <a:p>
            <a:pPr indent="0" marL="0">
              <a:buNone/>
            </a:pPr>
            <a:r>
              <a:rPr lang="en-US" sz="1400" b="1" dirty="0">
                <a:solidFill>
                  <a:srgbClr val="3B2F8F"/>
                </a:solidFill>
                <a:latin typeface="Meiryo" pitchFamily="34" charset="0"/>
                <a:ea typeface="Meiryo" pitchFamily="34" charset="-122"/>
                <a:cs typeface="Meiryo" pitchFamily="34" charset="-120"/>
              </a:rPr>
              <a:t>一緒にやるほど効く</a:t>
            </a:r>
            <a:endParaRPr lang="en-US" sz="1400" dirty="0"/>
          </a:p>
        </p:txBody>
      </p:sp>
      <p:sp>
        <p:nvSpPr>
          <p:cNvPr id="30" name="Text 28"/>
          <p:cNvSpPr/>
          <p:nvPr/>
        </p:nvSpPr>
        <p:spPr>
          <a:xfrm>
            <a:off x="8348472" y="4261104"/>
            <a:ext cx="3017520" cy="685800"/>
          </a:xfrm>
          <a:prstGeom prst="rect">
            <a:avLst/>
          </a:prstGeom>
          <a:noFill/>
          <a:ln/>
        </p:spPr>
        <p:txBody>
          <a:bodyPr wrap="square" lIns="0" tIns="0" rIns="0" bIns="0" rtlCol="0" anchor="t"/>
          <a:lstStyle/>
          <a:p>
            <a:pPr indent="0" marL="0">
              <a:lnSpc>
                <a:spcPts val="1700"/>
              </a:lnSpc>
              <a:buNone/>
            </a:pPr>
            <a:r>
              <a:rPr lang="en-US" sz="1150" dirty="0">
                <a:solidFill>
                  <a:srgbClr val="6E6A85"/>
                </a:solidFill>
                <a:latin typeface="Meiryo" pitchFamily="34" charset="0"/>
                <a:ea typeface="Meiryo" pitchFamily="34" charset="-122"/>
                <a:cs typeface="Meiryo" pitchFamily="34" charset="-120"/>
              </a:rPr>
              <a:t>みんなで体を動かすと、個人の疲労予防に加えてチームワークも良くなる。</a:t>
            </a:r>
            <a:endParaRPr lang="en-US" sz="1150" dirty="0"/>
          </a:p>
        </p:txBody>
      </p:sp>
      <p:sp>
        <p:nvSpPr>
          <p:cNvPr id="31" name="Shape 29"/>
          <p:cNvSpPr/>
          <p:nvPr/>
        </p:nvSpPr>
        <p:spPr>
          <a:xfrm>
            <a:off x="548640" y="5303520"/>
            <a:ext cx="11064240" cy="1051560"/>
          </a:xfrm>
          <a:prstGeom prst="roundRect">
            <a:avLst>
              <a:gd name="adj" fmla="val 10435"/>
            </a:avLst>
          </a:prstGeom>
          <a:solidFill>
            <a:srgbClr val="FFF1EF"/>
          </a:solidFill>
          <a:ln w="12700">
            <a:solidFill>
              <a:srgbClr val="FFD9D3"/>
            </a:solidFill>
            <a:prstDash val="solid"/>
          </a:ln>
          <a:effectLst>
            <a:outerShdw sx="100000" sy="100000" kx="0" ky="0" algn="bl" rotWithShape="0" blurRad="152400" dist="25400" dir="5400000">
              <a:srgbClr val="1A1636">
                <a:alpha val="12000"/>
              </a:srgbClr>
            </a:outerShdw>
          </a:effectLst>
        </p:spPr>
      </p:sp>
      <p:sp>
        <p:nvSpPr>
          <p:cNvPr id="32" name="Text 30"/>
          <p:cNvSpPr/>
          <p:nvPr/>
        </p:nvSpPr>
        <p:spPr>
          <a:xfrm>
            <a:off x="914400" y="5440680"/>
            <a:ext cx="10332720" cy="256032"/>
          </a:xfrm>
          <a:prstGeom prst="rect">
            <a:avLst/>
          </a:prstGeom>
          <a:noFill/>
          <a:ln/>
        </p:spPr>
        <p:txBody>
          <a:bodyPr wrap="square" lIns="0" tIns="0" rIns="0" bIns="0" rtlCol="0" anchor="t"/>
          <a:lstStyle/>
          <a:p>
            <a:pPr indent="0" marL="0">
              <a:buNone/>
            </a:pPr>
            <a:r>
              <a:rPr lang="en-US" sz="1300" b="1" dirty="0">
                <a:solidFill>
                  <a:srgbClr val="B33A2C"/>
                </a:solidFill>
                <a:latin typeface="Meiryo" pitchFamily="34" charset="0"/>
                <a:ea typeface="Meiryo" pitchFamily="34" charset="-122"/>
                <a:cs typeface="Meiryo" pitchFamily="34" charset="-120"/>
              </a:rPr>
              <a:t>注意：頑張りすぎは逆効果</a:t>
            </a:r>
            <a:endParaRPr lang="en-US" sz="1300" dirty="0"/>
          </a:p>
        </p:txBody>
      </p:sp>
      <p:sp>
        <p:nvSpPr>
          <p:cNvPr id="33" name="Text 31"/>
          <p:cNvSpPr/>
          <p:nvPr/>
        </p:nvSpPr>
        <p:spPr>
          <a:xfrm>
            <a:off x="914400" y="5742432"/>
            <a:ext cx="10332720" cy="502920"/>
          </a:xfrm>
          <a:prstGeom prst="rect">
            <a:avLst/>
          </a:prstGeom>
          <a:noFill/>
          <a:ln/>
        </p:spPr>
        <p:txBody>
          <a:bodyPr wrap="square" lIns="0" tIns="0" rIns="0" bIns="0" rtlCol="0" anchor="t"/>
          <a:lstStyle/>
          <a:p>
            <a:pPr indent="0" marL="0">
              <a:lnSpc>
                <a:spcPts val="1700"/>
              </a:lnSpc>
              <a:buNone/>
            </a:pPr>
            <a:r>
              <a:rPr lang="en-US" sz="1150" dirty="0">
                <a:solidFill>
                  <a:srgbClr val="8C4438"/>
                </a:solidFill>
                <a:latin typeface="Meiryo" pitchFamily="34" charset="0"/>
                <a:ea typeface="Meiryo" pitchFamily="34" charset="-122"/>
                <a:cs typeface="Meiryo" pitchFamily="34" charset="-120"/>
              </a:rPr>
              <a:t>動物実験では、同じ30分でも「きつい運動」をした翌日は活動量が明らかに下がった（軽い運動なら下がらない）。結果的に体重が増えることも。適度に、定期的に。</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000" b="1" dirty="0">
                <a:solidFill>
                  <a:srgbClr val="1A1636"/>
                </a:solidFill>
                <a:latin typeface="Meiryo" pitchFamily="34" charset="0"/>
                <a:ea typeface="Meiryo" pitchFamily="34" charset="-122"/>
                <a:cs typeface="Meiryo" pitchFamily="34" charset="-120"/>
              </a:rPr>
              <a:t>Appendix ② 栄養 — 朝のプロテインと、カフェイン・砂糖</a:t>
            </a:r>
            <a:endParaRPr lang="en-US" sz="3000" dirty="0"/>
          </a:p>
        </p:txBody>
      </p:sp>
      <p:sp>
        <p:nvSpPr>
          <p:cNvPr id="3" name="Text 1"/>
          <p:cNvSpPr/>
          <p:nvPr/>
        </p:nvSpPr>
        <p:spPr>
          <a:xfrm>
            <a:off x="566928" y="1069848"/>
            <a:ext cx="11064240" cy="329184"/>
          </a:xfrm>
          <a:prstGeom prst="rect">
            <a:avLst/>
          </a:prstGeom>
          <a:noFill/>
          <a:ln/>
        </p:spPr>
        <p:txBody>
          <a:bodyPr wrap="square" lIns="0" tIns="0" rIns="0" bIns="0" rtlCol="0" anchor="ctr"/>
          <a:lstStyle/>
          <a:p>
            <a:pPr indent="0" marL="0">
              <a:buNone/>
            </a:pPr>
            <a:r>
              <a:rPr lang="en-US" sz="1400" dirty="0">
                <a:solidFill>
                  <a:srgbClr val="6E6A85"/>
                </a:solidFill>
                <a:latin typeface="Meiryo" pitchFamily="34" charset="0"/>
                <a:ea typeface="Meiryo" pitchFamily="34" charset="-122"/>
                <a:cs typeface="Meiryo" pitchFamily="34" charset="-120"/>
              </a:rPr>
              <a:t>eスポーツを3時間プレイ。プロテインドリンク vs りんごジュース（ただ甘いだけの飲料）で比較</a:t>
            </a:r>
            <a:endParaRPr lang="en-US" sz="1400" dirty="0"/>
          </a:p>
        </p:txBody>
      </p:sp>
      <p:sp>
        <p:nvSpPr>
          <p:cNvPr id="4" name="Shape 2"/>
          <p:cNvSpPr/>
          <p:nvPr/>
        </p:nvSpPr>
        <p:spPr>
          <a:xfrm>
            <a:off x="548640" y="1691640"/>
            <a:ext cx="6720840" cy="2514600"/>
          </a:xfrm>
          <a:prstGeom prst="roundRect">
            <a:avLst>
              <a:gd name="adj" fmla="val 4364"/>
            </a:avLst>
          </a:prstGeom>
          <a:solidFill>
            <a:srgbClr val="FFFFFF"/>
          </a:solidFill>
          <a:ln w="12700">
            <a:solidFill>
              <a:srgbClr val="D9D7E6"/>
            </a:solidFill>
            <a:prstDash val="solid"/>
          </a:ln>
          <a:effectLst>
            <a:outerShdw sx="100000" sy="100000" kx="0" ky="0" algn="bl" rotWithShape="0" blurRad="152400" dist="25400" dir="5400000">
              <a:srgbClr val="1A1636">
                <a:alpha val="12000"/>
              </a:srgbClr>
            </a:outerShdw>
          </a:effectLst>
        </p:spPr>
      </p:sp>
      <p:sp>
        <p:nvSpPr>
          <p:cNvPr id="5" name="Text 3"/>
          <p:cNvSpPr/>
          <p:nvPr/>
        </p:nvSpPr>
        <p:spPr>
          <a:xfrm>
            <a:off x="868680" y="1920240"/>
            <a:ext cx="6126480" cy="640080"/>
          </a:xfrm>
          <a:prstGeom prst="rect">
            <a:avLst/>
          </a:prstGeom>
          <a:noFill/>
          <a:ln/>
        </p:spPr>
        <p:txBody>
          <a:bodyPr wrap="square" lIns="0" tIns="0" rIns="0" bIns="0" rtlCol="0" anchor="t"/>
          <a:lstStyle/>
          <a:p>
            <a:pPr indent="0" marL="0">
              <a:lnSpc>
                <a:spcPts val="2600"/>
              </a:lnSpc>
              <a:buNone/>
            </a:pPr>
            <a:r>
              <a:rPr lang="en-US" sz="1800" b="1" dirty="0">
                <a:solidFill>
                  <a:srgbClr val="1A1636"/>
                </a:solidFill>
                <a:latin typeface="Meiryo" pitchFamily="34" charset="0"/>
                <a:ea typeface="Meiryo" pitchFamily="34" charset="-122"/>
                <a:cs typeface="Meiryo" pitchFamily="34" charset="-120"/>
              </a:rPr>
              <a:t>その日の朝どちらを飲んだかで、午前中のパフォーマンスが変わる</a:t>
            </a:r>
            <a:endParaRPr lang="en-US" sz="1800" dirty="0"/>
          </a:p>
        </p:txBody>
      </p:sp>
      <p:sp>
        <p:nvSpPr>
          <p:cNvPr id="6" name="Text 4"/>
          <p:cNvSpPr/>
          <p:nvPr/>
        </p:nvSpPr>
        <p:spPr>
          <a:xfrm>
            <a:off x="914400" y="2724912"/>
            <a:ext cx="6035040" cy="777240"/>
          </a:xfrm>
          <a:prstGeom prst="rect">
            <a:avLst/>
          </a:prstGeom>
          <a:noFill/>
          <a:ln/>
        </p:spPr>
        <p:txBody>
          <a:bodyPr wrap="square" lIns="0" tIns="0" rIns="0" bIns="0" rtlCol="0" anchor="t"/>
          <a:lstStyle/>
          <a:p>
            <a:pPr marL="342900" indent="-342900">
              <a:lnSpc>
                <a:spcPts val="1800"/>
              </a:lnSpc>
              <a:spcAft>
                <a:spcPts val="500"/>
              </a:spcAft>
              <a:buSzPct val="100000"/>
              <a:buChar char="•"/>
            </a:pPr>
            <a:r>
              <a:rPr lang="en-US" sz="1200" dirty="0">
                <a:solidFill>
                  <a:srgbClr val="6E6A85"/>
                </a:solidFill>
                <a:latin typeface="Meiryo" pitchFamily="34" charset="0"/>
                <a:ea typeface="Meiryo" pitchFamily="34" charset="-122"/>
                <a:cs typeface="Meiryo" pitchFamily="34" charset="-120"/>
              </a:rPr>
              <a:t>3時間プレイした結果、明らかにプロテインを飲んだ方がパフォーマンスが高かった</a:t>
            </a:r>
            <a:endParaRPr lang="en-US" sz="1200" dirty="0"/>
          </a:p>
          <a:p>
            <a:pPr marL="342900" indent="-342900">
              <a:lnSpc>
                <a:spcPts val="1800"/>
              </a:lnSpc>
              <a:spcAft>
                <a:spcPts val="500"/>
              </a:spcAft>
              <a:buSzPct val="100000"/>
              <a:buChar char="•"/>
            </a:pPr>
            <a:r>
              <a:rPr lang="en-US" sz="1200" dirty="0">
                <a:solidFill>
                  <a:srgbClr val="6E6A85"/>
                </a:solidFill>
                <a:latin typeface="Meiryo" pitchFamily="34" charset="0"/>
                <a:ea typeface="Meiryo" pitchFamily="34" charset="-122"/>
                <a:cs typeface="Meiryo" pitchFamily="34" charset="-120"/>
              </a:rPr>
              <a:t>筋肉をつける目的なら、効果を感じるまで3ヶ月ほど飲み続ける必要がある</a:t>
            </a:r>
            <a:endParaRPr lang="en-US" sz="1200" dirty="0"/>
          </a:p>
        </p:txBody>
      </p:sp>
      <p:sp>
        <p:nvSpPr>
          <p:cNvPr id="7" name="Shape 5"/>
          <p:cNvSpPr/>
          <p:nvPr/>
        </p:nvSpPr>
        <p:spPr>
          <a:xfrm>
            <a:off x="868680" y="3584448"/>
            <a:ext cx="6126480" cy="475488"/>
          </a:xfrm>
          <a:prstGeom prst="roundRect">
            <a:avLst>
              <a:gd name="adj" fmla="val 19231"/>
            </a:avLst>
          </a:prstGeom>
          <a:solidFill>
            <a:srgbClr val="EDF7F2"/>
          </a:solidFill>
          <a:ln w="12700">
            <a:solidFill>
              <a:srgbClr val="C8E8DA"/>
            </a:solidFill>
            <a:prstDash val="solid"/>
          </a:ln>
        </p:spPr>
      </p:sp>
      <p:sp>
        <p:nvSpPr>
          <p:cNvPr id="8" name="Text 6"/>
          <p:cNvSpPr/>
          <p:nvPr/>
        </p:nvSpPr>
        <p:spPr>
          <a:xfrm>
            <a:off x="1051560" y="3584448"/>
            <a:ext cx="5760720" cy="475488"/>
          </a:xfrm>
          <a:prstGeom prst="rect">
            <a:avLst/>
          </a:prstGeom>
          <a:noFill/>
          <a:ln/>
        </p:spPr>
        <p:txBody>
          <a:bodyPr wrap="square" lIns="0" tIns="0" rIns="0" bIns="0" rtlCol="0" anchor="ctr"/>
          <a:lstStyle/>
          <a:p>
            <a:pPr indent="0" marL="0">
              <a:buNone/>
            </a:pPr>
            <a:r>
              <a:rPr lang="en-US" sz="1300" b="1" dirty="0">
                <a:solidFill>
                  <a:srgbClr val="0B7A5C"/>
                </a:solidFill>
                <a:latin typeface="Meiryo" pitchFamily="34" charset="0"/>
                <a:ea typeface="Meiryo" pitchFamily="34" charset="-122"/>
                <a:cs typeface="Meiryo" pitchFamily="34" charset="-120"/>
              </a:rPr>
              <a:t>脳へのメリットは「その日のうち」に出る</a:t>
            </a:r>
            <a:endParaRPr lang="en-US" sz="1300" dirty="0"/>
          </a:p>
        </p:txBody>
      </p:sp>
      <p:sp>
        <p:nvSpPr>
          <p:cNvPr id="9" name="Shape 7"/>
          <p:cNvSpPr/>
          <p:nvPr/>
        </p:nvSpPr>
        <p:spPr>
          <a:xfrm>
            <a:off x="7498080" y="1691640"/>
            <a:ext cx="4114800" cy="2514600"/>
          </a:xfrm>
          <a:prstGeom prst="roundRect">
            <a:avLst>
              <a:gd name="adj" fmla="val 4364"/>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10" name="Text 8"/>
          <p:cNvSpPr/>
          <p:nvPr/>
        </p:nvSpPr>
        <p:spPr>
          <a:xfrm>
            <a:off x="7818120" y="1920240"/>
            <a:ext cx="3520440" cy="365760"/>
          </a:xfrm>
          <a:prstGeom prst="rect">
            <a:avLst/>
          </a:prstGeom>
          <a:noFill/>
          <a:ln/>
        </p:spPr>
        <p:txBody>
          <a:bodyPr wrap="square" lIns="0" tIns="0" rIns="0" bIns="0" rtlCol="0" anchor="t"/>
          <a:lstStyle/>
          <a:p>
            <a:pPr indent="0" marL="0">
              <a:buNone/>
            </a:pPr>
            <a:r>
              <a:rPr lang="en-US" sz="1800" b="1" dirty="0">
                <a:solidFill>
                  <a:srgbClr val="FFFFFF"/>
                </a:solidFill>
                <a:latin typeface="Meiryo" pitchFamily="34" charset="0"/>
                <a:ea typeface="Meiryo" pitchFamily="34" charset="-122"/>
                <a:cs typeface="Meiryo" pitchFamily="34" charset="-120"/>
              </a:rPr>
              <a:t>朝食に足すだけ</a:t>
            </a:r>
            <a:endParaRPr lang="en-US" sz="1800" dirty="0"/>
          </a:p>
        </p:txBody>
      </p:sp>
      <p:sp>
        <p:nvSpPr>
          <p:cNvPr id="11" name="Text 9"/>
          <p:cNvSpPr/>
          <p:nvPr/>
        </p:nvSpPr>
        <p:spPr>
          <a:xfrm>
            <a:off x="7818120" y="2423160"/>
            <a:ext cx="3520440" cy="1463040"/>
          </a:xfrm>
          <a:prstGeom prst="rect">
            <a:avLst/>
          </a:prstGeom>
          <a:noFill/>
          <a:ln/>
        </p:spPr>
        <p:txBody>
          <a:bodyPr wrap="square" lIns="0" tIns="0" rIns="0" bIns="0" rtlCol="0" anchor="t"/>
          <a:lstStyle/>
          <a:p>
            <a:pPr indent="0" marL="0">
              <a:lnSpc>
                <a:spcPts val="1900"/>
              </a:lnSpc>
              <a:buNone/>
            </a:pPr>
            <a:r>
              <a:rPr lang="en-US" sz="1200" dirty="0">
                <a:solidFill>
                  <a:srgbClr val="C9C2F2"/>
                </a:solidFill>
                <a:latin typeface="Meiryo" pitchFamily="34" charset="0"/>
                <a:ea typeface="Meiryo" pitchFamily="34" charset="-122"/>
                <a:cs typeface="Meiryo" pitchFamily="34" charset="-120"/>
              </a:rPr>
              <a:t>筋トレのための習慣として広まったが、知的生産性の面でも理にかなっている。運動を軽く取り入れながら続ければ、脳のパフォーマンス維持と健康の両立が狙える。</a:t>
            </a:r>
            <a:endParaRPr lang="en-US" sz="1200" dirty="0"/>
          </a:p>
        </p:txBody>
      </p:sp>
      <p:sp>
        <p:nvSpPr>
          <p:cNvPr id="12" name="Shape 10"/>
          <p:cNvSpPr/>
          <p:nvPr/>
        </p:nvSpPr>
        <p:spPr>
          <a:xfrm>
            <a:off x="548640" y="4389120"/>
            <a:ext cx="11064240" cy="1051560"/>
          </a:xfrm>
          <a:prstGeom prst="roundRect">
            <a:avLst>
              <a:gd name="adj" fmla="val 10435"/>
            </a:avLst>
          </a:prstGeom>
          <a:solidFill>
            <a:srgbClr val="FFF1EF"/>
          </a:solidFill>
          <a:ln w="12700">
            <a:solidFill>
              <a:srgbClr val="FFD9D3"/>
            </a:solidFill>
            <a:prstDash val="solid"/>
          </a:ln>
          <a:effectLst>
            <a:outerShdw sx="100000" sy="100000" kx="0" ky="0" algn="bl" rotWithShape="0" blurRad="152400" dist="25400" dir="5400000">
              <a:srgbClr val="1A1636">
                <a:alpha val="12000"/>
              </a:srgbClr>
            </a:outerShdw>
          </a:effectLst>
        </p:spPr>
      </p:sp>
      <p:sp>
        <p:nvSpPr>
          <p:cNvPr id="13" name="Text 11"/>
          <p:cNvSpPr/>
          <p:nvPr/>
        </p:nvSpPr>
        <p:spPr>
          <a:xfrm>
            <a:off x="914400" y="4526280"/>
            <a:ext cx="10332720" cy="256032"/>
          </a:xfrm>
          <a:prstGeom prst="rect">
            <a:avLst/>
          </a:prstGeom>
          <a:noFill/>
          <a:ln/>
        </p:spPr>
        <p:txBody>
          <a:bodyPr wrap="square" lIns="0" tIns="0" rIns="0" bIns="0" rtlCol="0" anchor="t"/>
          <a:lstStyle/>
          <a:p>
            <a:pPr indent="0" marL="0">
              <a:buNone/>
            </a:pPr>
            <a:r>
              <a:rPr lang="en-US" sz="1300" b="1" dirty="0">
                <a:solidFill>
                  <a:srgbClr val="B33A2C"/>
                </a:solidFill>
                <a:latin typeface="Meiryo" pitchFamily="34" charset="0"/>
                <a:ea typeface="Meiryo" pitchFamily="34" charset="-122"/>
                <a:cs typeface="Meiryo" pitchFamily="34" charset="-120"/>
              </a:rPr>
              <a:t>カフェインと砂糖との付き合い方</a:t>
            </a:r>
            <a:endParaRPr lang="en-US" sz="1300" dirty="0"/>
          </a:p>
        </p:txBody>
      </p:sp>
      <p:sp>
        <p:nvSpPr>
          <p:cNvPr id="14" name="Text 12"/>
          <p:cNvSpPr/>
          <p:nvPr/>
        </p:nvSpPr>
        <p:spPr>
          <a:xfrm>
            <a:off x="914400" y="4828032"/>
            <a:ext cx="10332720" cy="502920"/>
          </a:xfrm>
          <a:prstGeom prst="rect">
            <a:avLst/>
          </a:prstGeom>
          <a:noFill/>
          <a:ln/>
        </p:spPr>
        <p:txBody>
          <a:bodyPr wrap="square" lIns="0" tIns="0" rIns="0" bIns="0" rtlCol="0" anchor="t"/>
          <a:lstStyle/>
          <a:p>
            <a:pPr indent="0" marL="0">
              <a:lnSpc>
                <a:spcPts val="1700"/>
              </a:lnSpc>
              <a:buNone/>
            </a:pPr>
            <a:r>
              <a:rPr lang="en-US" sz="1150" dirty="0">
                <a:solidFill>
                  <a:srgbClr val="8C4438"/>
                </a:solidFill>
                <a:latin typeface="Meiryo" pitchFamily="34" charset="0"/>
                <a:ea typeface="Meiryo" pitchFamily="34" charset="-122"/>
                <a:cs typeface="Meiryo" pitchFamily="34" charset="-120"/>
              </a:rPr>
              <a:t>効くのは確か。「ここ一番、今日はやるしかない」という日には使ってよい。ただし毎日だとカフェインが効かなくなって量が増え、眠れなくなる。砂糖は取りすぎれば太る。</a:t>
            </a:r>
            <a:endParaRPr lang="en-US" sz="1150" dirty="0"/>
          </a:p>
        </p:txBody>
      </p:sp>
      <p:sp>
        <p:nvSpPr>
          <p:cNvPr id="15" name="Shape 13"/>
          <p:cNvSpPr/>
          <p:nvPr/>
        </p:nvSpPr>
        <p:spPr>
          <a:xfrm>
            <a:off x="548640" y="5623560"/>
            <a:ext cx="11064240" cy="777240"/>
          </a:xfrm>
          <a:prstGeom prst="roundRect">
            <a:avLst>
              <a:gd name="adj" fmla="val 14118"/>
            </a:avLst>
          </a:prstGeom>
          <a:solidFill>
            <a:srgbClr val="201A4C"/>
          </a:solidFill>
          <a:ln w="12700">
            <a:solidFill>
              <a:srgbClr val="201A4C"/>
            </a:solidFill>
            <a:prstDash val="solid"/>
          </a:ln>
          <a:effectLst>
            <a:outerShdw sx="100000" sy="100000" kx="0" ky="0" algn="bl" rotWithShape="0" blurRad="152400" dist="25400" dir="5400000">
              <a:srgbClr val="1A1636">
                <a:alpha val="12000"/>
              </a:srgbClr>
            </a:outerShdw>
          </a:effectLst>
        </p:spPr>
      </p:sp>
      <p:sp>
        <p:nvSpPr>
          <p:cNvPr id="16" name="Text 14"/>
          <p:cNvSpPr/>
          <p:nvPr/>
        </p:nvSpPr>
        <p:spPr>
          <a:xfrm>
            <a:off x="914400" y="5623560"/>
            <a:ext cx="10332720" cy="77724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だから日頃の疲労ケアには「無糖の炭酸水」——ここが本編のメインテーマでした。</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脳疲労と炭酸水 — 朝会</dc:title>
  <dc:subject>PptxGenJS Presentation</dc:subject>
  <dc:creator>PptxGenJS</dc:creator>
  <cp:lastModifiedBy>PptxGenJS</cp:lastModifiedBy>
  <cp:revision>1</cp:revision>
  <dcterms:created xsi:type="dcterms:W3CDTF">2026-08-18T08:19:35Z</dcterms:created>
  <dcterms:modified xsi:type="dcterms:W3CDTF">2026-08-18T08:19:35Z</dcterms:modified>
</cp:coreProperties>
</file>